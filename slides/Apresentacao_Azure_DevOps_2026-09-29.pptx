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1F8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1F8F"/>
                </a:solidFill>
                <a:latin typeface="Arial"/>
              </a:rPr>
              <a:t>Horas restantes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CFD3FF"/>
            </a:solidFill>
            <a:ln w="38100" cap="flat">
              <a:solidFill>
                <a:srgbClr val="CFD3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FD3FF"/>
              </a:solidFill>
              <a:ln w="9525" cap="flat">
                <a:solidFill>
                  <a:srgbClr val="CFD3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</c:v>
                </c:pt>
                <c:pt idx="1">
                  <c:v>71</c:v>
                </c:pt>
                <c:pt idx="2">
                  <c:v>62</c:v>
                </c:pt>
                <c:pt idx="3">
                  <c:v>53</c:v>
                </c:pt>
                <c:pt idx="4">
                  <c:v>44</c:v>
                </c:pt>
                <c:pt idx="5">
                  <c:v>36</c:v>
                </c:pt>
                <c:pt idx="6">
                  <c:v>27</c:v>
                </c:pt>
                <c:pt idx="7">
                  <c:v>18</c:v>
                </c:pt>
                <c:pt idx="8">
                  <c:v>9</c:v>
                </c:pt>
                <c:pt idx="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3333FF"/>
            </a:solidFill>
            <a:ln w="38100" cap="flat">
              <a:solidFill>
                <a:srgbClr val="3333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333FF"/>
              </a:solidFill>
              <a:ln w="9525" cap="flat">
                <a:solidFill>
                  <a:srgbClr val="3333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80</c:v>
                </c:pt>
                <c:pt idx="1">
                  <c:v>78</c:v>
                </c:pt>
                <c:pt idx="2">
                  <c:v>74</c:v>
                </c:pt>
                <c:pt idx="3">
                  <c:v>74</c:v>
                </c:pt>
                <c:pt idx="4">
                  <c:v>70</c:v>
                </c:pt>
                <c:pt idx="5">
                  <c:v>62</c:v>
                </c:pt>
                <c:pt idx="6">
                  <c:v>50</c:v>
                </c:pt>
                <c:pt idx="7">
                  <c:v>38</c:v>
                </c:pt>
                <c:pt idx="8">
                  <c:v>26</c:v>
                </c:pt>
                <c:pt idx="9">
                  <c:v>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gartner.com/reviews/market/enterprise-agile-planning-tools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nifor-docente/azure-devops-planejamento-hands-on/blob/main/docs/roteiro-hands-on.md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nifor-docente/azure-devops-planejamento-hands-on" TargetMode="External"/><Relationship Id="rId1" Type="http://schemas.openxmlformats.org/officeDocument/2006/relationships/image" Target="../media/image-26-1.png"/><Relationship Id="rId3" Type="http://schemas.openxmlformats.org/officeDocument/2006/relationships/image" Target="../media/image-26-2.png"/><Relationship Id="rId4" Type="http://schemas.openxmlformats.org/officeDocument/2006/relationships/image" Target="../media/image-2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edia-arimateia-junior-Dados5-UNIFOR-DOCENTE-AZURE-DEVOPS/e87efb98-d81a-41ec-afb2-eea59369fc18/scratchpad/img/capa_cir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0"/>
            <a:ext cx="1097280" cy="2130552"/>
          </a:xfrm>
          <a:prstGeom prst="rect">
            <a:avLst/>
          </a:prstGeom>
        </p:spPr>
      </p:pic>
      <p:pic>
        <p:nvPicPr>
          <p:cNvPr id="3" name="Image 1" descr="/tmp/claude-1000/-media-arimateia-junior-Dados5-UNIFOR-DOCENTE-AZURE-DEVOPS/e87efb98-d81a-41ec-afb2-eea59369fc18/scratchpad/img/capa_s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4206240"/>
            <a:ext cx="1664208" cy="9326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94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gestão de projetos na prática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em Gerenciamento de Projetos  ·  29/09/2026</a:t>
            </a:r>
            <a:endParaRPr lang="en-US" sz="1400" dirty="0"/>
          </a:p>
        </p:txBody>
      </p:sp>
      <p:pic>
        <p:nvPicPr>
          <p:cNvPr id="7" name="Image 2" descr="/tmp/claude-1000/-media-arimateia-junior-Dados5-UNIFOR-DOCENTE-AZURE-DEVOPS/e87efb98-d81a-41ec-afb2-eea59369fc18/scratchpad/img/logo_posunifor_br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26280"/>
            <a:ext cx="123444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Arimatéia Júnior</a:t>
            </a:r>
            <a:endParaRPr lang="en-US" sz="2600" dirty="0"/>
          </a:p>
        </p:txBody>
      </p:sp>
      <p:pic>
        <p:nvPicPr>
          <p:cNvPr id="6" name="Image 2" descr="/tmp/claude-1000/-media-arimateia-junior-Dados5-UNIFOR-DOCENTE-AZURE-DEVOPS/e87efb98-d81a-41ec-afb2-eea59369fc18/scratchpad/img/fo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0040"/>
            <a:ext cx="1920240" cy="1920240"/>
          </a:xfrm>
          <a:prstGeom prst="ellipse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Apaixonado por família, tecnologia e futebol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Pós-graduado em Engenharia de Software com ênfase em DevOps – UNIFOR (2025)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em Arquitetura de Software e Soluções – XP Educação (2023)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Segurança da Informação – UNINASSAU (2021)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 – Faculdade Lourenço Filho (2014)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profissional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25603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de Software e Soluções – TIVIT (cliente: Petrobras)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de Tecnologia – ARI JR Technology</a:t>
            </a:r>
            <a:endParaRPr lang="en-US" sz="1100" dirty="0"/>
          </a:p>
        </p:txBody>
      </p:sp>
      <p:pic>
        <p:nvPicPr>
          <p:cNvPr id="12" name="Image 3" descr="/tmp/claude-1000/-media-arimateia-junior-Dados5-UNIFOR-DOCENTE-AZURE-DEVOPS/e87efb98-d81a-41ec-afb2-eea59369fc18/scratchpad/img/badg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7498080" cy="1499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fazer hoje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· teoria curta, prática longa · 29/09/2026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1417320"/>
            <a:ext cx="1883664" cy="2377440"/>
          </a:xfrm>
          <a:prstGeom prst="roundRect">
            <a:avLst>
              <a:gd name="adj" fmla="val 388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24712" y="1600200"/>
            <a:ext cx="548640" cy="548640"/>
          </a:xfrm>
          <a:prstGeom prst="ellipse">
            <a:avLst/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" y="1742846"/>
            <a:ext cx="263347" cy="26334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02920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+ demo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97180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Azure DevOps, processos e demonstração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450592" y="1417320"/>
            <a:ext cx="1883664" cy="2377440"/>
          </a:xfrm>
          <a:prstGeom prst="roundRect">
            <a:avLst>
              <a:gd name="adj" fmla="val 388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118104" y="1600200"/>
            <a:ext cx="548640" cy="548640"/>
          </a:xfrm>
          <a:prstGeom prst="ellipse">
            <a:avLst/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750" y="1742846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496312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2496312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2542032" y="297180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projeto da equipe e primeira pipeline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443984" y="1417320"/>
            <a:ext cx="1883664" cy="2377440"/>
          </a:xfrm>
          <a:prstGeom prst="roundRect">
            <a:avLst>
              <a:gd name="adj" fmla="val 3883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111496" y="160020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142" y="174284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489704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2h40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4489704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535424" y="297180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sprint, pipeline e dashboard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437376" y="1417320"/>
            <a:ext cx="1883664" cy="2377440"/>
          </a:xfrm>
          <a:prstGeom prst="roundRect">
            <a:avLst>
              <a:gd name="adj" fmla="val 388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104888" y="1600200"/>
            <a:ext cx="548640" cy="548640"/>
          </a:xfrm>
          <a:prstGeom prst="ellipse">
            <a:avLst/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534" y="174284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83096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6483096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528816" y="297180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 por equipe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sair daqui sabendo transformar um objetivo de negócio em um plano rastreável, com escopo, prioridade, Sprint e acompanhamento.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da gestão tradicional de projetos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projetos costumam perder o controle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13716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94360" y="164592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" y="1788566"/>
            <a:ext cx="263347" cy="26334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15727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visibilidade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280160" y="1984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andamento real do projeto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108960" y="13716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246120" y="164592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766" y="178856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31920" y="15727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dispersa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3931920" y="1984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planilhas, conversas soltas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760720" y="13716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897880" y="164592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526" y="1788566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583680" y="15727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583680" y="1984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perda de informações e decisões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57200" y="26060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94360" y="288036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" y="3023006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80160" y="2807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difíceis de acompanhar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128016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quê, e até quando?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108960" y="26060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3246120" y="288036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8766" y="3023006"/>
            <a:ext cx="263347" cy="26334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931920" y="2807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rastreabilidade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393192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histórico das mudanças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5760720" y="26060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897880" y="288036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526" y="3023006"/>
            <a:ext cx="263347" cy="263347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583680" y="2807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inconsistentes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658368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tomada de decisão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45720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modernas surgiram justamente para atacar esses problemas e para integrar as áreas técnicas e de negócio.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DevOps?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0058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é mais do que uma ferramenta ou metodologia: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cultura que une Desenvolvimento (Dev) e Operações (Ops) para entregar valor de forma rápida, contínua e com qualidade, com o mínimo de atrito entre as equipes.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26974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não é apenas tecnologia.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291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colaboração, automação, visibilidade e melhoria contínua.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benefícios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754880" y="1417320"/>
            <a:ext cx="411480" cy="41148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865" y="1524305"/>
            <a:ext cx="197510" cy="19751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0352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times técnicos e não técnicos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754880" y="1965960"/>
            <a:ext cx="411480" cy="41148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865" y="2072945"/>
            <a:ext cx="197510" cy="19751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0352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do planejamento à entrega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54880" y="2514600"/>
            <a:ext cx="411480" cy="41148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865" y="2621585"/>
            <a:ext cx="197510" cy="19751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0352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tempo de entrega, com qualidade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754880" y="3063240"/>
            <a:ext cx="411480" cy="41148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865" y="3170225"/>
            <a:ext cx="197510" cy="19751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30352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visibilidade e rastreabilidade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754880" y="3611880"/>
            <a:ext cx="411480" cy="41148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1865" y="3718865"/>
            <a:ext cx="197510" cy="19751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30352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em um único ecossistema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DevOps: uma plataforma, cinco serviços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planejamento à entrega, tudo integrado e rastreável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1417320"/>
            <a:ext cx="1499616" cy="2148840"/>
          </a:xfrm>
          <a:prstGeom prst="roundRect">
            <a:avLst>
              <a:gd name="adj" fmla="val 4878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86968" y="1600200"/>
            <a:ext cx="640080" cy="64008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9" y="176662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23774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Boards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66928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Planejamento: backlog, Kanban, sprints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048256" y="1417320"/>
            <a:ext cx="1499616" cy="2148840"/>
          </a:xfrm>
          <a:prstGeom prst="roundRect">
            <a:avLst>
              <a:gd name="adj" fmla="val 4878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478024" y="1600200"/>
            <a:ext cx="640080" cy="640080"/>
          </a:xfrm>
          <a:prstGeom prst="ellipse">
            <a:avLst/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445" y="176662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093976" y="23774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Repos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2157984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de código (Git)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639312" y="1417320"/>
            <a:ext cx="1499616" cy="2148840"/>
          </a:xfrm>
          <a:prstGeom prst="roundRect">
            <a:avLst>
              <a:gd name="adj" fmla="val 4878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069080" y="1600200"/>
            <a:ext cx="640080" cy="640080"/>
          </a:xfrm>
          <a:prstGeom prst="ellipse">
            <a:avLst/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5501" y="1766621"/>
            <a:ext cx="307238" cy="30723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685032" y="23774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Pipelines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3749040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Automação: integração e entrega contínua (CI/CD)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230368" y="1417320"/>
            <a:ext cx="1499616" cy="2148840"/>
          </a:xfrm>
          <a:prstGeom prst="roundRect">
            <a:avLst>
              <a:gd name="adj" fmla="val 4878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660136" y="1600200"/>
            <a:ext cx="640080" cy="640080"/>
          </a:xfrm>
          <a:prstGeom prst="ellipse">
            <a:avLst/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6557" y="1766621"/>
            <a:ext cx="307238" cy="30723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76088" y="23774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Test Plans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5340096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manuais e automatizados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821424" y="1417320"/>
            <a:ext cx="1499616" cy="2148840"/>
          </a:xfrm>
          <a:prstGeom prst="roundRect">
            <a:avLst>
              <a:gd name="adj" fmla="val 4878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251192" y="1600200"/>
            <a:ext cx="640080" cy="640080"/>
          </a:xfrm>
          <a:prstGeom prst="ellipse">
            <a:avLst/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7613" y="1766621"/>
            <a:ext cx="307238" cy="30723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867144" y="23774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Artifacts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6931152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(npm, NuGet, etc.)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57200" y="3749040"/>
            <a:ext cx="1499616" cy="365760"/>
          </a:xfrm>
          <a:prstGeom prst="roundRect">
            <a:avLst>
              <a:gd name="adj" fmla="val 20000"/>
            </a:avLst>
          </a:prstGeom>
          <a:solidFill>
            <a:srgbClr val="C3DDB9"/>
          </a:solidFill>
          <a:ln w="12700">
            <a:solidFill>
              <a:srgbClr val="C3DDB9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457200" y="37490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HOJE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2148840" y="3749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demais serviços aparecem só na demonstração: a gestão acontece no Boards.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Boards: o que vamos usar hoje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1194206"/>
            <a:ext cx="263347" cy="26334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3200400" y="1051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priorizada de tudo o que o projeto precisa entregar.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1764792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1907438"/>
            <a:ext cx="263347" cy="263347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88720" y="17647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(Kanban)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3200400" y="17647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visual: A fazer → Fazendo → Feito.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57200" y="2478024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2620670"/>
            <a:ext cx="263347" cy="26334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2478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3200400" y="24780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curtos (ex.: 2 semanas) com meta e capacidade.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57200" y="3191256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" y="3333902"/>
            <a:ext cx="263347" cy="26334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88720" y="31912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(Queries)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3200400" y="31912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salvos: riscos abertos, itens atrasados...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57200" y="3904488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46" y="4047134"/>
            <a:ext cx="263347" cy="26334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39044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3200400" y="39044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progresso, burndown e indicadores.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 rápido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do Azure Boards traduzido para gestão de projetos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 objetivo ou iniciativa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Lançar o app de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relevante que compõe o Epic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de parceiros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 / PBI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Necessidade de um usuário, com 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cliente, quero acompanhar meu pedido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 concreta, com responsável e horas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Treinar equipe da loja 1 (4h)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priorizada de itens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= prioridade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curto com meta e capacidade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1: 2 semanas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aceite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saberemos que está pronto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 com 50 pedidos sem erro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EAP ao Backlog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conhece essa estrutura: é a decomposição do escopo do PMBOK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 (PMBOK)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Boards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60020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/ Programa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794760" y="1719072"/>
            <a:ext cx="822960" cy="274320"/>
          </a:xfrm>
          <a:prstGeom prst="rightArrow">
            <a:avLst/>
          </a:prstGeom>
          <a:solidFill>
            <a:srgbClr val="C3DDB9"/>
          </a:solidFill>
          <a:ln w="12700">
            <a:solidFill>
              <a:srgbClr val="C3DDB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937760" y="1600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" y="2258568"/>
            <a:ext cx="2852928" cy="502920"/>
          </a:xfrm>
          <a:prstGeom prst="roundRect">
            <a:avLst>
              <a:gd name="adj" fmla="val 14545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3232" y="225856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principal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794760" y="2377440"/>
            <a:ext cx="822960" cy="274320"/>
          </a:xfrm>
          <a:prstGeom prst="rightArrow">
            <a:avLst/>
          </a:prstGeom>
          <a:solidFill>
            <a:srgbClr val="C3DDB9"/>
          </a:solidFill>
          <a:ln w="12700">
            <a:solidFill>
              <a:srgbClr val="C3DDB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02352" y="2258568"/>
            <a:ext cx="3218688" cy="502920"/>
          </a:xfrm>
          <a:prstGeom prst="roundRect">
            <a:avLst>
              <a:gd name="adj" fmla="val 14545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93792" y="2258568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86384" y="2916936"/>
            <a:ext cx="2688336" cy="502920"/>
          </a:xfrm>
          <a:prstGeom prst="roundRect">
            <a:avLst>
              <a:gd name="adj" fmla="val 14545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77824" y="291693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de trabalho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794760" y="3035808"/>
            <a:ext cx="822960" cy="274320"/>
          </a:xfrm>
          <a:prstGeom prst="rightArrow">
            <a:avLst/>
          </a:prstGeom>
          <a:solidFill>
            <a:srgbClr val="C3DDB9"/>
          </a:solidFill>
          <a:ln w="12700">
            <a:solidFill>
              <a:srgbClr val="C3DDB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66944" y="2916936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5B6BFF"/>
          </a:solidFill>
          <a:ln w="12700">
            <a:solidFill>
              <a:srgbClr val="5B6B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358384" y="2916936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· PBI · Requirement · Issue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950976" y="3575304"/>
            <a:ext cx="2523744" cy="502920"/>
          </a:xfrm>
          <a:prstGeom prst="roundRect">
            <a:avLst>
              <a:gd name="adj" fmla="val 14545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42416" y="357530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794760" y="3694176"/>
            <a:ext cx="822960" cy="274320"/>
          </a:xfrm>
          <a:prstGeom prst="rightArrow">
            <a:avLst/>
          </a:prstGeom>
          <a:solidFill>
            <a:srgbClr val="C3DDB9"/>
          </a:solidFill>
          <a:ln w="12700">
            <a:solidFill>
              <a:srgbClr val="C3DDB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431536" y="3575304"/>
            <a:ext cx="2889504" cy="502920"/>
          </a:xfrm>
          <a:prstGeom prst="roundRect">
            <a:avLst>
              <a:gd name="adj" fmla="val 14545"/>
            </a:avLst>
          </a:prstGeom>
          <a:solidFill>
            <a:srgbClr val="8C97FF"/>
          </a:solidFill>
          <a:ln w="12700">
            <a:solidFill>
              <a:srgbClr val="8C97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522976" y="3575304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45720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Diferença-chave: no Boards a EAP vira viva, com responsável, estimativa, estado e histórico em cada item.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processos do Azure DevOps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é escolhido ao criar o projeto e define a hierarquia dos itens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1280160"/>
            <a:ext cx="1874520" cy="3429000"/>
          </a:xfrm>
          <a:prstGeom prst="roundRect">
            <a:avLst>
              <a:gd name="adj" fmla="val 390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94360" y="1810512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18105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7512" y="2194560"/>
            <a:ext cx="1527048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7512" y="219456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40664" y="2578608"/>
            <a:ext cx="1453896" cy="310896"/>
          </a:xfrm>
          <a:prstGeom prst="roundRect">
            <a:avLst>
              <a:gd name="adj" fmla="val 14706"/>
            </a:avLst>
          </a:prstGeom>
          <a:solidFill>
            <a:srgbClr val="8C97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664" y="257860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34290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e direto. Poucos estados: To Do, Doing, Done.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450592" y="1280160"/>
            <a:ext cx="1874520" cy="3429000"/>
          </a:xfrm>
          <a:prstGeom prst="roundRect">
            <a:avLst>
              <a:gd name="adj" fmla="val 390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450592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2587752" y="1810512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587752" y="18105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660904" y="2194560"/>
            <a:ext cx="1527048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660904" y="219456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34056" y="2578608"/>
            <a:ext cx="1453896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734056" y="257860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2807208" y="2962656"/>
            <a:ext cx="1380744" cy="310896"/>
          </a:xfrm>
          <a:prstGeom prst="roundRect">
            <a:avLst>
              <a:gd name="adj" fmla="val 14706"/>
            </a:avLst>
          </a:prstGeom>
          <a:solidFill>
            <a:srgbClr val="8C97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807208" y="296265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2560320" y="34290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Flexível, orientado a produto. Estimativa em Story Points.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443984" y="1280160"/>
            <a:ext cx="1874520" cy="3429000"/>
          </a:xfrm>
          <a:prstGeom prst="roundRect">
            <a:avLst>
              <a:gd name="adj" fmla="val 390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443984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4581144" y="1810512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581144" y="18105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654296" y="2194560"/>
            <a:ext cx="1527048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654296" y="219456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27448" y="2578608"/>
            <a:ext cx="1453896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727448" y="257860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800600" y="2962656"/>
            <a:ext cx="1380744" cy="310896"/>
          </a:xfrm>
          <a:prstGeom prst="roundRect">
            <a:avLst>
              <a:gd name="adj" fmla="val 14706"/>
            </a:avLst>
          </a:prstGeom>
          <a:solidFill>
            <a:srgbClr val="8C97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800600" y="296265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4553712" y="34290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 em Sprints. Estimativa em Effort; foco em burndown.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6437376" y="1280160"/>
            <a:ext cx="1874520" cy="3429000"/>
          </a:xfrm>
          <a:prstGeom prst="roundRect">
            <a:avLst>
              <a:gd name="adj" fmla="val 390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437376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6574536" y="1810512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574536" y="18105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6647688" y="2194560"/>
            <a:ext cx="1527048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647688" y="219456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720840" y="2578608"/>
            <a:ext cx="1453896" cy="310896"/>
          </a:xfrm>
          <a:prstGeom prst="roundRect">
            <a:avLst>
              <a:gd name="adj" fmla="val 14706"/>
            </a:avLst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720840" y="257860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6793992" y="2962656"/>
            <a:ext cx="1380744" cy="310896"/>
          </a:xfrm>
          <a:prstGeom prst="roundRect">
            <a:avLst>
              <a:gd name="adj" fmla="val 14706"/>
            </a:avLst>
          </a:prstGeom>
          <a:solidFill>
            <a:srgbClr val="8C97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793992" y="296265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6547104" y="34290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Formal, voltado a governança e auditoria.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6547104" y="402336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Change Request, Risk, Review e Issue relacionados ao Requirement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raciocínio, vocabulário diferente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decomposição em cada processo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6634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de decomposição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Epic: Implantar Portal do Cliente → Issue: Tela de login → Task: Criar formulário de autenticação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pequenos, fluxo operacional, projetos simples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Epic: Sistema de Delivery → Feature: Gestão de pedidos → User Story: Como cliente, quero acompanhar meu pedido → Task: Criar tela de rastreamento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Produtos digitais, entregas iterativas, pouca formalidade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Epic: App bancário → Feature: Transferência PIX → PBI: Permitir transferência instantânea → Task: Validar chave PIX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com Sprints bem definidas e cerimônias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3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Epic: Sistema governamental → Feature: Governança de acessos → Requirement: Controle de acesso por perfil → Task: Atualizar regras de permissão  (+ Change Request: alterar política de autenticação)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Governança, compliance, auditoria e aprovações formais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utiliza?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de diversos setores, em ambientes que exigem: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13258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" y="154807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2144" y="1325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450592" y="13258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587752" y="1417320"/>
            <a:ext cx="502920" cy="50292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511" y="154807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145536" y="1325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443984" y="13258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581144" y="1417320"/>
            <a:ext cx="502920" cy="50292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903" y="154807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38928" y="1325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37376" y="13258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574536" y="1417320"/>
            <a:ext cx="502920" cy="50292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295" y="1548079"/>
            <a:ext cx="241402" cy="2414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132320" y="1325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Agilidade</a:t>
            </a:r>
            <a:endParaRPr lang="en-US" sz="1100" dirty="0"/>
          </a:p>
        </p:txBody>
      </p:sp>
      <p:pic>
        <p:nvPicPr>
          <p:cNvPr id="23" name="Image 6" descr="/tmp/claude-1000/-media-arimateia-junior-Dados5-UNIFOR-DOCENTE-AZURE-DEVOPS/e87efb98-d81a-41ec-afb2-eea59369fc18/scratchpad/img/logos_empresa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377440"/>
            <a:ext cx="6949440" cy="15544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5720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· Financeiro · Indústria · Governo e Saúde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apoiam a gestão do projeto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0972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1097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2057400" y="10972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restante na Sprint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434840" y="10972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17720" y="1097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10972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entrega por Sprint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0116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057400" y="2011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entrega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434840" y="20116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1772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035040" y="2011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início da execução à entrega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9260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2057400" y="2926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entregue no período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434840" y="29260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61772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035040" y="2926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fluxo trava (gargalos)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7200" y="3931920"/>
            <a:ext cx="7818120" cy="594360"/>
          </a:xfrm>
          <a:prstGeom prst="roundRect">
            <a:avLst>
              <a:gd name="adj" fmla="val 12308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" y="3931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importante do que ver gráficos é interpretar o comportamento do time.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Interpretando métricas: o burndown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ilustrativo: Sprint de 10 dias, 80 horas planejadas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3949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gestor lê aqui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394960" y="15544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real acima da ideal: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reta por dias (D3–D4):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impedimento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subindo: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entrou na Sprint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Sobrou trabalho em D10: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superestimada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394960" y="347472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532120" y="35204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média entregue por Sprint: base para previsibilidade e planejamento das próximas.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visual e acompanhamento em tempo real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permitem: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5087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o progresso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gargalos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a produtividade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bugs e riscos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Sprints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a tomada de decisão</a:t>
            </a:r>
            <a:endParaRPr lang="en-US" sz="1400" dirty="0"/>
          </a:p>
        </p:txBody>
      </p:sp>
      <p:pic>
        <p:nvPicPr>
          <p:cNvPr id="8" name="Image 2" descr="/tmp/claude-1000/-media-arimateia-junior-Dados5-UNIFOR-DOCENTE-AZURE-DEVOPS/e87efb98-d81a-41ec-afb2-eea59369fc18/scratchpad/img/p18_07_16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88720"/>
            <a:ext cx="4114800" cy="26243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ajudam o gestor a decidir antes de o problema acontecer.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de mercado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051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Microsoft (Azure DevOps / Azure Boards) é avaliada pelo Gartner na categoria Enterprise Agile Planning Tools: ferramentas que permitem escalar práticas ágeis de forma integrada na organização.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269748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2788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Gartner?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global em análise de tecnologia; seus relatórios orientam decisões de grandes organizações.</a:t>
            </a:r>
            <a:endParaRPr lang="en-US" sz="1300" dirty="0"/>
          </a:p>
        </p:txBody>
      </p:sp>
      <p:pic>
        <p:nvPicPr>
          <p:cNvPr id="9" name="Image 2" descr="/tmp/claude-1000/-media-arimateia-junior-Dados5-UNIFOR-DOCENTE-AZURE-DEVOPS/e87efb98-d81a-41ec-afb2-eea59369fc18/scratchpad/img/gartn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4343400" cy="2432304"/>
          </a:xfrm>
          <a:prstGeom prst="rect">
            <a:avLst/>
          </a:prstGeom>
        </p:spPr>
      </p:pic>
      <p:sp>
        <p:nvSpPr>
          <p:cNvPr id="10" name="Text 5">
            <a:hlinkClick r:id="rId4" tooltip=""/>
          </p:cNvPr>
          <p:cNvSpPr txBox="1"/>
          <p:nvPr/>
        </p:nvSpPr>
        <p:spPr>
          <a:xfrm>
            <a:off x="4023360" y="36576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gartner.com/reviews/market/enterprise-agile-planning-tools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para a gestão de projetos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80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417320" y="141732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966" y="1559966"/>
            <a:ext cx="263347" cy="26334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completa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backlog, progresso e entregas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108960" y="1280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069080" y="141732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726" y="1559966"/>
            <a:ext cx="263347" cy="26334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2004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32004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áreas técnicas e de negócio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760720" y="1280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720840" y="141732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486" y="155996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8521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8521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Agile, Scrum ou CMMI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1783080" y="2880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2743200" y="301752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5846" y="316016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8745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Aderente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187452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projetos técnicos e não técnicos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4434840" y="2880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394960" y="3017520"/>
            <a:ext cx="548640" cy="54864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606" y="3160166"/>
            <a:ext cx="263347" cy="26334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45262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com dados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452628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indicadores e histórico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edia-arimateia-junior-Dados5-UNIFOR-DOCENTE-AZURE-DEVOPS/e87efb98-d81a-41ec-afb2-eea59369fc18/scratchpad/img/capa_cir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0"/>
            <a:ext cx="1097280" cy="21305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CFD3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6304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Epic e decompor em Feature → User Story → Task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66544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CFD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06654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responsável, estimativa, prioridade e critério de aceite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CFD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67004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um card no Board (Kanban)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273552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CFD3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27355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a Sprint e a capacidade do time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CFD3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87705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dashboard e o burndown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acessar hoje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Contas, equipes e projetos já foram preparados pelo professor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1325880"/>
            <a:ext cx="1856232" cy="224028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97280" y="1463040"/>
            <a:ext cx="566928" cy="566928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81" y="1610441"/>
            <a:ext cx="272125" cy="27212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214884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Acesse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94360" y="2487168"/>
            <a:ext cx="1581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dev.azure.com/unifor-mba-gp-2026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322576" y="2331720"/>
            <a:ext cx="118872" cy="201168"/>
          </a:xfrm>
          <a:prstGeom prst="rightArrow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450592" y="1325880"/>
            <a:ext cx="1856232" cy="224028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090672" y="1463040"/>
            <a:ext cx="566928" cy="566928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073" y="1610441"/>
            <a:ext cx="272125" cy="27212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542032" y="214884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Login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2587752" y="2487168"/>
            <a:ext cx="1581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nome.sobrenome@arijrtechnology.com.br e a senha da planilha (troque no 1º acesso).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315968" y="2331720"/>
            <a:ext cx="118872" cy="201168"/>
          </a:xfrm>
          <a:prstGeom prst="rightArrow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443984" y="1325880"/>
            <a:ext cx="1856232" cy="224028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084064" y="1463040"/>
            <a:ext cx="566928" cy="566928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465" y="1610441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35424" y="214884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Projeto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4581144" y="2487168"/>
            <a:ext cx="1581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projeto da sua equipe (ex.: 03-scrum-banking).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309360" y="2331720"/>
            <a:ext cx="118872" cy="201168"/>
          </a:xfrm>
          <a:prstGeom prst="rightArrow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37376" y="1325880"/>
            <a:ext cx="1856232" cy="224028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077456" y="1463040"/>
            <a:ext cx="566928" cy="566928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857" y="1610441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528816" y="214884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Confirme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6574536" y="2487168"/>
            <a:ext cx="1581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Boards visível? Então está pronto!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374904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94360" y="3886200"/>
            <a:ext cx="566928" cy="566928"/>
          </a:xfrm>
          <a:prstGeom prst="ellipse">
            <a:avLst/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761" y="4033601"/>
            <a:ext cx="272125" cy="27212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325880" y="376732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depois da aula: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Azure for Students (azure.microsoft.com/free/students) dá US$ 100 em créditos por 12 meses, sem cartão de crédito, validando com o e-mail institucional.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turma está organizada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organização · 4 projetos · 1 processo por projeto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2377440" y="12344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389120" y="1783080"/>
            <a:ext cx="0" cy="246888"/>
          </a:xfrm>
          <a:prstGeom prst="line">
            <a:avLst/>
          </a:prstGeom>
          <a:noFill/>
          <a:ln w="19050">
            <a:solidFill>
              <a:srgbClr val="3333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385316" y="2029968"/>
            <a:ext cx="5980176" cy="0"/>
          </a:xfrm>
          <a:prstGeom prst="line">
            <a:avLst/>
          </a:prstGeom>
          <a:noFill/>
          <a:ln w="19050">
            <a:solidFill>
              <a:srgbClr val="3333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377440" y="1234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da turma (Azure DevOps)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385316" y="2029968"/>
            <a:ext cx="0" cy="256032"/>
          </a:xfrm>
          <a:prstGeom prst="line">
            <a:avLst/>
          </a:prstGeom>
          <a:noFill/>
          <a:ln w="19050">
            <a:solidFill>
              <a:srgbClr val="333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2286000"/>
            <a:ext cx="1856232" cy="1325880"/>
          </a:xfrm>
          <a:prstGeom prst="roundRect">
            <a:avLst>
              <a:gd name="adj" fmla="val 551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35915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278892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01-basic-portal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310896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01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78708" y="2029968"/>
            <a:ext cx="0" cy="256032"/>
          </a:xfrm>
          <a:prstGeom prst="line">
            <a:avLst/>
          </a:prstGeom>
          <a:noFill/>
          <a:ln w="19050">
            <a:solidFill>
              <a:srgbClr val="3333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50592" y="2286000"/>
            <a:ext cx="1856232" cy="1325880"/>
          </a:xfrm>
          <a:prstGeom prst="roundRect">
            <a:avLst>
              <a:gd name="adj" fmla="val 551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50592" y="235915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2450592" y="278892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02-agile-delivery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2450592" y="310896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02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372100" y="2029968"/>
            <a:ext cx="0" cy="256032"/>
          </a:xfrm>
          <a:prstGeom prst="line">
            <a:avLst/>
          </a:prstGeom>
          <a:noFill/>
          <a:ln w="19050">
            <a:solidFill>
              <a:srgbClr val="3333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443984" y="2286000"/>
            <a:ext cx="1856232" cy="1325880"/>
          </a:xfrm>
          <a:prstGeom prst="roundRect">
            <a:avLst>
              <a:gd name="adj" fmla="val 551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443984" y="235915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4443984" y="278892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03-scrum-banking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443984" y="310896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03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365492" y="2029968"/>
            <a:ext cx="0" cy="256032"/>
          </a:xfrm>
          <a:prstGeom prst="line">
            <a:avLst/>
          </a:prstGeom>
          <a:noFill/>
          <a:ln w="19050">
            <a:solidFill>
              <a:srgbClr val="3333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37376" y="2286000"/>
            <a:ext cx="1856232" cy="1325880"/>
          </a:xfrm>
          <a:prstGeom prst="roundRect">
            <a:avLst>
              <a:gd name="adj" fmla="val 5517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37376" y="235915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6437376" y="278892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04-cmmi-governance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437376" y="310896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04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45720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com acesso Basic, no grupo Contributors do projeto da própria equipe. O professor acompanha os 4 projetos em tempo real.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051560"/>
            <a:ext cx="1856232" cy="356616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1051560"/>
            <a:ext cx="1856232" cy="502920"/>
          </a:xfrm>
          <a:prstGeom prst="roundRect">
            <a:avLst>
              <a:gd name="adj" fmla="val 14545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05156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01 · Basic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1691640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alunos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enviada no grupo da turma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450592" y="1051560"/>
            <a:ext cx="1856232" cy="356616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450592" y="1051560"/>
            <a:ext cx="1856232" cy="502920"/>
          </a:xfrm>
          <a:prstGeom prst="roundRect">
            <a:avLst>
              <a:gd name="adj" fmla="val 14545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450592" y="105156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02 · Agile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1691640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alunos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enviada no grupo da turma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43984" y="1051560"/>
            <a:ext cx="1856232" cy="356616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43984" y="1051560"/>
            <a:ext cx="1856232" cy="502920"/>
          </a:xfrm>
          <a:prstGeom prst="roundRect">
            <a:avLst>
              <a:gd name="adj" fmla="val 14545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43984" y="105156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03 · Scrum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53712" y="1691640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alunos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enviada no grupo da turma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37376" y="1051560"/>
            <a:ext cx="1856232" cy="356616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7376" y="1051560"/>
            <a:ext cx="1856232" cy="502920"/>
          </a:xfrm>
          <a:prstGeom prst="roundRect">
            <a:avLst>
              <a:gd name="adj" fmla="val 14545"/>
            </a:avLst>
          </a:prstGeom>
          <a:solidFill>
            <a:srgbClr val="121F8F"/>
          </a:solidFill>
          <a:ln w="12700">
            <a:solidFill>
              <a:srgbClr val="121F8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37376" y="105156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04 · CMMI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47104" y="1691640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alunos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enviada no grupo da turma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cenários de cada equipe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pipelines já prontos: o foco é a gestão do projeto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1280160"/>
            <a:ext cx="1856232" cy="283464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3716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78308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 Cliente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3774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acompanha solicitações, status e comunicados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315468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1 Epic · 5 Issues · 10 Tasks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50592" y="1280160"/>
            <a:ext cx="1856232" cy="283464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450592" y="13716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542032" y="178308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Delivery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23774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rastreamento e entrega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560320" y="315468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1 Epic · 3 Features · 6 User Stories · 10 Tasks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43984" y="1280160"/>
            <a:ext cx="1856232" cy="283464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443984" y="13716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535424" y="178308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Bancário PIX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53712" y="23774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instantânea em Sprint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53712" y="315468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1 Epic · 2 Features · 6 PBIs · 9 Tasks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37376" y="1280160"/>
            <a:ext cx="1856232" cy="2834640"/>
          </a:xfrm>
          <a:prstGeom prst="roundRect">
            <a:avLst>
              <a:gd name="adj" fmla="val 3941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37376" y="13716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528816" y="178308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Governamental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547104" y="23774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com auditoria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547104" y="315468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1 Epic · 2 Features · 4 Requirements · 5 Change Requests · 9 Tasks</a:t>
            </a:r>
            <a:endParaRPr lang="en-US" sz="1000" dirty="0"/>
          </a:p>
        </p:txBody>
      </p:sp>
      <p:sp>
        <p:nvSpPr>
          <p:cNvPr id="27" name="Text 23">
            <a:hlinkClick r:id="rId3" tooltip=""/>
          </p:cNvPr>
          <p:cNvSpPr txBox="1"/>
          <p:nvPr/>
        </p:nvSpPr>
        <p:spPr>
          <a:xfrm>
            <a:off x="45720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Roteiro do aluno: docs/roteiro-hands-on.md no repositório da prática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prática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914400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051560" y="9144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projeto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154680" y="914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657600" y="9144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da equipe, primeira pipeline e artefato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1444752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" y="14447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 regras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154680" y="14447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144475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Descrição, prioridade, estimativa, critérios de aceite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1975104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197510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realista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154680" y="1975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657600" y="197510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completa seguindo o guia do processo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505456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720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051560" y="250545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e priorizar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3154680" y="25054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3657600" y="250545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risco, dependência, quebrar itens grandes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7200" y="3035808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5720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051560" y="30358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 sprint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154680" y="30358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3657600" y="30358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estados diferentes, um deles bloqueado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57200" y="3566160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5720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051560" y="35661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3154680" y="35661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3657600" y="35661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e registrar a evidência em um work item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57200" y="4096512"/>
            <a:ext cx="420624" cy="420624"/>
          </a:xfrm>
          <a:prstGeom prst="ellipse">
            <a:avLst/>
          </a:prstGeom>
          <a:solidFill>
            <a:srgbClr val="333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5720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1051560" y="409651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 dashboard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3154680" y="409651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3657600" y="40965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Query + pelo menos 4 widgets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457200" y="4645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há 1 job gratuito para as 4 equipes, então o professor chama uma equipe por vez (Basic → Agile → Scrum → CMMI).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3" name="Image 0" descr="/tmp/claude-1000/-media-arimateia-junior-Dados5-UNIFOR-DOCENTE-AZURE-DEVOPS/e87efb98-d81a-41ec-afb2-eea59369fc18/scratchpad/img/motivo_li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09728"/>
            <a:ext cx="411480" cy="475488"/>
          </a:xfrm>
          <a:prstGeom prst="rect">
            <a:avLst/>
          </a:prstGeom>
        </p:spPr>
      </p:pic>
      <p:pic>
        <p:nvPicPr>
          <p:cNvPr id="4" name="Image 1" descr="/tmp/claude-1000/-media-arimateia-junior-Dados5-UNIFOR-DOCENTE-AZURE-DEVOPS/e87efb98-d81a-41ec-afb2-eea59369fc18/scratchpad/img/logo_posuni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846320"/>
            <a:ext cx="1097280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(4 min por equipe)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70432"/>
            <a:ext cx="219456" cy="21945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5156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processo organiza o trabalho? Mostrem a hierarquia.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57200" y="1655064"/>
            <a:ext cx="457200" cy="45720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773936"/>
            <a:ext cx="219456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51560" y="16550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equipe priorizou e estimou?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457200" y="2258568"/>
            <a:ext cx="457200" cy="45720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377440"/>
            <a:ext cx="219456" cy="21945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51560" y="2258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item é o maior risco ou dependência?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457200" y="2862072"/>
            <a:ext cx="457200" cy="45720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980944"/>
            <a:ext cx="219456" cy="21945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051560" y="2862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métrica do dashboard mais ajuda o gerente?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457200" y="3465576"/>
            <a:ext cx="457200" cy="45720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584448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051560" y="34655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pipeline evidencia sobre a entrega?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457200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avaliação (0 a 2 cada)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4572000" y="1371600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470916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correto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4572000" y="1773936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4709160" y="17739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coerente e relacionada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4572000" y="2176272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4709160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descrição, prioridade, estimativa, aceite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572000" y="2578608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4709160" y="2578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por valor, risco e dependência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572000" y="2980944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4709160" y="29809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/ Sprint representa fluxo real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572000" y="3383280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4709160" y="3383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executada e entendida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4572000" y="3785616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4709160" y="3785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 apoia decisão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4572000" y="4187952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4709160" y="4187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clara e objetiva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edia-arimateia-junior-Dados5-UNIFOR-DOCENTE-AZURE-DEVOPS/e87efb98-d81a-41ec-afb2-eea59369fc18/scratchpad/img/capa_s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4206240"/>
            <a:ext cx="1664208" cy="9326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cada processo organizou o trabalho de um jeito diferente?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67712"/>
            <a:ext cx="21945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21488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processo daria mais controle à diretoria? E mais agilidade ao time?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53512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88720" y="2834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entra a governança (PMBOK) e onde entra a adaptação (Scrum / Kanban)?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3333FF"/>
          </a:solidFill>
          <a:ln w="12700">
            <a:solidFill>
              <a:srgbClr val="3333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639312"/>
            <a:ext cx="219456" cy="21945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88720" y="3520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mudou o plano, ou só registrou as decisões de vocês?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4343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D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é secundária: o que gera resultado são as decisões de planejamento e gestão.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edia-arimateia-junior-Dados5-UNIFOR-DOCENTE-AZURE-DEVOPS/e87efb98-d81a-41ec-afb2-eea59369fc18/scratchpad/img/capa_cir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0"/>
            <a:ext cx="1097280" cy="21305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Arimatéia Júnior</a:t>
            </a:r>
            <a:endParaRPr lang="en-US" sz="1800" dirty="0"/>
          </a:p>
        </p:txBody>
      </p:sp>
      <p:sp>
        <p:nvSpPr>
          <p:cNvPr id="5" name="Text 2">
            <a:hlinkClick r:id="rId2" tooltip=""/>
          </p:cNvPr>
          <p:cNvSpPr txBox="1"/>
          <p:nvPr/>
        </p:nvSpPr>
        <p:spPr>
          <a:xfrm>
            <a:off x="548640" y="2834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Material de apoio: github.com/unifor-docente/azure-devops-planejamento-hands-on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0" y="246888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tmp/claude-1000/-media-arimateia-junior-Dados5-UNIFOR-DOCENTE-AZURE-DEVOPS/e87efb98-d81a-41ec-afb2-eea59369fc18/scratchpad/img/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560320"/>
            <a:ext cx="1280160" cy="1280160"/>
          </a:xfrm>
          <a:prstGeom prst="rect">
            <a:avLst/>
          </a:prstGeom>
        </p:spPr>
      </p:pic>
      <p:pic>
        <p:nvPicPr>
          <p:cNvPr id="8" name="Image 2" descr="/tmp/claude-1000/-media-arimateia-junior-Dados5-UNIFOR-DOCENTE-AZURE-DEVOPS/e87efb98-d81a-41ec-afb2-eea59369fc18/scratchpad/img/logo_posunifor_branc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26280"/>
            <a:ext cx="1234440" cy="30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DevOps – MBA em Gerenciamento de Projetos</dc:title>
  <dc:subject>PptxGenJS Presentation</dc:subject>
  <dc:creator>Arimatéia Júnior</dc:creator>
  <cp:lastModifiedBy>Arimatéia Júnior</cp:lastModifiedBy>
  <cp:revision>1</cp:revision>
  <dcterms:created xsi:type="dcterms:W3CDTF">2026-09-29T03:36:05Z</dcterms:created>
  <dcterms:modified xsi:type="dcterms:W3CDTF">2026-09-29T03:36:05Z</dcterms:modified>
</cp:coreProperties>
</file>