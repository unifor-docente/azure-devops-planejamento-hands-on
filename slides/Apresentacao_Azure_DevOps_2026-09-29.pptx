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1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21F8F"/>
                </a:solidFill>
                <a:latin typeface="Arial"/>
              </a:defRPr>
            </a:pPr>
            <a:r>
              <a:rPr sz="1200" b="0" i="0" u="none" strike="noStrike">
                <a:solidFill>
                  <a:srgbClr val="121F8F"/>
                </a:solidFill>
                <a:latin typeface="Arial"/>
              </a:rPr>
              <a:t>Horas restantes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Ideal</c:v>
                </c:pt>
              </c:strCache>
            </c:strRef>
          </c:tx>
          <c:spPr>
            <a:solidFill>
              <a:srgbClr val="CFD3FF"/>
            </a:solidFill>
            <a:ln w="38100" cap="flat">
              <a:solidFill>
                <a:srgbClr val="CFD3F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CFD3FF"/>
              </a:solidFill>
              <a:ln w="9525" cap="flat">
                <a:solidFill>
                  <a:srgbClr val="CFD3F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D1</c:v>
                  </c:pt>
                  <c:pt idx="1">
                    <c:v>D2</c:v>
                  </c:pt>
                  <c:pt idx="2">
                    <c:v>D3</c:v>
                  </c:pt>
                  <c:pt idx="3">
                    <c:v>D4</c:v>
                  </c:pt>
                  <c:pt idx="4">
                    <c:v>D5</c:v>
                  </c:pt>
                  <c:pt idx="5">
                    <c:v>D6</c:v>
                  </c:pt>
                  <c:pt idx="6">
                    <c:v>D7</c:v>
                  </c:pt>
                  <c:pt idx="7">
                    <c:v>D8</c:v>
                  </c:pt>
                  <c:pt idx="8">
                    <c:v>D9</c:v>
                  </c:pt>
                  <c:pt idx="9">
                    <c:v>D10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80</c:v>
                </c:pt>
                <c:pt idx="1">
                  <c:v>71</c:v>
                </c:pt>
                <c:pt idx="2">
                  <c:v>62</c:v>
                </c:pt>
                <c:pt idx="3">
                  <c:v>53</c:v>
                </c:pt>
                <c:pt idx="4">
                  <c:v>44</c:v>
                </c:pt>
                <c:pt idx="5">
                  <c:v>36</c:v>
                </c:pt>
                <c:pt idx="6">
                  <c:v>27</c:v>
                </c:pt>
                <c:pt idx="7">
                  <c:v>18</c:v>
                </c:pt>
                <c:pt idx="8">
                  <c:v>9</c:v>
                </c:pt>
                <c:pt idx="9">
                  <c:v>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Real</c:v>
                </c:pt>
              </c:strCache>
            </c:strRef>
          </c:tx>
          <c:spPr>
            <a:solidFill>
              <a:srgbClr val="3333FF"/>
            </a:solidFill>
            <a:ln w="38100" cap="flat">
              <a:solidFill>
                <a:srgbClr val="3333F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3333FF"/>
              </a:solidFill>
              <a:ln w="9525" cap="flat">
                <a:solidFill>
                  <a:srgbClr val="3333F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D1</c:v>
                  </c:pt>
                  <c:pt idx="1">
                    <c:v>D2</c:v>
                  </c:pt>
                  <c:pt idx="2">
                    <c:v>D3</c:v>
                  </c:pt>
                  <c:pt idx="3">
                    <c:v>D4</c:v>
                  </c:pt>
                  <c:pt idx="4">
                    <c:v>D5</c:v>
                  </c:pt>
                  <c:pt idx="5">
                    <c:v>D6</c:v>
                  </c:pt>
                  <c:pt idx="6">
                    <c:v>D7</c:v>
                  </c:pt>
                  <c:pt idx="7">
                    <c:v>D8</c:v>
                  </c:pt>
                  <c:pt idx="8">
                    <c:v>D9</c:v>
                  </c:pt>
                  <c:pt idx="9">
                    <c:v>D10</c:v>
                  </c:pt>
                </c:lvl>
              </c:multiLvlStrCache>
            </c:multiLvl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80</c:v>
                </c:pt>
                <c:pt idx="1">
                  <c:v>78</c:v>
                </c:pt>
                <c:pt idx="2">
                  <c:v>74</c:v>
                </c:pt>
                <c:pt idx="3">
                  <c:v>74</c:v>
                </c:pt>
                <c:pt idx="4">
                  <c:v>70</c:v>
                </c:pt>
                <c:pt idx="5">
                  <c:v>62</c:v>
                </c:pt>
                <c:pt idx="6">
                  <c:v>50</c:v>
                </c:pt>
                <c:pt idx="7">
                  <c:v>38</c:v>
                </c:pt>
                <c:pt idx="8">
                  <c:v>26</c:v>
                </c:pt>
                <c:pt idx="9">
                  <c:v>14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47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7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475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image" Target="../media/image-4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image" Target="../media/image-12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chart" Target="/ppt/charts/chart1.xml"/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4" Type="http://schemas.openxmlformats.org/officeDocument/2006/relationships/hyperlink" Target="https://www.gartner.com/reviews/market/enterprise-agile-planning-tools" TargetMode="External"/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image" Target="../media/image-17-6.png"/><Relationship Id="rId7" Type="http://schemas.openxmlformats.org/officeDocument/2006/relationships/image" Target="../media/image-17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image" Target="../media/image-19-5.png"/><Relationship Id="rId6" Type="http://schemas.openxmlformats.org/officeDocument/2006/relationships/image" Target="../media/image-19-6.png"/><Relationship Id="rId7" Type="http://schemas.openxmlformats.org/officeDocument/2006/relationships/image" Target="../media/image-19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unifor-docente/azure-devops-planejamento-hands-on/blob/main/docs/roteiro-hands-on.md" TargetMode="External"/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image" Target="../media/image-24-5.png"/><Relationship Id="rId6" Type="http://schemas.openxmlformats.org/officeDocument/2006/relationships/image" Target="../media/image-24-6.png"/><Relationship Id="rId7" Type="http://schemas.openxmlformats.org/officeDocument/2006/relationships/image" Target="../media/image-24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unifor-docente/azure-devops-planejamento-hands-on" TargetMode="External"/><Relationship Id="rId1" Type="http://schemas.openxmlformats.org/officeDocument/2006/relationships/image" Target="../media/image-26-1.png"/><Relationship Id="rId3" Type="http://schemas.openxmlformats.org/officeDocument/2006/relationships/image" Target="../media/image-26-2.png"/><Relationship Id="rId4" Type="http://schemas.openxmlformats.org/officeDocument/2006/relationships/image" Target="../media/image-26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1F8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1000/-media-arimateia-junior-Dados5-UNIFOR-DOCENTE-AZURE-DEVOPS/e87efb98-d81a-41ec-afb2-eea59369fc18/scratchpad/img/capa_circul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0" y="0"/>
            <a:ext cx="1097280" cy="2130552"/>
          </a:xfrm>
          <a:prstGeom prst="rect">
            <a:avLst/>
          </a:prstGeom>
        </p:spPr>
      </p:pic>
      <p:pic>
        <p:nvPicPr>
          <p:cNvPr id="3" name="Image 1" descr="/tmp/claude-1000/-media-arimateia-junior-Dados5-UNIFOR-DOCENTE-AZURE-DEVOPS/e87efb98-d81a-41ec-afb2-eea59369fc18/scratchpad/img/capa_set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79792" y="4206240"/>
            <a:ext cx="1664208" cy="932688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548640" y="1371600"/>
            <a:ext cx="6858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DevOps</a:t>
            </a:r>
            <a:endParaRPr lang="en-US" sz="4400" dirty="0"/>
          </a:p>
        </p:txBody>
      </p:sp>
      <p:sp>
        <p:nvSpPr>
          <p:cNvPr id="5" name="Text 1"/>
          <p:cNvSpPr txBox="1"/>
          <p:nvPr/>
        </p:nvSpPr>
        <p:spPr>
          <a:xfrm>
            <a:off x="548640" y="2194560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FD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Planejamento e gestão de projetos na prática</a:t>
            </a:r>
            <a:endParaRPr lang="en-US" sz="2000" dirty="0"/>
          </a:p>
        </p:txBody>
      </p:sp>
      <p:sp>
        <p:nvSpPr>
          <p:cNvPr id="6" name="Text 2"/>
          <p:cNvSpPr txBox="1"/>
          <p:nvPr/>
        </p:nvSpPr>
        <p:spPr>
          <a:xfrm>
            <a:off x="548640" y="283464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MBA em Gerenciamento de Projetos  ·  29/09/2026</a:t>
            </a:r>
            <a:endParaRPr lang="en-US" sz="1400" dirty="0"/>
          </a:p>
        </p:txBody>
      </p:sp>
      <p:pic>
        <p:nvPicPr>
          <p:cNvPr id="7" name="Image 2" descr="/tmp/claude-1000/-media-arimateia-junior-Dados5-UNIFOR-DOCENTE-AZURE-DEVOPS/e87efb98-d81a-41ec-afb2-eea59369fc18/scratchpad/img/logo_posunifor_branc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4526280"/>
            <a:ext cx="1234440" cy="30175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41080" y="0"/>
            <a:ext cx="502920" cy="5143500"/>
          </a:xfrm>
          <a:prstGeom prst="rect">
            <a:avLst/>
          </a:prstGeom>
          <a:solidFill>
            <a:srgbClr val="3333FF"/>
          </a:solidFill>
          <a:ln w="12700">
            <a:solidFill>
              <a:srgbClr val="3333FF"/>
            </a:solidFill>
            <a:prstDash val="solid"/>
          </a:ln>
        </p:spPr>
      </p:sp>
      <p:pic>
        <p:nvPicPr>
          <p:cNvPr id="3" name="Image 0" descr="/tmp/claude-1000/-media-arimateia-junior-Dados5-UNIFOR-DOCENTE-AZURE-DEVOPS/e87efb98-d81a-41ec-afb2-eea59369fc18/scratchpad/img/motivo_lil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0" y="109728"/>
            <a:ext cx="411480" cy="475488"/>
          </a:xfrm>
          <a:prstGeom prst="rect">
            <a:avLst/>
          </a:prstGeom>
        </p:spPr>
      </p:pic>
      <p:pic>
        <p:nvPicPr>
          <p:cNvPr id="4" name="Image 1" descr="/tmp/claude-1000/-media-arimateia-junior-Dados5-UNIFOR-DOCENTE-AZURE-DEVOPS/e87efb98-d81a-41ec-afb2-eea59369fc18/scratchpad/img/logo_posunifo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0" y="4846320"/>
            <a:ext cx="1097280" cy="256032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457200" y="274320"/>
            <a:ext cx="7955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1F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Arimatéia Júnior</a:t>
            </a:r>
            <a:endParaRPr lang="en-US" sz="2600" dirty="0"/>
          </a:p>
        </p:txBody>
      </p:sp>
      <p:pic>
        <p:nvPicPr>
          <p:cNvPr id="6" name="Image 2" descr="/tmp/claude-1000/-media-arimateia-junior-Dados5-UNIFOR-DOCENTE-AZURE-DEVOPS/e87efb98-d81a-41ec-afb2-eea59369fc18/scratchpad/img/fot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320040"/>
            <a:ext cx="1920240" cy="1920240"/>
          </a:xfrm>
          <a:prstGeom prst="ellipse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6035040" y="228600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Apaixonado por família, tecnologia e futebol</a:t>
            </a:r>
            <a:endParaRPr lang="en-US" sz="1000" dirty="0"/>
          </a:p>
        </p:txBody>
      </p:sp>
      <p:sp>
        <p:nvSpPr>
          <p:cNvPr id="8" name="Text 3"/>
          <p:cNvSpPr txBox="1"/>
          <p:nvPr/>
        </p:nvSpPr>
        <p:spPr>
          <a:xfrm>
            <a:off x="457200" y="9601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33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Formação</a:t>
            </a:r>
            <a:endParaRPr lang="en-US" sz="1300" dirty="0"/>
          </a:p>
        </p:txBody>
      </p:sp>
      <p:sp>
        <p:nvSpPr>
          <p:cNvPr id="9" name="Text 4"/>
          <p:cNvSpPr txBox="1"/>
          <p:nvPr/>
        </p:nvSpPr>
        <p:spPr>
          <a:xfrm>
            <a:off x="457200" y="1234440"/>
            <a:ext cx="5669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Pós-graduado em Engenharia de Software com ênfase em DevOps – UNIFOR (2025)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MBA em Arquitetura de Software e Soluções – XP Educação (2023)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Especialização em Segurança da Informação – UNINASSAU (2021)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Redes de Computadores – Faculdade Lourenço Filho (2014)</a:t>
            </a:r>
            <a:endParaRPr lang="en-US" sz="1100" dirty="0"/>
          </a:p>
        </p:txBody>
      </p:sp>
      <p:sp>
        <p:nvSpPr>
          <p:cNvPr id="10" name="Text 5"/>
          <p:cNvSpPr txBox="1"/>
          <p:nvPr/>
        </p:nvSpPr>
        <p:spPr>
          <a:xfrm>
            <a:off x="457200" y="22860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33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Experiência profissional</a:t>
            </a:r>
            <a:endParaRPr lang="en-US" sz="1300" dirty="0"/>
          </a:p>
        </p:txBody>
      </p:sp>
      <p:sp>
        <p:nvSpPr>
          <p:cNvPr id="11" name="Text 6"/>
          <p:cNvSpPr txBox="1"/>
          <p:nvPr/>
        </p:nvSpPr>
        <p:spPr>
          <a:xfrm>
            <a:off x="457200" y="2560320"/>
            <a:ext cx="5669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Arquiteto de Software e Soluções – TIVIT (cliente: Petrobras)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Consultor de Tecnologia – ARI JR Technology</a:t>
            </a:r>
            <a:endParaRPr lang="en-US" sz="1100" dirty="0"/>
          </a:p>
        </p:txBody>
      </p:sp>
      <p:pic>
        <p:nvPicPr>
          <p:cNvPr id="12" name="Image 3" descr="/tmp/claude-1000/-media-arimateia-junior-Dados5-UNIFOR-DOCENTE-AZURE-DEVOPS/e87efb98-d81a-41ec-afb2-eea59369fc18/scratchpad/img/badge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200400"/>
            <a:ext cx="7498080" cy="149961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41080" y="0"/>
            <a:ext cx="502920" cy="5143500"/>
          </a:xfrm>
          <a:prstGeom prst="rect">
            <a:avLst/>
          </a:prstGeom>
          <a:solidFill>
            <a:srgbClr val="3333FF"/>
          </a:solidFill>
          <a:ln w="12700">
            <a:solidFill>
              <a:srgbClr val="3333FF"/>
            </a:solidFill>
            <a:prstDash val="solid"/>
          </a:ln>
        </p:spPr>
      </p:sp>
      <p:pic>
        <p:nvPicPr>
          <p:cNvPr id="3" name="Image 0" descr="/tmp/claude-1000/-media-arimateia-junior-Dados5-UNIFOR-DOCENTE-AZURE-DEVOPS/e87efb98-d81a-41ec-afb2-eea59369fc18/scratchpad/img/motivo_lil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0" y="109728"/>
            <a:ext cx="411480" cy="475488"/>
          </a:xfrm>
          <a:prstGeom prst="rect">
            <a:avLst/>
          </a:prstGeom>
        </p:spPr>
      </p:pic>
      <p:pic>
        <p:nvPicPr>
          <p:cNvPr id="4" name="Image 1" descr="/tmp/claude-1000/-media-arimateia-junior-Dados5-UNIFOR-DOCENTE-AZURE-DEVOPS/e87efb98-d81a-41ec-afb2-eea59369fc18/scratchpad/img/logo_posunifo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0" y="4846320"/>
            <a:ext cx="1097280" cy="256032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457200" y="274320"/>
            <a:ext cx="7955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1F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vamos fazer hoje</a:t>
            </a:r>
            <a:endParaRPr lang="en-US" sz="2600" dirty="0"/>
          </a:p>
        </p:txBody>
      </p:sp>
      <p:sp>
        <p:nvSpPr>
          <p:cNvPr id="6" name="Text 2"/>
          <p:cNvSpPr txBox="1"/>
          <p:nvPr/>
        </p:nvSpPr>
        <p:spPr>
          <a:xfrm>
            <a:off x="457200" y="822960"/>
            <a:ext cx="7955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horas · teoria curta, prática longa · 29/09/2026</a:t>
            </a:r>
            <a:endParaRPr lang="en-US" sz="1300" dirty="0"/>
          </a:p>
        </p:txBody>
      </p:sp>
      <p:sp>
        <p:nvSpPr>
          <p:cNvPr id="7" name="Shape 3"/>
          <p:cNvSpPr/>
          <p:nvPr/>
        </p:nvSpPr>
        <p:spPr>
          <a:xfrm>
            <a:off x="457200" y="1417320"/>
            <a:ext cx="1883664" cy="2377440"/>
          </a:xfrm>
          <a:prstGeom prst="roundRect">
            <a:avLst>
              <a:gd name="adj" fmla="val 3883"/>
            </a:avLst>
          </a:prstGeom>
          <a:solidFill>
            <a:srgbClr val="E8EAFF"/>
          </a:solidFill>
          <a:ln w="12700">
            <a:solidFill>
              <a:srgbClr val="E8EAFF"/>
            </a:solidFill>
            <a:prstDash val="solid"/>
          </a:ln>
        </p:spPr>
      </p:sp>
      <p:sp>
        <p:nvSpPr>
          <p:cNvPr id="8" name="Shape 4"/>
          <p:cNvSpPr/>
          <p:nvPr/>
        </p:nvSpPr>
        <p:spPr>
          <a:xfrm>
            <a:off x="1124712" y="1600200"/>
            <a:ext cx="548640" cy="548640"/>
          </a:xfrm>
          <a:prstGeom prst="ellipse">
            <a:avLst/>
          </a:prstGeom>
          <a:solidFill>
            <a:srgbClr val="121F8F"/>
          </a:solidFill>
          <a:ln w="12700">
            <a:solidFill>
              <a:srgbClr val="121F8F"/>
            </a:solidFill>
            <a:prstDash val="solid"/>
          </a:ln>
        </p:spPr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7358" y="1742846"/>
            <a:ext cx="263347" cy="263347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502920" y="2286000"/>
            <a:ext cx="17922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 min</a:t>
            </a:r>
            <a:endParaRPr lang="en-US" sz="1800" dirty="0"/>
          </a:p>
        </p:txBody>
      </p:sp>
      <p:sp>
        <p:nvSpPr>
          <p:cNvPr id="11" name="Text 6"/>
          <p:cNvSpPr txBox="1"/>
          <p:nvPr/>
        </p:nvSpPr>
        <p:spPr>
          <a:xfrm>
            <a:off x="502920" y="2670048"/>
            <a:ext cx="1792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21F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Teoria + demo</a:t>
            </a:r>
            <a:endParaRPr lang="en-US" sz="1200" dirty="0"/>
          </a:p>
        </p:txBody>
      </p:sp>
      <p:sp>
        <p:nvSpPr>
          <p:cNvPr id="12" name="Text 7"/>
          <p:cNvSpPr txBox="1"/>
          <p:nvPr/>
        </p:nvSpPr>
        <p:spPr>
          <a:xfrm>
            <a:off x="548640" y="2971800"/>
            <a:ext cx="170078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DevOps, Azure DevOps, processos e demonstração</a:t>
            </a:r>
            <a:endParaRPr lang="en-US" sz="1000" dirty="0"/>
          </a:p>
        </p:txBody>
      </p:sp>
      <p:sp>
        <p:nvSpPr>
          <p:cNvPr id="13" name="Shape 8"/>
          <p:cNvSpPr/>
          <p:nvPr/>
        </p:nvSpPr>
        <p:spPr>
          <a:xfrm>
            <a:off x="2450592" y="1417320"/>
            <a:ext cx="1883664" cy="2377440"/>
          </a:xfrm>
          <a:prstGeom prst="roundRect">
            <a:avLst>
              <a:gd name="adj" fmla="val 3883"/>
            </a:avLst>
          </a:prstGeom>
          <a:solidFill>
            <a:srgbClr val="E8EAFF"/>
          </a:solidFill>
          <a:ln w="12700">
            <a:solidFill>
              <a:srgbClr val="E8EAFF"/>
            </a:solidFill>
            <a:prstDash val="solid"/>
          </a:ln>
        </p:spPr>
      </p:sp>
      <p:sp>
        <p:nvSpPr>
          <p:cNvPr id="14" name="Shape 9"/>
          <p:cNvSpPr/>
          <p:nvPr/>
        </p:nvSpPr>
        <p:spPr>
          <a:xfrm>
            <a:off x="3118104" y="1600200"/>
            <a:ext cx="548640" cy="548640"/>
          </a:xfrm>
          <a:prstGeom prst="ellipse">
            <a:avLst/>
          </a:prstGeom>
          <a:solidFill>
            <a:srgbClr val="121F8F"/>
          </a:solidFill>
          <a:ln w="12700">
            <a:solidFill>
              <a:srgbClr val="121F8F"/>
            </a:solidFill>
            <a:prstDash val="solid"/>
          </a:ln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60750" y="1742846"/>
            <a:ext cx="263347" cy="263347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2496312" y="2286000"/>
            <a:ext cx="17922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800" dirty="0"/>
          </a:p>
        </p:txBody>
      </p:sp>
      <p:sp>
        <p:nvSpPr>
          <p:cNvPr id="17" name="Text 11"/>
          <p:cNvSpPr txBox="1"/>
          <p:nvPr/>
        </p:nvSpPr>
        <p:spPr>
          <a:xfrm>
            <a:off x="2496312" y="2670048"/>
            <a:ext cx="1792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21F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Acesso</a:t>
            </a:r>
            <a:endParaRPr lang="en-US" sz="1200" dirty="0"/>
          </a:p>
        </p:txBody>
      </p:sp>
      <p:sp>
        <p:nvSpPr>
          <p:cNvPr id="18" name="Text 12"/>
          <p:cNvSpPr txBox="1"/>
          <p:nvPr/>
        </p:nvSpPr>
        <p:spPr>
          <a:xfrm>
            <a:off x="2542032" y="2971800"/>
            <a:ext cx="170078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Login, projeto da equipe e primeira pipeline</a:t>
            </a:r>
            <a:endParaRPr lang="en-US" sz="1000" dirty="0"/>
          </a:p>
        </p:txBody>
      </p:sp>
      <p:sp>
        <p:nvSpPr>
          <p:cNvPr id="19" name="Shape 13"/>
          <p:cNvSpPr/>
          <p:nvPr/>
        </p:nvSpPr>
        <p:spPr>
          <a:xfrm>
            <a:off x="4443984" y="1417320"/>
            <a:ext cx="1883664" cy="2377440"/>
          </a:xfrm>
          <a:prstGeom prst="roundRect">
            <a:avLst>
              <a:gd name="adj" fmla="val 3883"/>
            </a:avLst>
          </a:prstGeom>
          <a:solidFill>
            <a:srgbClr val="121F8F"/>
          </a:solidFill>
          <a:ln w="12700">
            <a:solidFill>
              <a:srgbClr val="121F8F"/>
            </a:solidFill>
            <a:prstDash val="solid"/>
          </a:ln>
        </p:spPr>
      </p:sp>
      <p:sp>
        <p:nvSpPr>
          <p:cNvPr id="20" name="Shape 14"/>
          <p:cNvSpPr/>
          <p:nvPr/>
        </p:nvSpPr>
        <p:spPr>
          <a:xfrm>
            <a:off x="5111496" y="1600200"/>
            <a:ext cx="548640" cy="548640"/>
          </a:xfrm>
          <a:prstGeom prst="ellipse">
            <a:avLst/>
          </a:prstGeom>
          <a:solidFill>
            <a:srgbClr val="3333FF"/>
          </a:solidFill>
          <a:ln w="12700">
            <a:solidFill>
              <a:srgbClr val="3333FF"/>
            </a:solidFill>
            <a:prstDash val="solid"/>
          </a:ln>
        </p:spPr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54142" y="1742846"/>
            <a:ext cx="263347" cy="263347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4489704" y="2286000"/>
            <a:ext cx="17922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2h40</a:t>
            </a:r>
            <a:endParaRPr lang="en-US" sz="1800" dirty="0"/>
          </a:p>
        </p:txBody>
      </p:sp>
      <p:sp>
        <p:nvSpPr>
          <p:cNvPr id="23" name="Text 16"/>
          <p:cNvSpPr txBox="1"/>
          <p:nvPr/>
        </p:nvSpPr>
        <p:spPr>
          <a:xfrm>
            <a:off x="4489704" y="2670048"/>
            <a:ext cx="1792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Prática</a:t>
            </a:r>
            <a:endParaRPr lang="en-US" sz="1200" dirty="0"/>
          </a:p>
        </p:txBody>
      </p:sp>
      <p:sp>
        <p:nvSpPr>
          <p:cNvPr id="24" name="Text 17"/>
          <p:cNvSpPr txBox="1"/>
          <p:nvPr/>
        </p:nvSpPr>
        <p:spPr>
          <a:xfrm>
            <a:off x="4535424" y="2971800"/>
            <a:ext cx="170078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FD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Backlog, sprint, pipeline e dashboard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6437376" y="1417320"/>
            <a:ext cx="1883664" cy="2377440"/>
          </a:xfrm>
          <a:prstGeom prst="roundRect">
            <a:avLst>
              <a:gd name="adj" fmla="val 3883"/>
            </a:avLst>
          </a:prstGeom>
          <a:solidFill>
            <a:srgbClr val="E8EAFF"/>
          </a:solidFill>
          <a:ln w="12700">
            <a:solidFill>
              <a:srgbClr val="E8EAFF"/>
            </a:solidFill>
            <a:prstDash val="solid"/>
          </a:ln>
        </p:spPr>
      </p:sp>
      <p:sp>
        <p:nvSpPr>
          <p:cNvPr id="26" name="Shape 19"/>
          <p:cNvSpPr/>
          <p:nvPr/>
        </p:nvSpPr>
        <p:spPr>
          <a:xfrm>
            <a:off x="7104888" y="1600200"/>
            <a:ext cx="548640" cy="548640"/>
          </a:xfrm>
          <a:prstGeom prst="ellipse">
            <a:avLst/>
          </a:prstGeom>
          <a:solidFill>
            <a:srgbClr val="121F8F"/>
          </a:solidFill>
          <a:ln w="12700">
            <a:solidFill>
              <a:srgbClr val="121F8F"/>
            </a:solidFill>
            <a:prstDash val="solid"/>
          </a:ln>
        </p:spPr>
      </p:sp>
      <p:pic>
        <p:nvPicPr>
          <p:cNvPr id="2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47534" y="1742846"/>
            <a:ext cx="263347" cy="263347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6483096" y="2286000"/>
            <a:ext cx="17922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min</a:t>
            </a:r>
            <a:endParaRPr lang="en-US" sz="1800" dirty="0"/>
          </a:p>
        </p:txBody>
      </p:sp>
      <p:sp>
        <p:nvSpPr>
          <p:cNvPr id="29" name="Text 21"/>
          <p:cNvSpPr txBox="1"/>
          <p:nvPr/>
        </p:nvSpPr>
        <p:spPr>
          <a:xfrm>
            <a:off x="6483096" y="2670048"/>
            <a:ext cx="1792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21F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Apresentações</a:t>
            </a:r>
            <a:endParaRPr lang="en-US" sz="1200" dirty="0"/>
          </a:p>
        </p:txBody>
      </p:sp>
      <p:sp>
        <p:nvSpPr>
          <p:cNvPr id="30" name="Text 22"/>
          <p:cNvSpPr txBox="1"/>
          <p:nvPr/>
        </p:nvSpPr>
        <p:spPr>
          <a:xfrm>
            <a:off x="6528816" y="2971800"/>
            <a:ext cx="170078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min por equipe</a:t>
            </a:r>
            <a:endParaRPr lang="en-US" sz="1000" dirty="0"/>
          </a:p>
        </p:txBody>
      </p:sp>
      <p:sp>
        <p:nvSpPr>
          <p:cNvPr id="31" name="Text 23"/>
          <p:cNvSpPr txBox="1"/>
          <p:nvPr/>
        </p:nvSpPr>
        <p:spPr>
          <a:xfrm>
            <a:off x="457200" y="402336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Objetivo: sair daqui sabendo transformar um objetivo de negócio em um plano rastreável, com escopo, prioridade, Sprint e acompanhamento.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41080" y="0"/>
            <a:ext cx="502920" cy="5143500"/>
          </a:xfrm>
          <a:prstGeom prst="rect">
            <a:avLst/>
          </a:prstGeom>
          <a:solidFill>
            <a:srgbClr val="3333FF"/>
          </a:solidFill>
          <a:ln w="12700">
            <a:solidFill>
              <a:srgbClr val="3333FF"/>
            </a:solidFill>
            <a:prstDash val="solid"/>
          </a:ln>
        </p:spPr>
      </p:sp>
      <p:pic>
        <p:nvPicPr>
          <p:cNvPr id="3" name="Image 0" descr="/tmp/claude-1000/-media-arimateia-junior-Dados5-UNIFOR-DOCENTE-AZURE-DEVOPS/e87efb98-d81a-41ec-afb2-eea59369fc18/scratchpad/img/motivo_lil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0" y="109728"/>
            <a:ext cx="411480" cy="475488"/>
          </a:xfrm>
          <a:prstGeom prst="rect">
            <a:avLst/>
          </a:prstGeom>
        </p:spPr>
      </p:pic>
      <p:pic>
        <p:nvPicPr>
          <p:cNvPr id="4" name="Image 1" descr="/tmp/claude-1000/-media-arimateia-junior-Dados5-UNIFOR-DOCENTE-AZURE-DEVOPS/e87efb98-d81a-41ec-afb2-eea59369fc18/scratchpad/img/logo_posunifo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0" y="4846320"/>
            <a:ext cx="1097280" cy="256032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457200" y="274320"/>
            <a:ext cx="7955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1F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Desafios da gestão tradicional de projetos</a:t>
            </a:r>
            <a:endParaRPr lang="en-US" sz="2600" dirty="0"/>
          </a:p>
        </p:txBody>
      </p:sp>
      <p:sp>
        <p:nvSpPr>
          <p:cNvPr id="6" name="Text 2"/>
          <p:cNvSpPr txBox="1"/>
          <p:nvPr/>
        </p:nvSpPr>
        <p:spPr>
          <a:xfrm>
            <a:off x="457200" y="822960"/>
            <a:ext cx="7955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 os projetos costumam perder o controle</a:t>
            </a:r>
            <a:endParaRPr lang="en-US" sz="1300" dirty="0"/>
          </a:p>
        </p:txBody>
      </p:sp>
      <p:sp>
        <p:nvSpPr>
          <p:cNvPr id="7" name="Shape 3"/>
          <p:cNvSpPr/>
          <p:nvPr/>
        </p:nvSpPr>
        <p:spPr>
          <a:xfrm>
            <a:off x="457200" y="1371600"/>
            <a:ext cx="2514600" cy="1097280"/>
          </a:xfrm>
          <a:prstGeom prst="roundRect">
            <a:avLst>
              <a:gd name="adj" fmla="val 6667"/>
            </a:avLst>
          </a:prstGeom>
          <a:solidFill>
            <a:srgbClr val="E8EAFF"/>
          </a:solidFill>
          <a:ln w="12700">
            <a:solidFill>
              <a:srgbClr val="E8EAFF"/>
            </a:solidFill>
            <a:prstDash val="solid"/>
          </a:ln>
        </p:spPr>
      </p:sp>
      <p:sp>
        <p:nvSpPr>
          <p:cNvPr id="8" name="Shape 4"/>
          <p:cNvSpPr/>
          <p:nvPr/>
        </p:nvSpPr>
        <p:spPr>
          <a:xfrm>
            <a:off x="594360" y="1645920"/>
            <a:ext cx="548640" cy="548640"/>
          </a:xfrm>
          <a:prstGeom prst="ellipse">
            <a:avLst/>
          </a:prstGeom>
          <a:solidFill>
            <a:srgbClr val="3333FF"/>
          </a:solidFill>
          <a:ln w="12700">
            <a:solidFill>
              <a:srgbClr val="3333FF"/>
            </a:solidFill>
            <a:prstDash val="solid"/>
          </a:ln>
        </p:spPr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7006" y="1788566"/>
            <a:ext cx="263347" cy="263347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1280160" y="1572768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21F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Pouca visibilidade</a:t>
            </a:r>
            <a:endParaRPr lang="en-US" sz="1200" dirty="0"/>
          </a:p>
        </p:txBody>
      </p:sp>
      <p:sp>
        <p:nvSpPr>
          <p:cNvPr id="11" name="Text 6"/>
          <p:cNvSpPr txBox="1"/>
          <p:nvPr/>
        </p:nvSpPr>
        <p:spPr>
          <a:xfrm>
            <a:off x="1280160" y="1984248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sobre o andamento real do projeto</a:t>
            </a:r>
            <a:endParaRPr lang="en-US" sz="1000" dirty="0"/>
          </a:p>
        </p:txBody>
      </p:sp>
      <p:sp>
        <p:nvSpPr>
          <p:cNvPr id="12" name="Shape 7"/>
          <p:cNvSpPr/>
          <p:nvPr/>
        </p:nvSpPr>
        <p:spPr>
          <a:xfrm>
            <a:off x="3108960" y="1371600"/>
            <a:ext cx="2514600" cy="1097280"/>
          </a:xfrm>
          <a:prstGeom prst="roundRect">
            <a:avLst>
              <a:gd name="adj" fmla="val 6667"/>
            </a:avLst>
          </a:prstGeom>
          <a:solidFill>
            <a:srgbClr val="E8EAFF"/>
          </a:solidFill>
          <a:ln w="12700">
            <a:solidFill>
              <a:srgbClr val="E8EAFF"/>
            </a:solidFill>
            <a:prstDash val="solid"/>
          </a:ln>
        </p:spPr>
      </p:sp>
      <p:sp>
        <p:nvSpPr>
          <p:cNvPr id="13" name="Shape 8"/>
          <p:cNvSpPr/>
          <p:nvPr/>
        </p:nvSpPr>
        <p:spPr>
          <a:xfrm>
            <a:off x="3246120" y="1645920"/>
            <a:ext cx="548640" cy="548640"/>
          </a:xfrm>
          <a:prstGeom prst="ellipse">
            <a:avLst/>
          </a:prstGeom>
          <a:solidFill>
            <a:srgbClr val="3333FF"/>
          </a:solidFill>
          <a:ln w="12700">
            <a:solidFill>
              <a:srgbClr val="3333FF"/>
            </a:solidFill>
            <a:prstDash val="solid"/>
          </a:ln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88766" y="1788566"/>
            <a:ext cx="263347" cy="263347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3931920" y="1572768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21F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Comunicação dispersa</a:t>
            </a:r>
            <a:endParaRPr lang="en-US" sz="1200" dirty="0"/>
          </a:p>
        </p:txBody>
      </p:sp>
      <p:sp>
        <p:nvSpPr>
          <p:cNvPr id="16" name="Text 10"/>
          <p:cNvSpPr txBox="1"/>
          <p:nvPr/>
        </p:nvSpPr>
        <p:spPr>
          <a:xfrm>
            <a:off x="3931920" y="1984248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e-mail, planilhas, conversas soltas</a:t>
            </a:r>
            <a:endParaRPr lang="en-US" sz="1000" dirty="0"/>
          </a:p>
        </p:txBody>
      </p:sp>
      <p:sp>
        <p:nvSpPr>
          <p:cNvPr id="17" name="Shape 11"/>
          <p:cNvSpPr/>
          <p:nvPr/>
        </p:nvSpPr>
        <p:spPr>
          <a:xfrm>
            <a:off x="5760720" y="1371600"/>
            <a:ext cx="2514600" cy="1097280"/>
          </a:xfrm>
          <a:prstGeom prst="roundRect">
            <a:avLst>
              <a:gd name="adj" fmla="val 6667"/>
            </a:avLst>
          </a:prstGeom>
          <a:solidFill>
            <a:srgbClr val="E8EAFF"/>
          </a:solidFill>
          <a:ln w="12700">
            <a:solidFill>
              <a:srgbClr val="E8EAFF"/>
            </a:solidFill>
            <a:prstDash val="solid"/>
          </a:ln>
        </p:spPr>
      </p:sp>
      <p:sp>
        <p:nvSpPr>
          <p:cNvPr id="18" name="Shape 12"/>
          <p:cNvSpPr/>
          <p:nvPr/>
        </p:nvSpPr>
        <p:spPr>
          <a:xfrm>
            <a:off x="5897880" y="1645920"/>
            <a:ext cx="548640" cy="548640"/>
          </a:xfrm>
          <a:prstGeom prst="ellipse">
            <a:avLst/>
          </a:prstGeom>
          <a:solidFill>
            <a:srgbClr val="3333FF"/>
          </a:solidFill>
          <a:ln w="12700">
            <a:solidFill>
              <a:srgbClr val="3333FF"/>
            </a:solidFill>
            <a:prstDash val="solid"/>
          </a:ln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40526" y="1788566"/>
            <a:ext cx="263347" cy="263347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6583680" y="1572768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21F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Retrabalho</a:t>
            </a:r>
            <a:endParaRPr lang="en-US" sz="1200" dirty="0"/>
          </a:p>
        </p:txBody>
      </p:sp>
      <p:sp>
        <p:nvSpPr>
          <p:cNvPr id="21" name="Text 14"/>
          <p:cNvSpPr txBox="1"/>
          <p:nvPr/>
        </p:nvSpPr>
        <p:spPr>
          <a:xfrm>
            <a:off x="6583680" y="1984248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perda de informações e decisões</a:t>
            </a:r>
            <a:endParaRPr lang="en-US" sz="1000" dirty="0"/>
          </a:p>
        </p:txBody>
      </p:sp>
      <p:sp>
        <p:nvSpPr>
          <p:cNvPr id="22" name="Shape 15"/>
          <p:cNvSpPr/>
          <p:nvPr/>
        </p:nvSpPr>
        <p:spPr>
          <a:xfrm>
            <a:off x="457200" y="2606040"/>
            <a:ext cx="2514600" cy="1097280"/>
          </a:xfrm>
          <a:prstGeom prst="roundRect">
            <a:avLst>
              <a:gd name="adj" fmla="val 6667"/>
            </a:avLst>
          </a:prstGeom>
          <a:solidFill>
            <a:srgbClr val="E8EAFF"/>
          </a:solidFill>
          <a:ln w="12700">
            <a:solidFill>
              <a:srgbClr val="E8EAFF"/>
            </a:solidFill>
            <a:prstDash val="solid"/>
          </a:ln>
        </p:spPr>
      </p:sp>
      <p:sp>
        <p:nvSpPr>
          <p:cNvPr id="23" name="Shape 16"/>
          <p:cNvSpPr/>
          <p:nvPr/>
        </p:nvSpPr>
        <p:spPr>
          <a:xfrm>
            <a:off x="594360" y="2880360"/>
            <a:ext cx="548640" cy="548640"/>
          </a:xfrm>
          <a:prstGeom prst="ellipse">
            <a:avLst/>
          </a:prstGeom>
          <a:solidFill>
            <a:srgbClr val="3333FF"/>
          </a:solidFill>
          <a:ln w="12700">
            <a:solidFill>
              <a:srgbClr val="3333FF"/>
            </a:solidFill>
            <a:prstDash val="solid"/>
          </a:ln>
        </p:spPr>
      </p:sp>
      <p:pic>
        <p:nvPicPr>
          <p:cNvPr id="2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7006" y="3023006"/>
            <a:ext cx="263347" cy="263347"/>
          </a:xfrm>
          <a:prstGeom prst="rect">
            <a:avLst/>
          </a:prstGeom>
        </p:spPr>
      </p:pic>
      <p:sp>
        <p:nvSpPr>
          <p:cNvPr id="25" name="Text 17"/>
          <p:cNvSpPr txBox="1"/>
          <p:nvPr/>
        </p:nvSpPr>
        <p:spPr>
          <a:xfrm>
            <a:off x="1280160" y="2807208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21F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Entregas difíceis de acompanhar</a:t>
            </a:r>
            <a:endParaRPr lang="en-US" sz="1200" dirty="0"/>
          </a:p>
        </p:txBody>
      </p:sp>
      <p:sp>
        <p:nvSpPr>
          <p:cNvPr id="26" name="Text 18"/>
          <p:cNvSpPr txBox="1"/>
          <p:nvPr/>
        </p:nvSpPr>
        <p:spPr>
          <a:xfrm>
            <a:off x="1280160" y="3218688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quem faz o quê, e até quando?</a:t>
            </a:r>
            <a:endParaRPr lang="en-US" sz="1000" dirty="0"/>
          </a:p>
        </p:txBody>
      </p:sp>
      <p:sp>
        <p:nvSpPr>
          <p:cNvPr id="27" name="Shape 19"/>
          <p:cNvSpPr/>
          <p:nvPr/>
        </p:nvSpPr>
        <p:spPr>
          <a:xfrm>
            <a:off x="3108960" y="2606040"/>
            <a:ext cx="2514600" cy="1097280"/>
          </a:xfrm>
          <a:prstGeom prst="roundRect">
            <a:avLst>
              <a:gd name="adj" fmla="val 6667"/>
            </a:avLst>
          </a:prstGeom>
          <a:solidFill>
            <a:srgbClr val="E8EAFF"/>
          </a:solidFill>
          <a:ln w="12700">
            <a:solidFill>
              <a:srgbClr val="E8EAFF"/>
            </a:solidFill>
            <a:prstDash val="solid"/>
          </a:ln>
        </p:spPr>
      </p:sp>
      <p:sp>
        <p:nvSpPr>
          <p:cNvPr id="28" name="Shape 20"/>
          <p:cNvSpPr/>
          <p:nvPr/>
        </p:nvSpPr>
        <p:spPr>
          <a:xfrm>
            <a:off x="3246120" y="2880360"/>
            <a:ext cx="548640" cy="548640"/>
          </a:xfrm>
          <a:prstGeom prst="ellipse">
            <a:avLst/>
          </a:prstGeom>
          <a:solidFill>
            <a:srgbClr val="3333FF"/>
          </a:solidFill>
          <a:ln w="12700">
            <a:solidFill>
              <a:srgbClr val="3333FF"/>
            </a:solidFill>
            <a:prstDash val="solid"/>
          </a:ln>
        </p:spPr>
      </p:sp>
      <p:pic>
        <p:nvPicPr>
          <p:cNvPr id="2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388766" y="3023006"/>
            <a:ext cx="263347" cy="263347"/>
          </a:xfrm>
          <a:prstGeom prst="rect">
            <a:avLst/>
          </a:prstGeom>
        </p:spPr>
      </p:pic>
      <p:sp>
        <p:nvSpPr>
          <p:cNvPr id="30" name="Text 21"/>
          <p:cNvSpPr txBox="1"/>
          <p:nvPr/>
        </p:nvSpPr>
        <p:spPr>
          <a:xfrm>
            <a:off x="3931920" y="2807208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21F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rastreabilidade</a:t>
            </a:r>
            <a:endParaRPr lang="en-US" sz="1200" dirty="0"/>
          </a:p>
        </p:txBody>
      </p:sp>
      <p:sp>
        <p:nvSpPr>
          <p:cNvPr id="31" name="Text 22"/>
          <p:cNvSpPr txBox="1"/>
          <p:nvPr/>
        </p:nvSpPr>
        <p:spPr>
          <a:xfrm>
            <a:off x="3931920" y="3218688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nem histórico das mudanças</a:t>
            </a:r>
            <a:endParaRPr lang="en-US" sz="1000" dirty="0"/>
          </a:p>
        </p:txBody>
      </p:sp>
      <p:sp>
        <p:nvSpPr>
          <p:cNvPr id="32" name="Shape 23"/>
          <p:cNvSpPr/>
          <p:nvPr/>
        </p:nvSpPr>
        <p:spPr>
          <a:xfrm>
            <a:off x="5760720" y="2606040"/>
            <a:ext cx="2514600" cy="1097280"/>
          </a:xfrm>
          <a:prstGeom prst="roundRect">
            <a:avLst>
              <a:gd name="adj" fmla="val 6667"/>
            </a:avLst>
          </a:prstGeom>
          <a:solidFill>
            <a:srgbClr val="E8EAFF"/>
          </a:solidFill>
          <a:ln w="12700">
            <a:solidFill>
              <a:srgbClr val="E8EAFF"/>
            </a:solidFill>
            <a:prstDash val="solid"/>
          </a:ln>
        </p:spPr>
      </p:sp>
      <p:sp>
        <p:nvSpPr>
          <p:cNvPr id="33" name="Shape 24"/>
          <p:cNvSpPr/>
          <p:nvPr/>
        </p:nvSpPr>
        <p:spPr>
          <a:xfrm>
            <a:off x="5897880" y="2880360"/>
            <a:ext cx="548640" cy="548640"/>
          </a:xfrm>
          <a:prstGeom prst="ellipse">
            <a:avLst/>
          </a:prstGeom>
          <a:solidFill>
            <a:srgbClr val="3333FF"/>
          </a:solidFill>
          <a:ln w="12700">
            <a:solidFill>
              <a:srgbClr val="3333FF"/>
            </a:solidFill>
            <a:prstDash val="solid"/>
          </a:ln>
        </p:spPr>
      </p:sp>
      <p:pic>
        <p:nvPicPr>
          <p:cNvPr id="3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040526" y="3023006"/>
            <a:ext cx="263347" cy="263347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6583680" y="2807208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21F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inconsistentes</a:t>
            </a:r>
            <a:endParaRPr lang="en-US" sz="1200" dirty="0"/>
          </a:p>
        </p:txBody>
      </p:sp>
      <p:sp>
        <p:nvSpPr>
          <p:cNvPr id="36" name="Text 26"/>
          <p:cNvSpPr txBox="1"/>
          <p:nvPr/>
        </p:nvSpPr>
        <p:spPr>
          <a:xfrm>
            <a:off x="6583680" y="3218688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a tomada de decisão</a:t>
            </a:r>
            <a:endParaRPr lang="en-US" sz="1000" dirty="0"/>
          </a:p>
        </p:txBody>
      </p:sp>
      <p:sp>
        <p:nvSpPr>
          <p:cNvPr id="37" name="Text 27"/>
          <p:cNvSpPr txBox="1"/>
          <p:nvPr/>
        </p:nvSpPr>
        <p:spPr>
          <a:xfrm>
            <a:off x="457200" y="402336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1F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Ferramentas modernas surgiram justamente para atacar esses problemas e para integrar as áreas técnicas e de negócio.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41080" y="0"/>
            <a:ext cx="502920" cy="5143500"/>
          </a:xfrm>
          <a:prstGeom prst="rect">
            <a:avLst/>
          </a:prstGeom>
          <a:solidFill>
            <a:srgbClr val="3333FF"/>
          </a:solidFill>
          <a:ln w="12700">
            <a:solidFill>
              <a:srgbClr val="3333FF"/>
            </a:solidFill>
            <a:prstDash val="solid"/>
          </a:ln>
        </p:spPr>
      </p:sp>
      <p:pic>
        <p:nvPicPr>
          <p:cNvPr id="3" name="Image 0" descr="/tmp/claude-1000/-media-arimateia-junior-Dados5-UNIFOR-DOCENTE-AZURE-DEVOPS/e87efb98-d81a-41ec-afb2-eea59369fc18/scratchpad/img/motivo_lil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0" y="109728"/>
            <a:ext cx="411480" cy="475488"/>
          </a:xfrm>
          <a:prstGeom prst="rect">
            <a:avLst/>
          </a:prstGeom>
        </p:spPr>
      </p:pic>
      <p:pic>
        <p:nvPicPr>
          <p:cNvPr id="4" name="Image 1" descr="/tmp/claude-1000/-media-arimateia-junior-Dados5-UNIFOR-DOCENTE-AZURE-DEVOPS/e87efb98-d81a-41ec-afb2-eea59369fc18/scratchpad/img/logo_posunifo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0" y="4846320"/>
            <a:ext cx="1097280" cy="256032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457200" y="274320"/>
            <a:ext cx="7955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1F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é DevOps?</a:t>
            </a:r>
            <a:endParaRPr lang="en-US" sz="2600" dirty="0"/>
          </a:p>
        </p:txBody>
      </p:sp>
      <p:sp>
        <p:nvSpPr>
          <p:cNvPr id="6" name="Text 2"/>
          <p:cNvSpPr txBox="1"/>
          <p:nvPr/>
        </p:nvSpPr>
        <p:spPr>
          <a:xfrm>
            <a:off x="457200" y="1005840"/>
            <a:ext cx="39319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DevOps é mais do que uma ferramenta ou metodologia: </a:t>
            </a:r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uma cultura que une Desenvolvimento (Dev) e Operações (Ops) para entregar valor de forma rápida, contínua e com qualidade, com o mínimo de atrito entre as equipes.</a:t>
            </a:r>
            <a:endParaRPr lang="en-US" sz="1400" dirty="0"/>
          </a:p>
        </p:txBody>
      </p:sp>
      <p:sp>
        <p:nvSpPr>
          <p:cNvPr id="7" name="Shape 3"/>
          <p:cNvSpPr/>
          <p:nvPr/>
        </p:nvSpPr>
        <p:spPr>
          <a:xfrm>
            <a:off x="457200" y="2697480"/>
            <a:ext cx="3931920" cy="1371600"/>
          </a:xfrm>
          <a:prstGeom prst="roundRect">
            <a:avLst>
              <a:gd name="adj" fmla="val 5333"/>
            </a:avLst>
          </a:prstGeom>
          <a:solidFill>
            <a:srgbClr val="121F8F"/>
          </a:solidFill>
          <a:ln w="12700">
            <a:solidFill>
              <a:srgbClr val="121F8F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685800" y="288036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DevOps não é apenas tecnologia.</a:t>
            </a:r>
            <a:endParaRPr lang="en-US" sz="1600" dirty="0"/>
          </a:p>
        </p:txBody>
      </p:sp>
      <p:sp>
        <p:nvSpPr>
          <p:cNvPr id="9" name="Text 5"/>
          <p:cNvSpPr txBox="1"/>
          <p:nvPr/>
        </p:nvSpPr>
        <p:spPr>
          <a:xfrm>
            <a:off x="685800" y="329184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FD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colaboração, automação, visibilidade e melhoria contínua.</a:t>
            </a:r>
            <a:endParaRPr lang="en-US" sz="1300" dirty="0"/>
          </a:p>
        </p:txBody>
      </p:sp>
      <p:sp>
        <p:nvSpPr>
          <p:cNvPr id="10" name="Text 6"/>
          <p:cNvSpPr txBox="1"/>
          <p:nvPr/>
        </p:nvSpPr>
        <p:spPr>
          <a:xfrm>
            <a:off x="4754880" y="100584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33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Principais benefícios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4754880" y="1417320"/>
            <a:ext cx="411480" cy="411480"/>
          </a:xfrm>
          <a:prstGeom prst="ellipse">
            <a:avLst/>
          </a:prstGeom>
          <a:solidFill>
            <a:srgbClr val="3333FF"/>
          </a:solidFill>
          <a:ln w="12700">
            <a:solidFill>
              <a:srgbClr val="3333FF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1865" y="1524305"/>
            <a:ext cx="197510" cy="19751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303520" y="141732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 times técnicos e não técnicos</a:t>
            </a:r>
            <a:endParaRPr lang="en-US" sz="1200" dirty="0"/>
          </a:p>
        </p:txBody>
      </p:sp>
      <p:sp>
        <p:nvSpPr>
          <p:cNvPr id="14" name="Shape 9"/>
          <p:cNvSpPr/>
          <p:nvPr/>
        </p:nvSpPr>
        <p:spPr>
          <a:xfrm>
            <a:off x="4754880" y="1965960"/>
            <a:ext cx="411480" cy="411480"/>
          </a:xfrm>
          <a:prstGeom prst="ellipse">
            <a:avLst/>
          </a:prstGeom>
          <a:solidFill>
            <a:srgbClr val="3333FF"/>
          </a:solidFill>
          <a:ln w="12700">
            <a:solidFill>
              <a:srgbClr val="3333FF"/>
            </a:solidFill>
            <a:prstDash val="solid"/>
          </a:ln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61865" y="2072945"/>
            <a:ext cx="197510" cy="19751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5303520" y="196596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Automatiza do planejamento à entrega</a:t>
            </a:r>
            <a:endParaRPr lang="en-US" sz="1200" dirty="0"/>
          </a:p>
        </p:txBody>
      </p:sp>
      <p:sp>
        <p:nvSpPr>
          <p:cNvPr id="17" name="Shape 11"/>
          <p:cNvSpPr/>
          <p:nvPr/>
        </p:nvSpPr>
        <p:spPr>
          <a:xfrm>
            <a:off x="4754880" y="2514600"/>
            <a:ext cx="411480" cy="411480"/>
          </a:xfrm>
          <a:prstGeom prst="ellipse">
            <a:avLst/>
          </a:prstGeom>
          <a:solidFill>
            <a:srgbClr val="3333FF"/>
          </a:solidFill>
          <a:ln w="12700">
            <a:solidFill>
              <a:srgbClr val="3333FF"/>
            </a:solidFill>
            <a:prstDash val="solid"/>
          </a:ln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61865" y="2621585"/>
            <a:ext cx="197510" cy="197510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5303520" y="251460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Reduz o tempo de entrega, com qualidade</a:t>
            </a:r>
            <a:endParaRPr lang="en-US" sz="1200" dirty="0"/>
          </a:p>
        </p:txBody>
      </p:sp>
      <p:sp>
        <p:nvSpPr>
          <p:cNvPr id="20" name="Shape 13"/>
          <p:cNvSpPr/>
          <p:nvPr/>
        </p:nvSpPr>
        <p:spPr>
          <a:xfrm>
            <a:off x="4754880" y="3063240"/>
            <a:ext cx="411480" cy="411480"/>
          </a:xfrm>
          <a:prstGeom prst="ellipse">
            <a:avLst/>
          </a:prstGeom>
          <a:solidFill>
            <a:srgbClr val="3333FF"/>
          </a:solidFill>
          <a:ln w="12700">
            <a:solidFill>
              <a:srgbClr val="3333FF"/>
            </a:solidFill>
            <a:prstDash val="solid"/>
          </a:ln>
        </p:spPr>
      </p:sp>
      <p:pic>
        <p:nvPicPr>
          <p:cNvPr id="2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61865" y="3170225"/>
            <a:ext cx="197510" cy="197510"/>
          </a:xfrm>
          <a:prstGeom prst="rect">
            <a:avLst/>
          </a:prstGeom>
        </p:spPr>
      </p:pic>
      <p:sp>
        <p:nvSpPr>
          <p:cNvPr id="22" name="Text 14"/>
          <p:cNvSpPr txBox="1"/>
          <p:nvPr/>
        </p:nvSpPr>
        <p:spPr>
          <a:xfrm>
            <a:off x="5303520" y="306324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Mais visibilidade e rastreabilidade</a:t>
            </a:r>
            <a:endParaRPr lang="en-US" sz="1200" dirty="0"/>
          </a:p>
        </p:txBody>
      </p:sp>
      <p:sp>
        <p:nvSpPr>
          <p:cNvPr id="23" name="Shape 15"/>
          <p:cNvSpPr/>
          <p:nvPr/>
        </p:nvSpPr>
        <p:spPr>
          <a:xfrm>
            <a:off x="4754880" y="3611880"/>
            <a:ext cx="411480" cy="411480"/>
          </a:xfrm>
          <a:prstGeom prst="ellipse">
            <a:avLst/>
          </a:prstGeom>
          <a:solidFill>
            <a:srgbClr val="3333FF"/>
          </a:solidFill>
          <a:ln w="12700">
            <a:solidFill>
              <a:srgbClr val="3333FF"/>
            </a:solidFill>
            <a:prstDash val="solid"/>
          </a:ln>
        </p:spPr>
      </p:sp>
      <p:pic>
        <p:nvPicPr>
          <p:cNvPr id="2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61865" y="3718865"/>
            <a:ext cx="197510" cy="197510"/>
          </a:xfrm>
          <a:prstGeom prst="rect">
            <a:avLst/>
          </a:prstGeom>
        </p:spPr>
      </p:pic>
      <p:sp>
        <p:nvSpPr>
          <p:cNvPr id="25" name="Text 16"/>
          <p:cNvSpPr txBox="1"/>
          <p:nvPr/>
        </p:nvSpPr>
        <p:spPr>
          <a:xfrm>
            <a:off x="5303520" y="361188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Processos em um único ecossistema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41080" y="0"/>
            <a:ext cx="502920" cy="5143500"/>
          </a:xfrm>
          <a:prstGeom prst="rect">
            <a:avLst/>
          </a:prstGeom>
          <a:solidFill>
            <a:srgbClr val="3333FF"/>
          </a:solidFill>
          <a:ln w="12700">
            <a:solidFill>
              <a:srgbClr val="3333FF"/>
            </a:solidFill>
            <a:prstDash val="solid"/>
          </a:ln>
        </p:spPr>
      </p:sp>
      <p:pic>
        <p:nvPicPr>
          <p:cNvPr id="3" name="Image 0" descr="/tmp/claude-1000/-media-arimateia-junior-Dados5-UNIFOR-DOCENTE-AZURE-DEVOPS/e87efb98-d81a-41ec-afb2-eea59369fc18/scratchpad/img/motivo_lil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0" y="109728"/>
            <a:ext cx="411480" cy="475488"/>
          </a:xfrm>
          <a:prstGeom prst="rect">
            <a:avLst/>
          </a:prstGeom>
        </p:spPr>
      </p:pic>
      <p:pic>
        <p:nvPicPr>
          <p:cNvPr id="4" name="Image 1" descr="/tmp/claude-1000/-media-arimateia-junior-Dados5-UNIFOR-DOCENTE-AZURE-DEVOPS/e87efb98-d81a-41ec-afb2-eea59369fc18/scratchpad/img/logo_posunifo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0" y="4846320"/>
            <a:ext cx="1097280" cy="256032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457200" y="274320"/>
            <a:ext cx="7955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1F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DevOps: uma plataforma, cinco serviços</a:t>
            </a:r>
            <a:endParaRPr lang="en-US" sz="2600" dirty="0"/>
          </a:p>
        </p:txBody>
      </p:sp>
      <p:sp>
        <p:nvSpPr>
          <p:cNvPr id="6" name="Text 2"/>
          <p:cNvSpPr txBox="1"/>
          <p:nvPr/>
        </p:nvSpPr>
        <p:spPr>
          <a:xfrm>
            <a:off x="457200" y="822960"/>
            <a:ext cx="7955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planejamento à entrega, tudo integrado e rastreável</a:t>
            </a:r>
            <a:endParaRPr lang="en-US" sz="1300" dirty="0"/>
          </a:p>
        </p:txBody>
      </p:sp>
      <p:sp>
        <p:nvSpPr>
          <p:cNvPr id="7" name="Shape 3"/>
          <p:cNvSpPr/>
          <p:nvPr/>
        </p:nvSpPr>
        <p:spPr>
          <a:xfrm>
            <a:off x="457200" y="1417320"/>
            <a:ext cx="1499616" cy="2148840"/>
          </a:xfrm>
          <a:prstGeom prst="roundRect">
            <a:avLst>
              <a:gd name="adj" fmla="val 4878"/>
            </a:avLst>
          </a:prstGeom>
          <a:solidFill>
            <a:srgbClr val="121F8F"/>
          </a:solidFill>
          <a:ln w="12700">
            <a:solidFill>
              <a:srgbClr val="121F8F"/>
            </a:solidFill>
            <a:prstDash val="solid"/>
          </a:ln>
        </p:spPr>
      </p:sp>
      <p:sp>
        <p:nvSpPr>
          <p:cNvPr id="8" name="Shape 4"/>
          <p:cNvSpPr/>
          <p:nvPr/>
        </p:nvSpPr>
        <p:spPr>
          <a:xfrm>
            <a:off x="886968" y="1600200"/>
            <a:ext cx="640080" cy="640080"/>
          </a:xfrm>
          <a:prstGeom prst="ellipse">
            <a:avLst/>
          </a:prstGeom>
          <a:solidFill>
            <a:srgbClr val="3333FF"/>
          </a:solidFill>
          <a:ln w="12700">
            <a:solidFill>
              <a:srgbClr val="3333FF"/>
            </a:solidFill>
            <a:prstDash val="solid"/>
          </a:ln>
        </p:spPr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3389" y="1766621"/>
            <a:ext cx="307238" cy="307238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502920" y="2377440"/>
            <a:ext cx="140817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Boards</a:t>
            </a:r>
            <a:endParaRPr lang="en-US" sz="1300" dirty="0"/>
          </a:p>
        </p:txBody>
      </p:sp>
      <p:sp>
        <p:nvSpPr>
          <p:cNvPr id="11" name="Text 6"/>
          <p:cNvSpPr txBox="1"/>
          <p:nvPr/>
        </p:nvSpPr>
        <p:spPr>
          <a:xfrm>
            <a:off x="566928" y="2715768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FD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Planejamento: backlog, Kanban, sprints</a:t>
            </a:r>
            <a:endParaRPr lang="en-US" sz="1000" dirty="0"/>
          </a:p>
        </p:txBody>
      </p:sp>
      <p:sp>
        <p:nvSpPr>
          <p:cNvPr id="12" name="Shape 7"/>
          <p:cNvSpPr/>
          <p:nvPr/>
        </p:nvSpPr>
        <p:spPr>
          <a:xfrm>
            <a:off x="2048256" y="1417320"/>
            <a:ext cx="1499616" cy="2148840"/>
          </a:xfrm>
          <a:prstGeom prst="roundRect">
            <a:avLst>
              <a:gd name="adj" fmla="val 4878"/>
            </a:avLst>
          </a:prstGeom>
          <a:solidFill>
            <a:srgbClr val="E8EAFF"/>
          </a:solidFill>
          <a:ln w="12700">
            <a:solidFill>
              <a:srgbClr val="E8EAFF"/>
            </a:solidFill>
            <a:prstDash val="solid"/>
          </a:ln>
        </p:spPr>
      </p:sp>
      <p:sp>
        <p:nvSpPr>
          <p:cNvPr id="13" name="Shape 8"/>
          <p:cNvSpPr/>
          <p:nvPr/>
        </p:nvSpPr>
        <p:spPr>
          <a:xfrm>
            <a:off x="2478024" y="1600200"/>
            <a:ext cx="640080" cy="640080"/>
          </a:xfrm>
          <a:prstGeom prst="ellipse">
            <a:avLst/>
          </a:prstGeom>
          <a:solidFill>
            <a:srgbClr val="121F8F"/>
          </a:solidFill>
          <a:ln w="12700">
            <a:solidFill>
              <a:srgbClr val="121F8F"/>
            </a:solidFill>
            <a:prstDash val="solid"/>
          </a:ln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44445" y="1766621"/>
            <a:ext cx="307238" cy="307238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2093976" y="2377440"/>
            <a:ext cx="140817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21F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Repos</a:t>
            </a:r>
            <a:endParaRPr lang="en-US" sz="1300" dirty="0"/>
          </a:p>
        </p:txBody>
      </p:sp>
      <p:sp>
        <p:nvSpPr>
          <p:cNvPr id="16" name="Text 10"/>
          <p:cNvSpPr txBox="1"/>
          <p:nvPr/>
        </p:nvSpPr>
        <p:spPr>
          <a:xfrm>
            <a:off x="2157984" y="2715768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Versionamento de código (Git)</a:t>
            </a:r>
            <a:endParaRPr lang="en-US" sz="1000" dirty="0"/>
          </a:p>
        </p:txBody>
      </p:sp>
      <p:sp>
        <p:nvSpPr>
          <p:cNvPr id="17" name="Shape 11"/>
          <p:cNvSpPr/>
          <p:nvPr/>
        </p:nvSpPr>
        <p:spPr>
          <a:xfrm>
            <a:off x="3639312" y="1417320"/>
            <a:ext cx="1499616" cy="2148840"/>
          </a:xfrm>
          <a:prstGeom prst="roundRect">
            <a:avLst>
              <a:gd name="adj" fmla="val 4878"/>
            </a:avLst>
          </a:prstGeom>
          <a:solidFill>
            <a:srgbClr val="E8EAFF"/>
          </a:solidFill>
          <a:ln w="12700">
            <a:solidFill>
              <a:srgbClr val="E8EAFF"/>
            </a:solidFill>
            <a:prstDash val="solid"/>
          </a:ln>
        </p:spPr>
      </p:sp>
      <p:sp>
        <p:nvSpPr>
          <p:cNvPr id="18" name="Shape 12"/>
          <p:cNvSpPr/>
          <p:nvPr/>
        </p:nvSpPr>
        <p:spPr>
          <a:xfrm>
            <a:off x="4069080" y="1600200"/>
            <a:ext cx="640080" cy="640080"/>
          </a:xfrm>
          <a:prstGeom prst="ellipse">
            <a:avLst/>
          </a:prstGeom>
          <a:solidFill>
            <a:srgbClr val="121F8F"/>
          </a:solidFill>
          <a:ln w="12700">
            <a:solidFill>
              <a:srgbClr val="121F8F"/>
            </a:solidFill>
            <a:prstDash val="solid"/>
          </a:ln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35501" y="1766621"/>
            <a:ext cx="307238" cy="307238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3685032" y="2377440"/>
            <a:ext cx="140817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21F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Pipelines</a:t>
            </a:r>
            <a:endParaRPr lang="en-US" sz="1300" dirty="0"/>
          </a:p>
        </p:txBody>
      </p:sp>
      <p:sp>
        <p:nvSpPr>
          <p:cNvPr id="21" name="Text 14"/>
          <p:cNvSpPr txBox="1"/>
          <p:nvPr/>
        </p:nvSpPr>
        <p:spPr>
          <a:xfrm>
            <a:off x="3749040" y="2715768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Automação: integração e entrega contínua (CI/CD)</a:t>
            </a:r>
            <a:endParaRPr lang="en-US" sz="1000" dirty="0"/>
          </a:p>
        </p:txBody>
      </p:sp>
      <p:sp>
        <p:nvSpPr>
          <p:cNvPr id="22" name="Shape 15"/>
          <p:cNvSpPr/>
          <p:nvPr/>
        </p:nvSpPr>
        <p:spPr>
          <a:xfrm>
            <a:off x="5230368" y="1417320"/>
            <a:ext cx="1499616" cy="2148840"/>
          </a:xfrm>
          <a:prstGeom prst="roundRect">
            <a:avLst>
              <a:gd name="adj" fmla="val 4878"/>
            </a:avLst>
          </a:prstGeom>
          <a:solidFill>
            <a:srgbClr val="E8EAFF"/>
          </a:solidFill>
          <a:ln w="12700">
            <a:solidFill>
              <a:srgbClr val="E8EAFF"/>
            </a:solidFill>
            <a:prstDash val="solid"/>
          </a:ln>
        </p:spPr>
      </p:sp>
      <p:sp>
        <p:nvSpPr>
          <p:cNvPr id="23" name="Shape 16"/>
          <p:cNvSpPr/>
          <p:nvPr/>
        </p:nvSpPr>
        <p:spPr>
          <a:xfrm>
            <a:off x="5660136" y="1600200"/>
            <a:ext cx="640080" cy="640080"/>
          </a:xfrm>
          <a:prstGeom prst="ellipse">
            <a:avLst/>
          </a:prstGeom>
          <a:solidFill>
            <a:srgbClr val="121F8F"/>
          </a:solidFill>
          <a:ln w="12700">
            <a:solidFill>
              <a:srgbClr val="121F8F"/>
            </a:solidFill>
            <a:prstDash val="solid"/>
          </a:ln>
        </p:spPr>
      </p:sp>
      <p:pic>
        <p:nvPicPr>
          <p:cNvPr id="2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26557" y="1766621"/>
            <a:ext cx="307238" cy="307238"/>
          </a:xfrm>
          <a:prstGeom prst="rect">
            <a:avLst/>
          </a:prstGeom>
        </p:spPr>
      </p:pic>
      <p:sp>
        <p:nvSpPr>
          <p:cNvPr id="25" name="Text 17"/>
          <p:cNvSpPr txBox="1"/>
          <p:nvPr/>
        </p:nvSpPr>
        <p:spPr>
          <a:xfrm>
            <a:off x="5276088" y="2377440"/>
            <a:ext cx="140817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21F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Test Plans</a:t>
            </a:r>
            <a:endParaRPr lang="en-US" sz="1300" dirty="0"/>
          </a:p>
        </p:txBody>
      </p:sp>
      <p:sp>
        <p:nvSpPr>
          <p:cNvPr id="26" name="Text 18"/>
          <p:cNvSpPr txBox="1"/>
          <p:nvPr/>
        </p:nvSpPr>
        <p:spPr>
          <a:xfrm>
            <a:off x="5340096" y="2715768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Testes manuais e automatizados</a:t>
            </a:r>
            <a:endParaRPr lang="en-US" sz="1000" dirty="0"/>
          </a:p>
        </p:txBody>
      </p:sp>
      <p:sp>
        <p:nvSpPr>
          <p:cNvPr id="27" name="Shape 19"/>
          <p:cNvSpPr/>
          <p:nvPr/>
        </p:nvSpPr>
        <p:spPr>
          <a:xfrm>
            <a:off x="6821424" y="1417320"/>
            <a:ext cx="1499616" cy="2148840"/>
          </a:xfrm>
          <a:prstGeom prst="roundRect">
            <a:avLst>
              <a:gd name="adj" fmla="val 4878"/>
            </a:avLst>
          </a:prstGeom>
          <a:solidFill>
            <a:srgbClr val="E8EAFF"/>
          </a:solidFill>
          <a:ln w="12700">
            <a:solidFill>
              <a:srgbClr val="E8EAFF"/>
            </a:solidFill>
            <a:prstDash val="solid"/>
          </a:ln>
        </p:spPr>
      </p:sp>
      <p:sp>
        <p:nvSpPr>
          <p:cNvPr id="28" name="Shape 20"/>
          <p:cNvSpPr/>
          <p:nvPr/>
        </p:nvSpPr>
        <p:spPr>
          <a:xfrm>
            <a:off x="7251192" y="1600200"/>
            <a:ext cx="640080" cy="640080"/>
          </a:xfrm>
          <a:prstGeom prst="ellipse">
            <a:avLst/>
          </a:prstGeom>
          <a:solidFill>
            <a:srgbClr val="121F8F"/>
          </a:solidFill>
          <a:ln w="12700">
            <a:solidFill>
              <a:srgbClr val="121F8F"/>
            </a:solidFill>
            <a:prstDash val="solid"/>
          </a:ln>
        </p:spPr>
      </p:sp>
      <p:pic>
        <p:nvPicPr>
          <p:cNvPr id="2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17613" y="1766621"/>
            <a:ext cx="307238" cy="307238"/>
          </a:xfrm>
          <a:prstGeom prst="rect">
            <a:avLst/>
          </a:prstGeom>
        </p:spPr>
      </p:pic>
      <p:sp>
        <p:nvSpPr>
          <p:cNvPr id="30" name="Text 21"/>
          <p:cNvSpPr txBox="1"/>
          <p:nvPr/>
        </p:nvSpPr>
        <p:spPr>
          <a:xfrm>
            <a:off x="6867144" y="2377440"/>
            <a:ext cx="140817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21F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Artifacts</a:t>
            </a:r>
            <a:endParaRPr lang="en-US" sz="1300" dirty="0"/>
          </a:p>
        </p:txBody>
      </p:sp>
      <p:sp>
        <p:nvSpPr>
          <p:cNvPr id="31" name="Text 22"/>
          <p:cNvSpPr txBox="1"/>
          <p:nvPr/>
        </p:nvSpPr>
        <p:spPr>
          <a:xfrm>
            <a:off x="6931152" y="2715768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Pacotes (npm, NuGet, etc.)</a:t>
            </a:r>
            <a:endParaRPr lang="en-US" sz="1000" dirty="0"/>
          </a:p>
        </p:txBody>
      </p:sp>
      <p:sp>
        <p:nvSpPr>
          <p:cNvPr id="32" name="Shape 23"/>
          <p:cNvSpPr/>
          <p:nvPr/>
        </p:nvSpPr>
        <p:spPr>
          <a:xfrm>
            <a:off x="457200" y="3749040"/>
            <a:ext cx="1499616" cy="365760"/>
          </a:xfrm>
          <a:prstGeom prst="roundRect">
            <a:avLst>
              <a:gd name="adj" fmla="val 20000"/>
            </a:avLst>
          </a:prstGeom>
          <a:solidFill>
            <a:srgbClr val="C3DDB9"/>
          </a:solidFill>
          <a:ln w="12700">
            <a:solidFill>
              <a:srgbClr val="C3DDB9"/>
            </a:solidFill>
            <a:prstDash val="solid"/>
          </a:ln>
        </p:spPr>
      </p:sp>
      <p:sp>
        <p:nvSpPr>
          <p:cNvPr id="33" name="Text 24"/>
          <p:cNvSpPr txBox="1"/>
          <p:nvPr/>
        </p:nvSpPr>
        <p:spPr>
          <a:xfrm>
            <a:off x="457200" y="3749040"/>
            <a:ext cx="1499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21F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FOCO DE HOJE</a:t>
            </a:r>
            <a:endParaRPr lang="en-US" sz="1100" dirty="0"/>
          </a:p>
        </p:txBody>
      </p:sp>
      <p:sp>
        <p:nvSpPr>
          <p:cNvPr id="34" name="Text 25"/>
          <p:cNvSpPr txBox="1"/>
          <p:nvPr/>
        </p:nvSpPr>
        <p:spPr>
          <a:xfrm>
            <a:off x="2148840" y="3749040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demais serviços aparecem só na demonstração: a gestão acontece no Boards.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41080" y="0"/>
            <a:ext cx="502920" cy="5143500"/>
          </a:xfrm>
          <a:prstGeom prst="rect">
            <a:avLst/>
          </a:prstGeom>
          <a:solidFill>
            <a:srgbClr val="3333FF"/>
          </a:solidFill>
          <a:ln w="12700">
            <a:solidFill>
              <a:srgbClr val="3333FF"/>
            </a:solidFill>
            <a:prstDash val="solid"/>
          </a:ln>
        </p:spPr>
      </p:sp>
      <p:pic>
        <p:nvPicPr>
          <p:cNvPr id="3" name="Image 0" descr="/tmp/claude-1000/-media-arimateia-junior-Dados5-UNIFOR-DOCENTE-AZURE-DEVOPS/e87efb98-d81a-41ec-afb2-eea59369fc18/scratchpad/img/motivo_lil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0" y="109728"/>
            <a:ext cx="411480" cy="475488"/>
          </a:xfrm>
          <a:prstGeom prst="rect">
            <a:avLst/>
          </a:prstGeom>
        </p:spPr>
      </p:pic>
      <p:pic>
        <p:nvPicPr>
          <p:cNvPr id="4" name="Image 1" descr="/tmp/claude-1000/-media-arimateia-junior-Dados5-UNIFOR-DOCENTE-AZURE-DEVOPS/e87efb98-d81a-41ec-afb2-eea59369fc18/scratchpad/img/logo_posunifo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0" y="4846320"/>
            <a:ext cx="1097280" cy="256032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457200" y="274320"/>
            <a:ext cx="7955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1F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Boards: o que vamos usar hoje</a:t>
            </a:r>
            <a:endParaRPr lang="en-US" sz="2600" dirty="0"/>
          </a:p>
        </p:txBody>
      </p:sp>
      <p:sp>
        <p:nvSpPr>
          <p:cNvPr id="6" name="Shape 2"/>
          <p:cNvSpPr/>
          <p:nvPr/>
        </p:nvSpPr>
        <p:spPr>
          <a:xfrm>
            <a:off x="457200" y="1051560"/>
            <a:ext cx="548640" cy="548640"/>
          </a:xfrm>
          <a:prstGeom prst="ellipse">
            <a:avLst/>
          </a:prstGeom>
          <a:solidFill>
            <a:srgbClr val="3333FF"/>
          </a:solidFill>
          <a:ln w="12700">
            <a:solidFill>
              <a:srgbClr val="3333FF"/>
            </a:solidFill>
            <a:prstDash val="solid"/>
          </a:ln>
        </p:spPr>
      </p:sp>
      <p:pic>
        <p:nvPicPr>
          <p:cNvPr id="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9846" y="1194206"/>
            <a:ext cx="263347" cy="263347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1188720" y="105156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1F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</a:t>
            </a:r>
            <a:endParaRPr lang="en-US" sz="1500" dirty="0"/>
          </a:p>
        </p:txBody>
      </p:sp>
      <p:sp>
        <p:nvSpPr>
          <p:cNvPr id="9" name="Text 4"/>
          <p:cNvSpPr txBox="1"/>
          <p:nvPr/>
        </p:nvSpPr>
        <p:spPr>
          <a:xfrm>
            <a:off x="3200400" y="105156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Lista priorizada de tudo o que o projeto precisa entregar.</a:t>
            </a:r>
            <a:endParaRPr lang="en-US" sz="1300" dirty="0"/>
          </a:p>
        </p:txBody>
      </p:sp>
      <p:sp>
        <p:nvSpPr>
          <p:cNvPr id="10" name="Shape 5"/>
          <p:cNvSpPr/>
          <p:nvPr/>
        </p:nvSpPr>
        <p:spPr>
          <a:xfrm>
            <a:off x="457200" y="1764792"/>
            <a:ext cx="548640" cy="548640"/>
          </a:xfrm>
          <a:prstGeom prst="ellipse">
            <a:avLst/>
          </a:prstGeom>
          <a:solidFill>
            <a:srgbClr val="3333FF"/>
          </a:solidFill>
          <a:ln w="12700">
            <a:solidFill>
              <a:srgbClr val="3333FF"/>
            </a:solidFill>
            <a:prstDash val="solid"/>
          </a:ln>
        </p:spPr>
      </p:sp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9846" y="1907438"/>
            <a:ext cx="263347" cy="263347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1188720" y="1764792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1F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(Kanban)</a:t>
            </a:r>
            <a:endParaRPr lang="en-US" sz="1500" dirty="0"/>
          </a:p>
        </p:txBody>
      </p:sp>
      <p:sp>
        <p:nvSpPr>
          <p:cNvPr id="13" name="Text 7"/>
          <p:cNvSpPr txBox="1"/>
          <p:nvPr/>
        </p:nvSpPr>
        <p:spPr>
          <a:xfrm>
            <a:off x="3200400" y="1764792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Quadro visual: A fazer → Fazendo → Feito.</a:t>
            </a:r>
            <a:endParaRPr lang="en-US" sz="1300" dirty="0"/>
          </a:p>
        </p:txBody>
      </p:sp>
      <p:sp>
        <p:nvSpPr>
          <p:cNvPr id="14" name="Shape 8"/>
          <p:cNvSpPr/>
          <p:nvPr/>
        </p:nvSpPr>
        <p:spPr>
          <a:xfrm>
            <a:off x="457200" y="2478024"/>
            <a:ext cx="548640" cy="548640"/>
          </a:xfrm>
          <a:prstGeom prst="ellipse">
            <a:avLst/>
          </a:prstGeom>
          <a:solidFill>
            <a:srgbClr val="3333FF"/>
          </a:solidFill>
          <a:ln w="12700">
            <a:solidFill>
              <a:srgbClr val="3333FF"/>
            </a:solidFill>
            <a:prstDash val="solid"/>
          </a:ln>
        </p:spPr>
      </p:sp>
      <p:pic>
        <p:nvPicPr>
          <p:cNvPr id="1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9846" y="2620670"/>
            <a:ext cx="263347" cy="263347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1188720" y="2478024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1F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Sprints</a:t>
            </a:r>
            <a:endParaRPr lang="en-US" sz="1500" dirty="0"/>
          </a:p>
        </p:txBody>
      </p:sp>
      <p:sp>
        <p:nvSpPr>
          <p:cNvPr id="17" name="Text 10"/>
          <p:cNvSpPr txBox="1"/>
          <p:nvPr/>
        </p:nvSpPr>
        <p:spPr>
          <a:xfrm>
            <a:off x="3200400" y="2478024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Ciclos curtos (ex.: 2 semanas) com meta e capacidade.</a:t>
            </a:r>
            <a:endParaRPr lang="en-US" sz="1300" dirty="0"/>
          </a:p>
        </p:txBody>
      </p:sp>
      <p:sp>
        <p:nvSpPr>
          <p:cNvPr id="18" name="Shape 11"/>
          <p:cNvSpPr/>
          <p:nvPr/>
        </p:nvSpPr>
        <p:spPr>
          <a:xfrm>
            <a:off x="457200" y="3191256"/>
            <a:ext cx="548640" cy="548640"/>
          </a:xfrm>
          <a:prstGeom prst="ellipse">
            <a:avLst/>
          </a:prstGeom>
          <a:solidFill>
            <a:srgbClr val="3333FF"/>
          </a:solidFill>
          <a:ln w="12700">
            <a:solidFill>
              <a:srgbClr val="3333FF"/>
            </a:solidFill>
            <a:prstDash val="solid"/>
          </a:ln>
        </p:spPr>
      </p:sp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9846" y="3333902"/>
            <a:ext cx="263347" cy="263347"/>
          </a:xfrm>
          <a:prstGeom prst="rect">
            <a:avLst/>
          </a:prstGeom>
        </p:spPr>
      </p:pic>
      <p:sp>
        <p:nvSpPr>
          <p:cNvPr id="20" name="Text 12"/>
          <p:cNvSpPr txBox="1"/>
          <p:nvPr/>
        </p:nvSpPr>
        <p:spPr>
          <a:xfrm>
            <a:off x="1188720" y="3191256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1F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Consultas (Queries)</a:t>
            </a:r>
            <a:endParaRPr lang="en-US" sz="1500" dirty="0"/>
          </a:p>
        </p:txBody>
      </p:sp>
      <p:sp>
        <p:nvSpPr>
          <p:cNvPr id="21" name="Text 13"/>
          <p:cNvSpPr txBox="1"/>
          <p:nvPr/>
        </p:nvSpPr>
        <p:spPr>
          <a:xfrm>
            <a:off x="3200400" y="3191256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Filtros salvos: riscos abertos, itens atrasados...</a:t>
            </a:r>
            <a:endParaRPr lang="en-US" sz="1300" dirty="0"/>
          </a:p>
        </p:txBody>
      </p:sp>
      <p:sp>
        <p:nvSpPr>
          <p:cNvPr id="22" name="Shape 14"/>
          <p:cNvSpPr/>
          <p:nvPr/>
        </p:nvSpPr>
        <p:spPr>
          <a:xfrm>
            <a:off x="457200" y="3904488"/>
            <a:ext cx="548640" cy="548640"/>
          </a:xfrm>
          <a:prstGeom prst="ellipse">
            <a:avLst/>
          </a:prstGeom>
          <a:solidFill>
            <a:srgbClr val="3333FF"/>
          </a:solidFill>
          <a:ln w="12700">
            <a:solidFill>
              <a:srgbClr val="3333FF"/>
            </a:solidFill>
            <a:prstDash val="solid"/>
          </a:ln>
        </p:spPr>
      </p:sp>
      <p:pic>
        <p:nvPicPr>
          <p:cNvPr id="23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9846" y="4047134"/>
            <a:ext cx="263347" cy="263347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188720" y="3904488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1F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Dashboards</a:t>
            </a:r>
            <a:endParaRPr lang="en-US" sz="1500" dirty="0"/>
          </a:p>
        </p:txBody>
      </p:sp>
      <p:sp>
        <p:nvSpPr>
          <p:cNvPr id="25" name="Text 16"/>
          <p:cNvSpPr txBox="1"/>
          <p:nvPr/>
        </p:nvSpPr>
        <p:spPr>
          <a:xfrm>
            <a:off x="3200400" y="3904488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Painel com progresso, burndown e indicadores.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41080" y="0"/>
            <a:ext cx="502920" cy="5143500"/>
          </a:xfrm>
          <a:prstGeom prst="rect">
            <a:avLst/>
          </a:prstGeom>
          <a:solidFill>
            <a:srgbClr val="3333FF"/>
          </a:solidFill>
          <a:ln w="12700">
            <a:solidFill>
              <a:srgbClr val="3333FF"/>
            </a:solidFill>
            <a:prstDash val="solid"/>
          </a:ln>
        </p:spPr>
      </p:sp>
      <p:pic>
        <p:nvPicPr>
          <p:cNvPr id="3" name="Image 0" descr="/tmp/claude-1000/-media-arimateia-junior-Dados5-UNIFOR-DOCENTE-AZURE-DEVOPS/e87efb98-d81a-41ec-afb2-eea59369fc18/scratchpad/img/motivo_lil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0" y="109728"/>
            <a:ext cx="411480" cy="475488"/>
          </a:xfrm>
          <a:prstGeom prst="rect">
            <a:avLst/>
          </a:prstGeom>
        </p:spPr>
      </p:pic>
      <p:pic>
        <p:nvPicPr>
          <p:cNvPr id="4" name="Image 1" descr="/tmp/claude-1000/-media-arimateia-junior-Dados5-UNIFOR-DOCENTE-AZURE-DEVOPS/e87efb98-d81a-41ec-afb2-eea59369fc18/scratchpad/img/logo_posunifo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0" y="4846320"/>
            <a:ext cx="1097280" cy="256032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457200" y="274320"/>
            <a:ext cx="7955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1F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Glossário rápido</a:t>
            </a:r>
            <a:endParaRPr lang="en-US" sz="2600" dirty="0"/>
          </a:p>
        </p:txBody>
      </p:sp>
      <p:sp>
        <p:nvSpPr>
          <p:cNvPr id="6" name="Text 2"/>
          <p:cNvSpPr txBox="1"/>
          <p:nvPr/>
        </p:nvSpPr>
        <p:spPr>
          <a:xfrm>
            <a:off x="457200" y="822960"/>
            <a:ext cx="7955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vocabulário do Azure Boards traduzido para gestão de projetos</a:t>
            </a:r>
            <a:endParaRPr lang="en-US" sz="13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786384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3200400"/>
                <a:gridCol w="292608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Termo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F8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Significado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F8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Exemplo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F8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333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Epic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A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Grande objetivo ou iniciativa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A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i="1" dirty="0">
                          <a:solidFill>
                            <a:srgbClr val="5B64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Lançar o app de delivery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A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333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Feature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Entrega relevante que compõe o Epic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i="1" dirty="0">
                          <a:solidFill>
                            <a:srgbClr val="5B64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Programa de parceiros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333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User Story / PBI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A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Necessidade de um usuário, com valor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A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i="1" dirty="0">
                          <a:solidFill>
                            <a:srgbClr val="5B64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Como cliente, quero acompanhar meu pedido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A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333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Task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Atividade concreta, com responsável e horas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i="1" dirty="0">
                          <a:solidFill>
                            <a:srgbClr val="5B64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Treinar equipe da loja 1 (4h)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333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Backlog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A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Lista priorizada de itens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A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i="1" dirty="0">
                          <a:solidFill>
                            <a:srgbClr val="5B64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Ordem = prioridade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A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333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Sprint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Ciclo curto com meta e capacidade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i="1" dirty="0">
                          <a:solidFill>
                            <a:srgbClr val="5B64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Sprint 1: 2 semanas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333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Critério de aceite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A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Como saberemos que está pronto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A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i="1" dirty="0">
                          <a:solidFill>
                            <a:srgbClr val="5B64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Piloto com 50 pedidos sem erro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A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41080" y="0"/>
            <a:ext cx="502920" cy="5143500"/>
          </a:xfrm>
          <a:prstGeom prst="rect">
            <a:avLst/>
          </a:prstGeom>
          <a:solidFill>
            <a:srgbClr val="3333FF"/>
          </a:solidFill>
          <a:ln w="12700">
            <a:solidFill>
              <a:srgbClr val="3333FF"/>
            </a:solidFill>
            <a:prstDash val="solid"/>
          </a:ln>
        </p:spPr>
      </p:sp>
      <p:pic>
        <p:nvPicPr>
          <p:cNvPr id="3" name="Image 0" descr="/tmp/claude-1000/-media-arimateia-junior-Dados5-UNIFOR-DOCENTE-AZURE-DEVOPS/e87efb98-d81a-41ec-afb2-eea59369fc18/scratchpad/img/motivo_lil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0" y="109728"/>
            <a:ext cx="411480" cy="475488"/>
          </a:xfrm>
          <a:prstGeom prst="rect">
            <a:avLst/>
          </a:prstGeom>
        </p:spPr>
      </p:pic>
      <p:pic>
        <p:nvPicPr>
          <p:cNvPr id="4" name="Image 1" descr="/tmp/claude-1000/-media-arimateia-junior-Dados5-UNIFOR-DOCENTE-AZURE-DEVOPS/e87efb98-d81a-41ec-afb2-eea59369fc18/scratchpad/img/logo_posunifo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0" y="4846320"/>
            <a:ext cx="1097280" cy="256032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457200" y="274320"/>
            <a:ext cx="7955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1F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EAP ao Backlog</a:t>
            </a:r>
            <a:endParaRPr lang="en-US" sz="2600" dirty="0"/>
          </a:p>
        </p:txBody>
      </p:sp>
      <p:sp>
        <p:nvSpPr>
          <p:cNvPr id="6" name="Text 2"/>
          <p:cNvSpPr txBox="1"/>
          <p:nvPr/>
        </p:nvSpPr>
        <p:spPr>
          <a:xfrm>
            <a:off x="457200" y="822960"/>
            <a:ext cx="7955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Você já conhece essa estrutura: é a decomposição do escopo do PMBOK</a:t>
            </a:r>
            <a:endParaRPr lang="en-US" sz="1300" dirty="0"/>
          </a:p>
        </p:txBody>
      </p:sp>
      <p:sp>
        <p:nvSpPr>
          <p:cNvPr id="7" name="Text 3"/>
          <p:cNvSpPr txBox="1"/>
          <p:nvPr/>
        </p:nvSpPr>
        <p:spPr>
          <a:xfrm>
            <a:off x="457200" y="118872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EAP (PMBOK)</a:t>
            </a:r>
            <a:endParaRPr lang="en-US" sz="1400" dirty="0"/>
          </a:p>
        </p:txBody>
      </p:sp>
      <p:sp>
        <p:nvSpPr>
          <p:cNvPr id="8" name="Text 4"/>
          <p:cNvSpPr txBox="1"/>
          <p:nvPr/>
        </p:nvSpPr>
        <p:spPr>
          <a:xfrm>
            <a:off x="4937760" y="118872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Boards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457200" y="1600200"/>
            <a:ext cx="3017520" cy="502920"/>
          </a:xfrm>
          <a:prstGeom prst="roundRect">
            <a:avLst>
              <a:gd name="adj" fmla="val 14545"/>
            </a:avLst>
          </a:prstGeom>
          <a:solidFill>
            <a:srgbClr val="E8EAFF"/>
          </a:solidFill>
          <a:ln w="12700">
            <a:solidFill>
              <a:srgbClr val="E8EAFF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160020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1F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Projeto / Programa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3794760" y="1719072"/>
            <a:ext cx="822960" cy="274320"/>
          </a:xfrm>
          <a:prstGeom prst="rightArrow">
            <a:avLst/>
          </a:prstGeom>
          <a:solidFill>
            <a:srgbClr val="C3DDB9"/>
          </a:solidFill>
          <a:ln w="12700">
            <a:solidFill>
              <a:srgbClr val="C3DDB9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4937760" y="1600200"/>
            <a:ext cx="3383280" cy="502920"/>
          </a:xfrm>
          <a:prstGeom prst="roundRect">
            <a:avLst>
              <a:gd name="adj" fmla="val 14545"/>
            </a:avLst>
          </a:prstGeom>
          <a:solidFill>
            <a:srgbClr val="121F8F"/>
          </a:solidFill>
          <a:ln w="12700">
            <a:solidFill>
              <a:srgbClr val="121F8F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5029200" y="160020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Epic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21792" y="2258568"/>
            <a:ext cx="2852928" cy="502920"/>
          </a:xfrm>
          <a:prstGeom prst="roundRect">
            <a:avLst>
              <a:gd name="adj" fmla="val 14545"/>
            </a:avLst>
          </a:prstGeom>
          <a:solidFill>
            <a:srgbClr val="E8EAFF"/>
          </a:solidFill>
          <a:ln w="12700">
            <a:solidFill>
              <a:srgbClr val="E8EAFF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713232" y="2258568"/>
            <a:ext cx="26700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1F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Entrega principal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3794760" y="2377440"/>
            <a:ext cx="822960" cy="274320"/>
          </a:xfrm>
          <a:prstGeom prst="rightArrow">
            <a:avLst/>
          </a:prstGeom>
          <a:solidFill>
            <a:srgbClr val="C3DDB9"/>
          </a:solidFill>
          <a:ln w="12700">
            <a:solidFill>
              <a:srgbClr val="C3DDB9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5102352" y="2258568"/>
            <a:ext cx="3218688" cy="502920"/>
          </a:xfrm>
          <a:prstGeom prst="roundRect">
            <a:avLst>
              <a:gd name="adj" fmla="val 14545"/>
            </a:avLst>
          </a:prstGeom>
          <a:solidFill>
            <a:srgbClr val="3333FF"/>
          </a:solidFill>
          <a:ln w="12700">
            <a:solidFill>
              <a:srgbClr val="3333FF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5193792" y="2258568"/>
            <a:ext cx="30358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</a:t>
            </a:r>
            <a:endParaRPr lang="en-US" sz="1300" dirty="0"/>
          </a:p>
        </p:txBody>
      </p:sp>
      <p:sp>
        <p:nvSpPr>
          <p:cNvPr id="19" name="Shape 15"/>
          <p:cNvSpPr/>
          <p:nvPr/>
        </p:nvSpPr>
        <p:spPr>
          <a:xfrm>
            <a:off x="786384" y="2916936"/>
            <a:ext cx="2688336" cy="502920"/>
          </a:xfrm>
          <a:prstGeom prst="roundRect">
            <a:avLst>
              <a:gd name="adj" fmla="val 14545"/>
            </a:avLst>
          </a:prstGeom>
          <a:solidFill>
            <a:srgbClr val="E8EAFF"/>
          </a:solidFill>
          <a:ln w="12700">
            <a:solidFill>
              <a:srgbClr val="E8EAFF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877824" y="2916936"/>
            <a:ext cx="25054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1F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Pacote de trabalho</a:t>
            </a:r>
            <a:endParaRPr lang="en-US" sz="1300" dirty="0"/>
          </a:p>
        </p:txBody>
      </p:sp>
      <p:sp>
        <p:nvSpPr>
          <p:cNvPr id="21" name="Shape 17"/>
          <p:cNvSpPr/>
          <p:nvPr/>
        </p:nvSpPr>
        <p:spPr>
          <a:xfrm>
            <a:off x="3794760" y="3035808"/>
            <a:ext cx="822960" cy="274320"/>
          </a:xfrm>
          <a:prstGeom prst="rightArrow">
            <a:avLst/>
          </a:prstGeom>
          <a:solidFill>
            <a:srgbClr val="C3DDB9"/>
          </a:solidFill>
          <a:ln w="12700">
            <a:solidFill>
              <a:srgbClr val="C3DDB9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5266944" y="2916936"/>
            <a:ext cx="3054096" cy="502920"/>
          </a:xfrm>
          <a:prstGeom prst="roundRect">
            <a:avLst>
              <a:gd name="adj" fmla="val 14545"/>
            </a:avLst>
          </a:prstGeom>
          <a:solidFill>
            <a:srgbClr val="5B6BFF"/>
          </a:solidFill>
          <a:ln w="12700">
            <a:solidFill>
              <a:srgbClr val="5B6BFF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5358384" y="2916936"/>
            <a:ext cx="28712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Story · PBI · Requirement · Issue</a:t>
            </a:r>
            <a:endParaRPr lang="en-US" sz="1300" dirty="0"/>
          </a:p>
        </p:txBody>
      </p:sp>
      <p:sp>
        <p:nvSpPr>
          <p:cNvPr id="24" name="Shape 20"/>
          <p:cNvSpPr/>
          <p:nvPr/>
        </p:nvSpPr>
        <p:spPr>
          <a:xfrm>
            <a:off x="950976" y="3575304"/>
            <a:ext cx="2523744" cy="502920"/>
          </a:xfrm>
          <a:prstGeom prst="roundRect">
            <a:avLst>
              <a:gd name="adj" fmla="val 14545"/>
            </a:avLst>
          </a:prstGeom>
          <a:solidFill>
            <a:srgbClr val="E8EAFF"/>
          </a:solidFill>
          <a:ln w="12700">
            <a:solidFill>
              <a:srgbClr val="E8EAFF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1042416" y="3575304"/>
            <a:ext cx="23408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1F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Atividade</a:t>
            </a:r>
            <a:endParaRPr lang="en-US" sz="1300" dirty="0"/>
          </a:p>
        </p:txBody>
      </p:sp>
      <p:sp>
        <p:nvSpPr>
          <p:cNvPr id="26" name="Shape 22"/>
          <p:cNvSpPr/>
          <p:nvPr/>
        </p:nvSpPr>
        <p:spPr>
          <a:xfrm>
            <a:off x="3794760" y="3694176"/>
            <a:ext cx="822960" cy="274320"/>
          </a:xfrm>
          <a:prstGeom prst="rightArrow">
            <a:avLst/>
          </a:prstGeom>
          <a:solidFill>
            <a:srgbClr val="C3DDB9"/>
          </a:solidFill>
          <a:ln w="12700">
            <a:solidFill>
              <a:srgbClr val="C3DDB9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5431536" y="3575304"/>
            <a:ext cx="2889504" cy="502920"/>
          </a:xfrm>
          <a:prstGeom prst="roundRect">
            <a:avLst>
              <a:gd name="adj" fmla="val 14545"/>
            </a:avLst>
          </a:prstGeom>
          <a:solidFill>
            <a:srgbClr val="8C97FF"/>
          </a:solidFill>
          <a:ln w="12700">
            <a:solidFill>
              <a:srgbClr val="8C97FF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5522976" y="3575304"/>
            <a:ext cx="27066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</a:t>
            </a:r>
            <a:endParaRPr lang="en-US" sz="1300" dirty="0"/>
          </a:p>
        </p:txBody>
      </p:sp>
      <p:sp>
        <p:nvSpPr>
          <p:cNvPr id="29" name="Text 25"/>
          <p:cNvSpPr txBox="1"/>
          <p:nvPr/>
        </p:nvSpPr>
        <p:spPr>
          <a:xfrm>
            <a:off x="457200" y="429768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21F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Diferença-chave: no Boards a EAP vira viva, com responsável, estimativa, estado e histórico em cada item.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41080" y="0"/>
            <a:ext cx="502920" cy="5143500"/>
          </a:xfrm>
          <a:prstGeom prst="rect">
            <a:avLst/>
          </a:prstGeom>
          <a:solidFill>
            <a:srgbClr val="3333FF"/>
          </a:solidFill>
          <a:ln w="12700">
            <a:solidFill>
              <a:srgbClr val="3333FF"/>
            </a:solidFill>
            <a:prstDash val="solid"/>
          </a:ln>
        </p:spPr>
      </p:sp>
      <p:pic>
        <p:nvPicPr>
          <p:cNvPr id="3" name="Image 0" descr="/tmp/claude-1000/-media-arimateia-junior-Dados5-UNIFOR-DOCENTE-AZURE-DEVOPS/e87efb98-d81a-41ec-afb2-eea59369fc18/scratchpad/img/motivo_lil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0" y="109728"/>
            <a:ext cx="411480" cy="475488"/>
          </a:xfrm>
          <a:prstGeom prst="rect">
            <a:avLst/>
          </a:prstGeom>
        </p:spPr>
      </p:pic>
      <p:pic>
        <p:nvPicPr>
          <p:cNvPr id="4" name="Image 1" descr="/tmp/claude-1000/-media-arimateia-junior-Dados5-UNIFOR-DOCENTE-AZURE-DEVOPS/e87efb98-d81a-41ec-afb2-eea59369fc18/scratchpad/img/logo_posunifo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0" y="4846320"/>
            <a:ext cx="1097280" cy="256032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457200" y="274320"/>
            <a:ext cx="7955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1F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4 processos do Azure DevOps</a:t>
            </a:r>
            <a:endParaRPr lang="en-US" sz="2600" dirty="0"/>
          </a:p>
        </p:txBody>
      </p:sp>
      <p:sp>
        <p:nvSpPr>
          <p:cNvPr id="6" name="Text 2"/>
          <p:cNvSpPr txBox="1"/>
          <p:nvPr/>
        </p:nvSpPr>
        <p:spPr>
          <a:xfrm>
            <a:off x="457200" y="822960"/>
            <a:ext cx="7955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processo é escolhido ao criar o projeto e define a hierarquia dos itens</a:t>
            </a:r>
            <a:endParaRPr lang="en-US" sz="1300" dirty="0"/>
          </a:p>
        </p:txBody>
      </p:sp>
      <p:sp>
        <p:nvSpPr>
          <p:cNvPr id="7" name="Shape 3"/>
          <p:cNvSpPr/>
          <p:nvPr/>
        </p:nvSpPr>
        <p:spPr>
          <a:xfrm>
            <a:off x="457200" y="1280160"/>
            <a:ext cx="1874520" cy="3429000"/>
          </a:xfrm>
          <a:prstGeom prst="roundRect">
            <a:avLst>
              <a:gd name="adj" fmla="val 3902"/>
            </a:avLst>
          </a:prstGeom>
          <a:solidFill>
            <a:srgbClr val="E8EAFF"/>
          </a:solidFill>
          <a:ln w="12700">
            <a:solidFill>
              <a:srgbClr val="E8EAFF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457200" y="137160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21F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Basic</a:t>
            </a:r>
            <a:endParaRPr lang="en-US" sz="1800" dirty="0"/>
          </a:p>
        </p:txBody>
      </p:sp>
      <p:sp>
        <p:nvSpPr>
          <p:cNvPr id="9" name="Shape 5"/>
          <p:cNvSpPr/>
          <p:nvPr/>
        </p:nvSpPr>
        <p:spPr>
          <a:xfrm>
            <a:off x="594360" y="1810512"/>
            <a:ext cx="1600200" cy="310896"/>
          </a:xfrm>
          <a:prstGeom prst="roundRect">
            <a:avLst>
              <a:gd name="adj" fmla="val 14706"/>
            </a:avLst>
          </a:prstGeom>
          <a:solidFill>
            <a:srgbClr val="3333FF"/>
          </a:solidFill>
          <a:ln w="12700">
            <a:solidFill>
              <a:srgbClr val="3333FF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94360" y="1810512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Epic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667512" y="2194560"/>
            <a:ext cx="1527048" cy="310896"/>
          </a:xfrm>
          <a:prstGeom prst="roundRect">
            <a:avLst>
              <a:gd name="adj" fmla="val 14706"/>
            </a:avLst>
          </a:prstGeom>
          <a:solidFill>
            <a:srgbClr val="3333FF"/>
          </a:solidFill>
          <a:ln w="12700">
            <a:solidFill>
              <a:srgbClr val="3333FF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667512" y="2194560"/>
            <a:ext cx="1527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740664" y="2578608"/>
            <a:ext cx="1453896" cy="310896"/>
          </a:xfrm>
          <a:prstGeom prst="roundRect">
            <a:avLst>
              <a:gd name="adj" fmla="val 14706"/>
            </a:avLst>
          </a:prstGeom>
          <a:solidFill>
            <a:srgbClr val="8C97FF"/>
          </a:solidFill>
          <a:ln w="12700">
            <a:solidFill>
              <a:srgbClr val="3333FF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740664" y="2578608"/>
            <a:ext cx="1453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</a:t>
            </a:r>
            <a:endParaRPr lang="en-US" sz="1100" dirty="0"/>
          </a:p>
        </p:txBody>
      </p:sp>
      <p:sp>
        <p:nvSpPr>
          <p:cNvPr id="15" name="Text 11"/>
          <p:cNvSpPr txBox="1"/>
          <p:nvPr/>
        </p:nvSpPr>
        <p:spPr>
          <a:xfrm>
            <a:off x="566928" y="3429000"/>
            <a:ext cx="16550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Simples e direto. Poucos estados: To Do, Doing, Done.</a:t>
            </a:r>
            <a:endParaRPr lang="en-US" sz="1000" dirty="0"/>
          </a:p>
        </p:txBody>
      </p:sp>
      <p:sp>
        <p:nvSpPr>
          <p:cNvPr id="16" name="Shape 12"/>
          <p:cNvSpPr/>
          <p:nvPr/>
        </p:nvSpPr>
        <p:spPr>
          <a:xfrm>
            <a:off x="2450592" y="1280160"/>
            <a:ext cx="1874520" cy="3429000"/>
          </a:xfrm>
          <a:prstGeom prst="roundRect">
            <a:avLst>
              <a:gd name="adj" fmla="val 3902"/>
            </a:avLst>
          </a:prstGeom>
          <a:solidFill>
            <a:srgbClr val="E8EAFF"/>
          </a:solidFill>
          <a:ln w="12700">
            <a:solidFill>
              <a:srgbClr val="E8EAFF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2450592" y="137160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21F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Agile</a:t>
            </a:r>
            <a:endParaRPr lang="en-US" sz="1800" dirty="0"/>
          </a:p>
        </p:txBody>
      </p:sp>
      <p:sp>
        <p:nvSpPr>
          <p:cNvPr id="18" name="Shape 14"/>
          <p:cNvSpPr/>
          <p:nvPr/>
        </p:nvSpPr>
        <p:spPr>
          <a:xfrm>
            <a:off x="2587752" y="1810512"/>
            <a:ext cx="1600200" cy="310896"/>
          </a:xfrm>
          <a:prstGeom prst="roundRect">
            <a:avLst>
              <a:gd name="adj" fmla="val 14706"/>
            </a:avLst>
          </a:prstGeom>
          <a:solidFill>
            <a:srgbClr val="3333FF"/>
          </a:solidFill>
          <a:ln w="12700">
            <a:solidFill>
              <a:srgbClr val="3333FF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2587752" y="1810512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Epic</a:t>
            </a:r>
            <a:endParaRPr lang="en-US" sz="1100" dirty="0"/>
          </a:p>
        </p:txBody>
      </p:sp>
      <p:sp>
        <p:nvSpPr>
          <p:cNvPr id="20" name="Shape 16"/>
          <p:cNvSpPr/>
          <p:nvPr/>
        </p:nvSpPr>
        <p:spPr>
          <a:xfrm>
            <a:off x="2660904" y="2194560"/>
            <a:ext cx="1527048" cy="310896"/>
          </a:xfrm>
          <a:prstGeom prst="roundRect">
            <a:avLst>
              <a:gd name="adj" fmla="val 14706"/>
            </a:avLst>
          </a:prstGeom>
          <a:solidFill>
            <a:srgbClr val="3333FF"/>
          </a:solidFill>
          <a:ln w="12700">
            <a:solidFill>
              <a:srgbClr val="3333FF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2660904" y="2194560"/>
            <a:ext cx="1527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</a:t>
            </a:r>
            <a:endParaRPr lang="en-US" sz="1100" dirty="0"/>
          </a:p>
        </p:txBody>
      </p:sp>
      <p:sp>
        <p:nvSpPr>
          <p:cNvPr id="22" name="Shape 18"/>
          <p:cNvSpPr/>
          <p:nvPr/>
        </p:nvSpPr>
        <p:spPr>
          <a:xfrm>
            <a:off x="2734056" y="2578608"/>
            <a:ext cx="1453896" cy="310896"/>
          </a:xfrm>
          <a:prstGeom prst="roundRect">
            <a:avLst>
              <a:gd name="adj" fmla="val 14706"/>
            </a:avLst>
          </a:prstGeom>
          <a:solidFill>
            <a:srgbClr val="3333FF"/>
          </a:solidFill>
          <a:ln w="12700">
            <a:solidFill>
              <a:srgbClr val="3333FF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2734056" y="2578608"/>
            <a:ext cx="1453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Story</a:t>
            </a:r>
            <a:endParaRPr lang="en-US" sz="1100" dirty="0"/>
          </a:p>
        </p:txBody>
      </p:sp>
      <p:sp>
        <p:nvSpPr>
          <p:cNvPr id="24" name="Shape 20"/>
          <p:cNvSpPr/>
          <p:nvPr/>
        </p:nvSpPr>
        <p:spPr>
          <a:xfrm>
            <a:off x="2807208" y="2962656"/>
            <a:ext cx="1380744" cy="310896"/>
          </a:xfrm>
          <a:prstGeom prst="roundRect">
            <a:avLst>
              <a:gd name="adj" fmla="val 14706"/>
            </a:avLst>
          </a:prstGeom>
          <a:solidFill>
            <a:srgbClr val="8C97FF"/>
          </a:solidFill>
          <a:ln w="12700">
            <a:solidFill>
              <a:srgbClr val="3333FF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2807208" y="2962656"/>
            <a:ext cx="13807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</a:t>
            </a:r>
            <a:endParaRPr lang="en-US" sz="1100" dirty="0"/>
          </a:p>
        </p:txBody>
      </p:sp>
      <p:sp>
        <p:nvSpPr>
          <p:cNvPr id="26" name="Text 22"/>
          <p:cNvSpPr txBox="1"/>
          <p:nvPr/>
        </p:nvSpPr>
        <p:spPr>
          <a:xfrm>
            <a:off x="2560320" y="3429000"/>
            <a:ext cx="16550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Flexível, orientado a produto. Estimativa em Story Points.</a:t>
            </a:r>
            <a:endParaRPr lang="en-US" sz="1000" dirty="0"/>
          </a:p>
        </p:txBody>
      </p:sp>
      <p:sp>
        <p:nvSpPr>
          <p:cNvPr id="27" name="Shape 23"/>
          <p:cNvSpPr/>
          <p:nvPr/>
        </p:nvSpPr>
        <p:spPr>
          <a:xfrm>
            <a:off x="4443984" y="1280160"/>
            <a:ext cx="1874520" cy="3429000"/>
          </a:xfrm>
          <a:prstGeom prst="roundRect">
            <a:avLst>
              <a:gd name="adj" fmla="val 3902"/>
            </a:avLst>
          </a:prstGeom>
          <a:solidFill>
            <a:srgbClr val="E8EAFF"/>
          </a:solidFill>
          <a:ln w="12700">
            <a:solidFill>
              <a:srgbClr val="E8EAFF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4443984" y="137160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21F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Scrum</a:t>
            </a:r>
            <a:endParaRPr lang="en-US" sz="1800" dirty="0"/>
          </a:p>
        </p:txBody>
      </p:sp>
      <p:sp>
        <p:nvSpPr>
          <p:cNvPr id="29" name="Shape 25"/>
          <p:cNvSpPr/>
          <p:nvPr/>
        </p:nvSpPr>
        <p:spPr>
          <a:xfrm>
            <a:off x="4581144" y="1810512"/>
            <a:ext cx="1600200" cy="310896"/>
          </a:xfrm>
          <a:prstGeom prst="roundRect">
            <a:avLst>
              <a:gd name="adj" fmla="val 14706"/>
            </a:avLst>
          </a:prstGeom>
          <a:solidFill>
            <a:srgbClr val="3333FF"/>
          </a:solidFill>
          <a:ln w="12700">
            <a:solidFill>
              <a:srgbClr val="3333FF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4581144" y="1810512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Epic</a:t>
            </a:r>
            <a:endParaRPr lang="en-US" sz="1100" dirty="0"/>
          </a:p>
        </p:txBody>
      </p:sp>
      <p:sp>
        <p:nvSpPr>
          <p:cNvPr id="31" name="Shape 27"/>
          <p:cNvSpPr/>
          <p:nvPr/>
        </p:nvSpPr>
        <p:spPr>
          <a:xfrm>
            <a:off x="4654296" y="2194560"/>
            <a:ext cx="1527048" cy="310896"/>
          </a:xfrm>
          <a:prstGeom prst="roundRect">
            <a:avLst>
              <a:gd name="adj" fmla="val 14706"/>
            </a:avLst>
          </a:prstGeom>
          <a:solidFill>
            <a:srgbClr val="3333FF"/>
          </a:solidFill>
          <a:ln w="12700">
            <a:solidFill>
              <a:srgbClr val="3333FF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4654296" y="2194560"/>
            <a:ext cx="1527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</a:t>
            </a:r>
            <a:endParaRPr lang="en-US" sz="1100" dirty="0"/>
          </a:p>
        </p:txBody>
      </p:sp>
      <p:sp>
        <p:nvSpPr>
          <p:cNvPr id="33" name="Shape 29"/>
          <p:cNvSpPr/>
          <p:nvPr/>
        </p:nvSpPr>
        <p:spPr>
          <a:xfrm>
            <a:off x="4727448" y="2578608"/>
            <a:ext cx="1453896" cy="310896"/>
          </a:xfrm>
          <a:prstGeom prst="roundRect">
            <a:avLst>
              <a:gd name="adj" fmla="val 14706"/>
            </a:avLst>
          </a:prstGeom>
          <a:solidFill>
            <a:srgbClr val="3333FF"/>
          </a:solidFill>
          <a:ln w="12700">
            <a:solidFill>
              <a:srgbClr val="3333FF"/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4727448" y="2578608"/>
            <a:ext cx="1453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PBI</a:t>
            </a:r>
            <a:endParaRPr lang="en-US" sz="1100" dirty="0"/>
          </a:p>
        </p:txBody>
      </p:sp>
      <p:sp>
        <p:nvSpPr>
          <p:cNvPr id="35" name="Shape 31"/>
          <p:cNvSpPr/>
          <p:nvPr/>
        </p:nvSpPr>
        <p:spPr>
          <a:xfrm>
            <a:off x="4800600" y="2962656"/>
            <a:ext cx="1380744" cy="310896"/>
          </a:xfrm>
          <a:prstGeom prst="roundRect">
            <a:avLst>
              <a:gd name="adj" fmla="val 14706"/>
            </a:avLst>
          </a:prstGeom>
          <a:solidFill>
            <a:srgbClr val="8C97FF"/>
          </a:solidFill>
          <a:ln w="12700">
            <a:solidFill>
              <a:srgbClr val="3333FF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4800600" y="2962656"/>
            <a:ext cx="13807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</a:t>
            </a:r>
            <a:endParaRPr lang="en-US" sz="1100" dirty="0"/>
          </a:p>
        </p:txBody>
      </p:sp>
      <p:sp>
        <p:nvSpPr>
          <p:cNvPr id="37" name="Text 33"/>
          <p:cNvSpPr txBox="1"/>
          <p:nvPr/>
        </p:nvSpPr>
        <p:spPr>
          <a:xfrm>
            <a:off x="4553712" y="3429000"/>
            <a:ext cx="16550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Estruturado em Sprints. Estimativa em Effort; foco em burndown.</a:t>
            </a:r>
            <a:endParaRPr lang="en-US" sz="1000" dirty="0"/>
          </a:p>
        </p:txBody>
      </p:sp>
      <p:sp>
        <p:nvSpPr>
          <p:cNvPr id="38" name="Shape 34"/>
          <p:cNvSpPr/>
          <p:nvPr/>
        </p:nvSpPr>
        <p:spPr>
          <a:xfrm>
            <a:off x="6437376" y="1280160"/>
            <a:ext cx="1874520" cy="3429000"/>
          </a:xfrm>
          <a:prstGeom prst="roundRect">
            <a:avLst>
              <a:gd name="adj" fmla="val 3902"/>
            </a:avLst>
          </a:prstGeom>
          <a:solidFill>
            <a:srgbClr val="E8EAFF"/>
          </a:solidFill>
          <a:ln w="12700">
            <a:solidFill>
              <a:srgbClr val="E8EAFF"/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6437376" y="137160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21F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CMMI</a:t>
            </a:r>
            <a:endParaRPr lang="en-US" sz="1800" dirty="0"/>
          </a:p>
        </p:txBody>
      </p:sp>
      <p:sp>
        <p:nvSpPr>
          <p:cNvPr id="40" name="Shape 36"/>
          <p:cNvSpPr/>
          <p:nvPr/>
        </p:nvSpPr>
        <p:spPr>
          <a:xfrm>
            <a:off x="6574536" y="1810512"/>
            <a:ext cx="1600200" cy="310896"/>
          </a:xfrm>
          <a:prstGeom prst="roundRect">
            <a:avLst>
              <a:gd name="adj" fmla="val 14706"/>
            </a:avLst>
          </a:prstGeom>
          <a:solidFill>
            <a:srgbClr val="3333FF"/>
          </a:solidFill>
          <a:ln w="12700">
            <a:solidFill>
              <a:srgbClr val="3333FF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6574536" y="1810512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Epic</a:t>
            </a:r>
            <a:endParaRPr lang="en-US" sz="1100" dirty="0"/>
          </a:p>
        </p:txBody>
      </p:sp>
      <p:sp>
        <p:nvSpPr>
          <p:cNvPr id="42" name="Shape 38"/>
          <p:cNvSpPr/>
          <p:nvPr/>
        </p:nvSpPr>
        <p:spPr>
          <a:xfrm>
            <a:off x="6647688" y="2194560"/>
            <a:ext cx="1527048" cy="310896"/>
          </a:xfrm>
          <a:prstGeom prst="roundRect">
            <a:avLst>
              <a:gd name="adj" fmla="val 14706"/>
            </a:avLst>
          </a:prstGeom>
          <a:solidFill>
            <a:srgbClr val="3333FF"/>
          </a:solidFill>
          <a:ln w="12700">
            <a:solidFill>
              <a:srgbClr val="3333FF"/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6647688" y="2194560"/>
            <a:ext cx="1527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</a:t>
            </a:r>
            <a:endParaRPr lang="en-US" sz="1100" dirty="0"/>
          </a:p>
        </p:txBody>
      </p:sp>
      <p:sp>
        <p:nvSpPr>
          <p:cNvPr id="44" name="Shape 40"/>
          <p:cNvSpPr/>
          <p:nvPr/>
        </p:nvSpPr>
        <p:spPr>
          <a:xfrm>
            <a:off x="6720840" y="2578608"/>
            <a:ext cx="1453896" cy="310896"/>
          </a:xfrm>
          <a:prstGeom prst="roundRect">
            <a:avLst>
              <a:gd name="adj" fmla="val 14706"/>
            </a:avLst>
          </a:prstGeom>
          <a:solidFill>
            <a:srgbClr val="3333FF"/>
          </a:solidFill>
          <a:ln w="12700">
            <a:solidFill>
              <a:srgbClr val="3333FF"/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6720840" y="2578608"/>
            <a:ext cx="1453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</a:t>
            </a:r>
            <a:endParaRPr lang="en-US" sz="1100" dirty="0"/>
          </a:p>
        </p:txBody>
      </p:sp>
      <p:sp>
        <p:nvSpPr>
          <p:cNvPr id="46" name="Shape 42"/>
          <p:cNvSpPr/>
          <p:nvPr/>
        </p:nvSpPr>
        <p:spPr>
          <a:xfrm>
            <a:off x="6793992" y="2962656"/>
            <a:ext cx="1380744" cy="310896"/>
          </a:xfrm>
          <a:prstGeom prst="roundRect">
            <a:avLst>
              <a:gd name="adj" fmla="val 14706"/>
            </a:avLst>
          </a:prstGeom>
          <a:solidFill>
            <a:srgbClr val="8C97FF"/>
          </a:solidFill>
          <a:ln w="12700">
            <a:solidFill>
              <a:srgbClr val="3333FF"/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6793992" y="2962656"/>
            <a:ext cx="13807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</a:t>
            </a:r>
            <a:endParaRPr lang="en-US" sz="1100" dirty="0"/>
          </a:p>
        </p:txBody>
      </p:sp>
      <p:sp>
        <p:nvSpPr>
          <p:cNvPr id="48" name="Text 44"/>
          <p:cNvSpPr txBox="1"/>
          <p:nvPr/>
        </p:nvSpPr>
        <p:spPr>
          <a:xfrm>
            <a:off x="6547104" y="3429000"/>
            <a:ext cx="16550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Formal, voltado a governança e auditoria.</a:t>
            </a:r>
            <a:endParaRPr lang="en-US" sz="1000" dirty="0"/>
          </a:p>
        </p:txBody>
      </p:sp>
      <p:sp>
        <p:nvSpPr>
          <p:cNvPr id="49" name="Text 45"/>
          <p:cNvSpPr txBox="1"/>
          <p:nvPr/>
        </p:nvSpPr>
        <p:spPr>
          <a:xfrm>
            <a:off x="6547104" y="4023360"/>
            <a:ext cx="165506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Change Request, Risk, Review e Issue relacionados ao Requirement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41080" y="0"/>
            <a:ext cx="502920" cy="5143500"/>
          </a:xfrm>
          <a:prstGeom prst="rect">
            <a:avLst/>
          </a:prstGeom>
          <a:solidFill>
            <a:srgbClr val="3333FF"/>
          </a:solidFill>
          <a:ln w="12700">
            <a:solidFill>
              <a:srgbClr val="3333FF"/>
            </a:solidFill>
            <a:prstDash val="solid"/>
          </a:ln>
        </p:spPr>
      </p:sp>
      <p:pic>
        <p:nvPicPr>
          <p:cNvPr id="3" name="Image 0" descr="/tmp/claude-1000/-media-arimateia-junior-Dados5-UNIFOR-DOCENTE-AZURE-DEVOPS/e87efb98-d81a-41ec-afb2-eea59369fc18/scratchpad/img/motivo_lil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0" y="109728"/>
            <a:ext cx="411480" cy="475488"/>
          </a:xfrm>
          <a:prstGeom prst="rect">
            <a:avLst/>
          </a:prstGeom>
        </p:spPr>
      </p:pic>
      <p:pic>
        <p:nvPicPr>
          <p:cNvPr id="4" name="Image 1" descr="/tmp/claude-1000/-media-arimateia-junior-Dados5-UNIFOR-DOCENTE-AZURE-DEVOPS/e87efb98-d81a-41ec-afb2-eea59369fc18/scratchpad/img/logo_posunifo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0" y="4846320"/>
            <a:ext cx="1097280" cy="256032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457200" y="274320"/>
            <a:ext cx="7955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1F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Mesmo raciocínio, vocabulário diferente</a:t>
            </a:r>
            <a:endParaRPr lang="en-US" sz="2600" dirty="0"/>
          </a:p>
        </p:txBody>
      </p:sp>
      <p:sp>
        <p:nvSpPr>
          <p:cNvPr id="6" name="Text 2"/>
          <p:cNvSpPr txBox="1"/>
          <p:nvPr/>
        </p:nvSpPr>
        <p:spPr>
          <a:xfrm>
            <a:off x="457200" y="822960"/>
            <a:ext cx="7955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Exemplos de decomposição em cada processo</a:t>
            </a:r>
            <a:endParaRPr lang="en-US" sz="13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786384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4663440"/>
                <a:gridCol w="21945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Processo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F8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Exemplo de decomposição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F8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Quando usar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F8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3333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Basic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A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Epic: Implantar Portal do Cliente → Issue: Tela de login → Task: Criar formulário de autenticação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A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B64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Times pequenos, fluxo operacional, projetos simples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A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3333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Agile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Epic: Sistema de Delivery → Feature: Gestão de pedidos → User Story: Como cliente, quero acompanhar meu pedido → Task: Criar tela de rastreamento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B64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Produtos digitais, entregas iterativas, pouca formalidade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3333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Scrum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A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Epic: App bancário → Feature: Transferência PIX → PBI: Permitir transferência instantânea → Task: Validar chave PIX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A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B64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Times com Sprints bem definidas e cerimônias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A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3333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CMMI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Epic: Sistema governamental → Feature: Governança de acessos → Requirement: Controle de acesso por perfil → Task: Atualizar regras de permissão  (+ Change Request: alterar política de autenticação)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B64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Governança, compliance, auditoria e aprovações formais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41080" y="0"/>
            <a:ext cx="502920" cy="5143500"/>
          </a:xfrm>
          <a:prstGeom prst="rect">
            <a:avLst/>
          </a:prstGeom>
          <a:solidFill>
            <a:srgbClr val="3333FF"/>
          </a:solidFill>
          <a:ln w="12700">
            <a:solidFill>
              <a:srgbClr val="3333FF"/>
            </a:solidFill>
            <a:prstDash val="solid"/>
          </a:ln>
        </p:spPr>
      </p:sp>
      <p:pic>
        <p:nvPicPr>
          <p:cNvPr id="3" name="Image 0" descr="/tmp/claude-1000/-media-arimateia-junior-Dados5-UNIFOR-DOCENTE-AZURE-DEVOPS/e87efb98-d81a-41ec-afb2-eea59369fc18/scratchpad/img/motivo_lil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0" y="109728"/>
            <a:ext cx="411480" cy="475488"/>
          </a:xfrm>
          <a:prstGeom prst="rect">
            <a:avLst/>
          </a:prstGeom>
        </p:spPr>
      </p:pic>
      <p:pic>
        <p:nvPicPr>
          <p:cNvPr id="4" name="Image 1" descr="/tmp/claude-1000/-media-arimateia-junior-Dados5-UNIFOR-DOCENTE-AZURE-DEVOPS/e87efb98-d81a-41ec-afb2-eea59369fc18/scratchpad/img/logo_posunifo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0" y="4846320"/>
            <a:ext cx="1097280" cy="256032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457200" y="274320"/>
            <a:ext cx="7955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1F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Quem utiliza?</a:t>
            </a:r>
            <a:endParaRPr lang="en-US" sz="2600" dirty="0"/>
          </a:p>
        </p:txBody>
      </p:sp>
      <p:sp>
        <p:nvSpPr>
          <p:cNvPr id="6" name="Text 2"/>
          <p:cNvSpPr txBox="1"/>
          <p:nvPr/>
        </p:nvSpPr>
        <p:spPr>
          <a:xfrm>
            <a:off x="457200" y="822960"/>
            <a:ext cx="7955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Empresas de diversos setores, em ambientes que exigem:</a:t>
            </a:r>
            <a:endParaRPr lang="en-US" sz="1300" dirty="0"/>
          </a:p>
        </p:txBody>
      </p:sp>
      <p:sp>
        <p:nvSpPr>
          <p:cNvPr id="7" name="Shape 3"/>
          <p:cNvSpPr/>
          <p:nvPr/>
        </p:nvSpPr>
        <p:spPr>
          <a:xfrm>
            <a:off x="457200" y="1325880"/>
            <a:ext cx="1828800" cy="685800"/>
          </a:xfrm>
          <a:prstGeom prst="roundRect">
            <a:avLst>
              <a:gd name="adj" fmla="val 10667"/>
            </a:avLst>
          </a:prstGeom>
          <a:solidFill>
            <a:srgbClr val="E8EAFF"/>
          </a:solidFill>
          <a:ln w="12700">
            <a:solidFill>
              <a:srgbClr val="E8EAFF"/>
            </a:solidFill>
            <a:prstDash val="solid"/>
          </a:ln>
        </p:spPr>
      </p:sp>
      <p:sp>
        <p:nvSpPr>
          <p:cNvPr id="8" name="Shape 4"/>
          <p:cNvSpPr/>
          <p:nvPr/>
        </p:nvSpPr>
        <p:spPr>
          <a:xfrm>
            <a:off x="594360" y="1417320"/>
            <a:ext cx="502920" cy="502920"/>
          </a:xfrm>
          <a:prstGeom prst="ellipse">
            <a:avLst/>
          </a:prstGeom>
          <a:solidFill>
            <a:srgbClr val="3333FF"/>
          </a:solidFill>
          <a:ln w="12700">
            <a:solidFill>
              <a:srgbClr val="3333FF"/>
            </a:solidFill>
            <a:prstDash val="solid"/>
          </a:ln>
        </p:spPr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5119" y="1548079"/>
            <a:ext cx="241402" cy="241402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1152144" y="1325880"/>
            <a:ext cx="111556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1F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Rastreabilidade</a:t>
            </a:r>
            <a:endParaRPr lang="en-US" sz="1100" dirty="0"/>
          </a:p>
        </p:txBody>
      </p:sp>
      <p:sp>
        <p:nvSpPr>
          <p:cNvPr id="11" name="Shape 6"/>
          <p:cNvSpPr/>
          <p:nvPr/>
        </p:nvSpPr>
        <p:spPr>
          <a:xfrm>
            <a:off x="2450592" y="1325880"/>
            <a:ext cx="1828800" cy="685800"/>
          </a:xfrm>
          <a:prstGeom prst="roundRect">
            <a:avLst>
              <a:gd name="adj" fmla="val 10667"/>
            </a:avLst>
          </a:prstGeom>
          <a:solidFill>
            <a:srgbClr val="E8EAFF"/>
          </a:solidFill>
          <a:ln w="12700">
            <a:solidFill>
              <a:srgbClr val="E8EAFF"/>
            </a:solidFill>
            <a:prstDash val="solid"/>
          </a:ln>
        </p:spPr>
      </p:sp>
      <p:sp>
        <p:nvSpPr>
          <p:cNvPr id="12" name="Shape 7"/>
          <p:cNvSpPr/>
          <p:nvPr/>
        </p:nvSpPr>
        <p:spPr>
          <a:xfrm>
            <a:off x="2587752" y="1417320"/>
            <a:ext cx="502920" cy="502920"/>
          </a:xfrm>
          <a:prstGeom prst="ellipse">
            <a:avLst/>
          </a:prstGeom>
          <a:solidFill>
            <a:srgbClr val="3333FF"/>
          </a:solidFill>
          <a:ln w="12700">
            <a:solidFill>
              <a:srgbClr val="3333FF"/>
            </a:solidFill>
            <a:prstDash val="solid"/>
          </a:ln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18511" y="1548079"/>
            <a:ext cx="241402" cy="241402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3145536" y="1325880"/>
            <a:ext cx="111556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1F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Colaboração</a:t>
            </a:r>
            <a:endParaRPr lang="en-US" sz="1100" dirty="0"/>
          </a:p>
        </p:txBody>
      </p:sp>
      <p:sp>
        <p:nvSpPr>
          <p:cNvPr id="15" name="Shape 9"/>
          <p:cNvSpPr/>
          <p:nvPr/>
        </p:nvSpPr>
        <p:spPr>
          <a:xfrm>
            <a:off x="4443984" y="1325880"/>
            <a:ext cx="1828800" cy="685800"/>
          </a:xfrm>
          <a:prstGeom prst="roundRect">
            <a:avLst>
              <a:gd name="adj" fmla="val 10667"/>
            </a:avLst>
          </a:prstGeom>
          <a:solidFill>
            <a:srgbClr val="E8EAFF"/>
          </a:solidFill>
          <a:ln w="12700">
            <a:solidFill>
              <a:srgbClr val="E8EAFF"/>
            </a:solidFill>
            <a:prstDash val="solid"/>
          </a:ln>
        </p:spPr>
      </p:sp>
      <p:sp>
        <p:nvSpPr>
          <p:cNvPr id="16" name="Shape 10"/>
          <p:cNvSpPr/>
          <p:nvPr/>
        </p:nvSpPr>
        <p:spPr>
          <a:xfrm>
            <a:off x="4581144" y="1417320"/>
            <a:ext cx="502920" cy="502920"/>
          </a:xfrm>
          <a:prstGeom prst="ellipse">
            <a:avLst/>
          </a:prstGeom>
          <a:solidFill>
            <a:srgbClr val="3333FF"/>
          </a:solidFill>
          <a:ln w="12700">
            <a:solidFill>
              <a:srgbClr val="3333FF"/>
            </a:solidFill>
            <a:prstDash val="solid"/>
          </a:ln>
        </p:spPr>
      </p:sp>
      <p:pic>
        <p:nvPicPr>
          <p:cNvPr id="1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11903" y="1548079"/>
            <a:ext cx="241402" cy="241402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5138928" y="1325880"/>
            <a:ext cx="111556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1F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Governança</a:t>
            </a:r>
            <a:endParaRPr lang="en-US" sz="1100" dirty="0"/>
          </a:p>
        </p:txBody>
      </p:sp>
      <p:sp>
        <p:nvSpPr>
          <p:cNvPr id="19" name="Shape 12"/>
          <p:cNvSpPr/>
          <p:nvPr/>
        </p:nvSpPr>
        <p:spPr>
          <a:xfrm>
            <a:off x="6437376" y="1325880"/>
            <a:ext cx="1828800" cy="685800"/>
          </a:xfrm>
          <a:prstGeom prst="roundRect">
            <a:avLst>
              <a:gd name="adj" fmla="val 10667"/>
            </a:avLst>
          </a:prstGeom>
          <a:solidFill>
            <a:srgbClr val="E8EAFF"/>
          </a:solidFill>
          <a:ln w="12700">
            <a:solidFill>
              <a:srgbClr val="E8EAFF"/>
            </a:solidFill>
            <a:prstDash val="solid"/>
          </a:ln>
        </p:spPr>
      </p:sp>
      <p:sp>
        <p:nvSpPr>
          <p:cNvPr id="20" name="Shape 13"/>
          <p:cNvSpPr/>
          <p:nvPr/>
        </p:nvSpPr>
        <p:spPr>
          <a:xfrm>
            <a:off x="6574536" y="1417320"/>
            <a:ext cx="502920" cy="502920"/>
          </a:xfrm>
          <a:prstGeom prst="ellipse">
            <a:avLst/>
          </a:prstGeom>
          <a:solidFill>
            <a:srgbClr val="3333FF"/>
          </a:solidFill>
          <a:ln w="12700">
            <a:solidFill>
              <a:srgbClr val="3333FF"/>
            </a:solidFill>
            <a:prstDash val="solid"/>
          </a:ln>
        </p:spPr>
      </p:sp>
      <p:pic>
        <p:nvPicPr>
          <p:cNvPr id="2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05295" y="1548079"/>
            <a:ext cx="241402" cy="241402"/>
          </a:xfrm>
          <a:prstGeom prst="rect">
            <a:avLst/>
          </a:prstGeom>
        </p:spPr>
      </p:pic>
      <p:sp>
        <p:nvSpPr>
          <p:cNvPr id="22" name="Text 14"/>
          <p:cNvSpPr txBox="1"/>
          <p:nvPr/>
        </p:nvSpPr>
        <p:spPr>
          <a:xfrm>
            <a:off x="7132320" y="1325880"/>
            <a:ext cx="111556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1F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Agilidade</a:t>
            </a:r>
            <a:endParaRPr lang="en-US" sz="1100" dirty="0"/>
          </a:p>
        </p:txBody>
      </p:sp>
      <p:pic>
        <p:nvPicPr>
          <p:cNvPr id="23" name="Image 6" descr="/tmp/claude-1000/-media-arimateia-junior-Dados5-UNIFOR-DOCENTE-AZURE-DEVOPS/e87efb98-d81a-41ec-afb2-eea59369fc18/scratchpad/img/logos_empresas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4400" y="2377440"/>
            <a:ext cx="6949440" cy="1554480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457200" y="443484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Tecnologia · Financeiro · Indústria · Governo e Saúde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41080" y="0"/>
            <a:ext cx="502920" cy="5143500"/>
          </a:xfrm>
          <a:prstGeom prst="rect">
            <a:avLst/>
          </a:prstGeom>
          <a:solidFill>
            <a:srgbClr val="3333FF"/>
          </a:solidFill>
          <a:ln w="12700">
            <a:solidFill>
              <a:srgbClr val="3333FF"/>
            </a:solidFill>
            <a:prstDash val="solid"/>
          </a:ln>
        </p:spPr>
      </p:sp>
      <p:pic>
        <p:nvPicPr>
          <p:cNvPr id="3" name="Image 0" descr="/tmp/claude-1000/-media-arimateia-junior-Dados5-UNIFOR-DOCENTE-AZURE-DEVOPS/e87efb98-d81a-41ec-afb2-eea59369fc18/scratchpad/img/motivo_lil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0" y="109728"/>
            <a:ext cx="411480" cy="475488"/>
          </a:xfrm>
          <a:prstGeom prst="rect">
            <a:avLst/>
          </a:prstGeom>
        </p:spPr>
      </p:pic>
      <p:pic>
        <p:nvPicPr>
          <p:cNvPr id="4" name="Image 1" descr="/tmp/claude-1000/-media-arimateia-junior-Dados5-UNIFOR-DOCENTE-AZURE-DEVOPS/e87efb98-d81a-41ec-afb2-eea59369fc18/scratchpad/img/logo_posunifo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0" y="4846320"/>
            <a:ext cx="1097280" cy="256032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457200" y="274320"/>
            <a:ext cx="7955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1F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Métricas que apoiam a gestão do projeto</a:t>
            </a:r>
            <a:endParaRPr lang="en-US" sz="2600" dirty="0"/>
          </a:p>
        </p:txBody>
      </p:sp>
      <p:sp>
        <p:nvSpPr>
          <p:cNvPr id="6" name="Shape 2"/>
          <p:cNvSpPr/>
          <p:nvPr/>
        </p:nvSpPr>
        <p:spPr>
          <a:xfrm>
            <a:off x="457200" y="1097280"/>
            <a:ext cx="3840480" cy="777240"/>
          </a:xfrm>
          <a:prstGeom prst="roundRect">
            <a:avLst>
              <a:gd name="adj" fmla="val 9412"/>
            </a:avLst>
          </a:prstGeom>
          <a:solidFill>
            <a:srgbClr val="E8EAFF"/>
          </a:solidFill>
          <a:ln w="12700">
            <a:solidFill>
              <a:srgbClr val="E8EAFF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640080" y="1097280"/>
            <a:ext cx="1371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33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Burndown</a:t>
            </a:r>
            <a:endParaRPr lang="en-US" sz="1600" dirty="0"/>
          </a:p>
        </p:txBody>
      </p:sp>
      <p:sp>
        <p:nvSpPr>
          <p:cNvPr id="8" name="Text 4"/>
          <p:cNvSpPr txBox="1"/>
          <p:nvPr/>
        </p:nvSpPr>
        <p:spPr>
          <a:xfrm>
            <a:off x="2057400" y="1097280"/>
            <a:ext cx="2148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Trabalho restante na Sprint</a:t>
            </a:r>
            <a:endParaRPr lang="en-US" sz="1200" dirty="0"/>
          </a:p>
        </p:txBody>
      </p:sp>
      <p:sp>
        <p:nvSpPr>
          <p:cNvPr id="9" name="Shape 5"/>
          <p:cNvSpPr/>
          <p:nvPr/>
        </p:nvSpPr>
        <p:spPr>
          <a:xfrm>
            <a:off x="4434840" y="1097280"/>
            <a:ext cx="3840480" cy="777240"/>
          </a:xfrm>
          <a:prstGeom prst="roundRect">
            <a:avLst>
              <a:gd name="adj" fmla="val 9412"/>
            </a:avLst>
          </a:prstGeom>
          <a:solidFill>
            <a:srgbClr val="E8EAFF"/>
          </a:solidFill>
          <a:ln w="12700">
            <a:solidFill>
              <a:srgbClr val="E8EAFF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4617720" y="1097280"/>
            <a:ext cx="1371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33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Velocity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6035040" y="1097280"/>
            <a:ext cx="2148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Capacidade de entrega por Sprint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457200" y="2011680"/>
            <a:ext cx="3840480" cy="777240"/>
          </a:xfrm>
          <a:prstGeom prst="roundRect">
            <a:avLst>
              <a:gd name="adj" fmla="val 9412"/>
            </a:avLst>
          </a:prstGeom>
          <a:solidFill>
            <a:srgbClr val="E8EAFF"/>
          </a:solidFill>
          <a:ln w="12700">
            <a:solidFill>
              <a:srgbClr val="E8EAFF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40080" y="2011680"/>
            <a:ext cx="1371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33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Time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2057400" y="2011680"/>
            <a:ext cx="2148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pedido à entrega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4434840" y="2011680"/>
            <a:ext cx="3840480" cy="777240"/>
          </a:xfrm>
          <a:prstGeom prst="roundRect">
            <a:avLst>
              <a:gd name="adj" fmla="val 9412"/>
            </a:avLst>
          </a:prstGeom>
          <a:solidFill>
            <a:srgbClr val="E8EAFF"/>
          </a:solidFill>
          <a:ln w="12700">
            <a:solidFill>
              <a:srgbClr val="E8EAFF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4617720" y="2011680"/>
            <a:ext cx="1371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33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Cycle Time</a:t>
            </a:r>
            <a:endParaRPr lang="en-US" sz="1600" dirty="0"/>
          </a:p>
        </p:txBody>
      </p:sp>
      <p:sp>
        <p:nvSpPr>
          <p:cNvPr id="17" name="Text 13"/>
          <p:cNvSpPr txBox="1"/>
          <p:nvPr/>
        </p:nvSpPr>
        <p:spPr>
          <a:xfrm>
            <a:off x="6035040" y="2011680"/>
            <a:ext cx="2148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início da execução à entrega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457200" y="2926080"/>
            <a:ext cx="3840480" cy="777240"/>
          </a:xfrm>
          <a:prstGeom prst="roundRect">
            <a:avLst>
              <a:gd name="adj" fmla="val 9412"/>
            </a:avLst>
          </a:prstGeom>
          <a:solidFill>
            <a:srgbClr val="E8EAFF"/>
          </a:solidFill>
          <a:ln w="12700">
            <a:solidFill>
              <a:srgbClr val="E8EAFF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40080" y="2926080"/>
            <a:ext cx="1371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33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Throughput</a:t>
            </a:r>
            <a:endParaRPr lang="en-US" sz="1600" dirty="0"/>
          </a:p>
        </p:txBody>
      </p:sp>
      <p:sp>
        <p:nvSpPr>
          <p:cNvPr id="20" name="Text 16"/>
          <p:cNvSpPr txBox="1"/>
          <p:nvPr/>
        </p:nvSpPr>
        <p:spPr>
          <a:xfrm>
            <a:off x="2057400" y="2926080"/>
            <a:ext cx="2148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Quantidade entregue no período</a:t>
            </a:r>
            <a:endParaRPr lang="en-US" sz="1200" dirty="0"/>
          </a:p>
        </p:txBody>
      </p:sp>
      <p:sp>
        <p:nvSpPr>
          <p:cNvPr id="21" name="Shape 17"/>
          <p:cNvSpPr/>
          <p:nvPr/>
        </p:nvSpPr>
        <p:spPr>
          <a:xfrm>
            <a:off x="4434840" y="2926080"/>
            <a:ext cx="3840480" cy="777240"/>
          </a:xfrm>
          <a:prstGeom prst="roundRect">
            <a:avLst>
              <a:gd name="adj" fmla="val 9412"/>
            </a:avLst>
          </a:prstGeom>
          <a:solidFill>
            <a:srgbClr val="E8EAFF"/>
          </a:solidFill>
          <a:ln w="12700">
            <a:solidFill>
              <a:srgbClr val="E8EAFF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4617720" y="2926080"/>
            <a:ext cx="1371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33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CFD</a:t>
            </a:r>
            <a:endParaRPr lang="en-US" sz="1600" dirty="0"/>
          </a:p>
        </p:txBody>
      </p:sp>
      <p:sp>
        <p:nvSpPr>
          <p:cNvPr id="23" name="Text 19"/>
          <p:cNvSpPr txBox="1"/>
          <p:nvPr/>
        </p:nvSpPr>
        <p:spPr>
          <a:xfrm>
            <a:off x="6035040" y="2926080"/>
            <a:ext cx="2148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 o fluxo trava (gargalos)</a:t>
            </a:r>
            <a:endParaRPr lang="en-US" sz="1200" dirty="0"/>
          </a:p>
        </p:txBody>
      </p:sp>
      <p:sp>
        <p:nvSpPr>
          <p:cNvPr id="24" name="Shape 20"/>
          <p:cNvSpPr/>
          <p:nvPr/>
        </p:nvSpPr>
        <p:spPr>
          <a:xfrm>
            <a:off x="457200" y="3931920"/>
            <a:ext cx="7818120" cy="594360"/>
          </a:xfrm>
          <a:prstGeom prst="roundRect">
            <a:avLst>
              <a:gd name="adj" fmla="val 12308"/>
            </a:avLst>
          </a:prstGeom>
          <a:solidFill>
            <a:srgbClr val="121F8F"/>
          </a:solidFill>
          <a:ln w="12700">
            <a:solidFill>
              <a:srgbClr val="121F8F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640080" y="3931920"/>
            <a:ext cx="7498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Mais importante do que ver gráficos é interpretar o comportamento do time.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41080" y="0"/>
            <a:ext cx="502920" cy="5143500"/>
          </a:xfrm>
          <a:prstGeom prst="rect">
            <a:avLst/>
          </a:prstGeom>
          <a:solidFill>
            <a:srgbClr val="3333FF"/>
          </a:solidFill>
          <a:ln w="12700">
            <a:solidFill>
              <a:srgbClr val="3333FF"/>
            </a:solidFill>
            <a:prstDash val="solid"/>
          </a:ln>
        </p:spPr>
      </p:sp>
      <p:pic>
        <p:nvPicPr>
          <p:cNvPr id="3" name="Image 0" descr="/tmp/claude-1000/-media-arimateia-junior-Dados5-UNIFOR-DOCENTE-AZURE-DEVOPS/e87efb98-d81a-41ec-afb2-eea59369fc18/scratchpad/img/motivo_lil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0" y="109728"/>
            <a:ext cx="411480" cy="475488"/>
          </a:xfrm>
          <a:prstGeom prst="rect">
            <a:avLst/>
          </a:prstGeom>
        </p:spPr>
      </p:pic>
      <p:pic>
        <p:nvPicPr>
          <p:cNvPr id="4" name="Image 1" descr="/tmp/claude-1000/-media-arimateia-junior-Dados5-UNIFOR-DOCENTE-AZURE-DEVOPS/e87efb98-d81a-41ec-afb2-eea59369fc18/scratchpad/img/logo_posunifo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0" y="4846320"/>
            <a:ext cx="1097280" cy="256032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457200" y="274320"/>
            <a:ext cx="7955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1F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Interpretando métricas: o burndown</a:t>
            </a:r>
            <a:endParaRPr lang="en-US" sz="2600" dirty="0"/>
          </a:p>
        </p:txBody>
      </p:sp>
      <p:sp>
        <p:nvSpPr>
          <p:cNvPr id="6" name="Text 2"/>
          <p:cNvSpPr txBox="1"/>
          <p:nvPr/>
        </p:nvSpPr>
        <p:spPr>
          <a:xfrm>
            <a:off x="457200" y="822960"/>
            <a:ext cx="7955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ilustrativo: Sprint de 10 dias, 80 horas planejadas</a:t>
            </a:r>
            <a:endParaRPr lang="en-US" sz="13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365760" y="1188720"/>
          <a:ext cx="4754880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8" name="Text 3"/>
          <p:cNvSpPr txBox="1"/>
          <p:nvPr/>
        </p:nvSpPr>
        <p:spPr>
          <a:xfrm>
            <a:off x="5394960" y="118872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1F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o gestor lê aqui</a:t>
            </a:r>
            <a:endParaRPr lang="en-US" sz="1400" dirty="0"/>
          </a:p>
        </p:txBody>
      </p:sp>
      <p:sp>
        <p:nvSpPr>
          <p:cNvPr id="9" name="Text 4"/>
          <p:cNvSpPr txBox="1"/>
          <p:nvPr/>
        </p:nvSpPr>
        <p:spPr>
          <a:xfrm>
            <a:off x="5394960" y="1554480"/>
            <a:ext cx="30175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Linha real acima da ideal: </a:t>
            </a:r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atraso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Linha reta por dias (D3–D4): </a:t>
            </a:r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impedimento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Linha subindo: </a:t>
            </a:r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escopo entrou na Sprint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Sobrou trabalho em D10: </a:t>
            </a:r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capacidade superestimada</a:t>
            </a:r>
            <a:endParaRPr lang="en-US" sz="1200" dirty="0"/>
          </a:p>
        </p:txBody>
      </p:sp>
      <p:sp>
        <p:nvSpPr>
          <p:cNvPr id="10" name="Shape 5"/>
          <p:cNvSpPr/>
          <p:nvPr/>
        </p:nvSpPr>
        <p:spPr>
          <a:xfrm>
            <a:off x="5394960" y="3474720"/>
            <a:ext cx="2926080" cy="1051560"/>
          </a:xfrm>
          <a:prstGeom prst="roundRect">
            <a:avLst>
              <a:gd name="adj" fmla="val 6957"/>
            </a:avLst>
          </a:prstGeom>
          <a:solidFill>
            <a:srgbClr val="E8EAFF"/>
          </a:solidFill>
          <a:ln w="12700">
            <a:solidFill>
              <a:srgbClr val="E8EAFF"/>
            </a:solidFill>
            <a:prstDash val="solid"/>
          </a:ln>
        </p:spPr>
      </p:sp>
      <p:sp>
        <p:nvSpPr>
          <p:cNvPr id="11" name="Text 6"/>
          <p:cNvSpPr txBox="1"/>
          <p:nvPr/>
        </p:nvSpPr>
        <p:spPr>
          <a:xfrm>
            <a:off x="5532120" y="352044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33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Velocity </a:t>
            </a:r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a média entregue por Sprint: base para previsibilidade e planejamento das próximas.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41080" y="0"/>
            <a:ext cx="502920" cy="5143500"/>
          </a:xfrm>
          <a:prstGeom prst="rect">
            <a:avLst/>
          </a:prstGeom>
          <a:solidFill>
            <a:srgbClr val="3333FF"/>
          </a:solidFill>
          <a:ln w="12700">
            <a:solidFill>
              <a:srgbClr val="3333FF"/>
            </a:solidFill>
            <a:prstDash val="solid"/>
          </a:ln>
        </p:spPr>
      </p:sp>
      <p:pic>
        <p:nvPicPr>
          <p:cNvPr id="3" name="Image 0" descr="/tmp/claude-1000/-media-arimateia-junior-Dados5-UNIFOR-DOCENTE-AZURE-DEVOPS/e87efb98-d81a-41ec-afb2-eea59369fc18/scratchpad/img/motivo_lil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0" y="109728"/>
            <a:ext cx="411480" cy="475488"/>
          </a:xfrm>
          <a:prstGeom prst="rect">
            <a:avLst/>
          </a:prstGeom>
        </p:spPr>
      </p:pic>
      <p:pic>
        <p:nvPicPr>
          <p:cNvPr id="4" name="Image 1" descr="/tmp/claude-1000/-media-arimateia-junior-Dados5-UNIFOR-DOCENTE-AZURE-DEVOPS/e87efb98-d81a-41ec-afb2-eea59369fc18/scratchpad/img/logo_posunifo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0" y="4846320"/>
            <a:ext cx="1097280" cy="256032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457200" y="274320"/>
            <a:ext cx="7955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1F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Gestão visual e acompanhamento em tempo real</a:t>
            </a:r>
            <a:endParaRPr lang="en-US" sz="2600" dirty="0"/>
          </a:p>
        </p:txBody>
      </p:sp>
      <p:sp>
        <p:nvSpPr>
          <p:cNvPr id="6" name="Text 2"/>
          <p:cNvSpPr txBox="1"/>
          <p:nvPr/>
        </p:nvSpPr>
        <p:spPr>
          <a:xfrm>
            <a:off x="457200" y="109728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33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Dashboards permitem:</a:t>
            </a:r>
            <a:endParaRPr lang="en-US" sz="1400" dirty="0"/>
          </a:p>
        </p:txBody>
      </p:sp>
      <p:sp>
        <p:nvSpPr>
          <p:cNvPr id="7" name="Text 3"/>
          <p:cNvSpPr txBox="1"/>
          <p:nvPr/>
        </p:nvSpPr>
        <p:spPr>
          <a:xfrm>
            <a:off x="457200" y="1508760"/>
            <a:ext cx="34747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Acompanhar o progresso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Identificar gargalos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Visualizar a produtividade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Monitorar bugs e riscos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Acompanhar Sprints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Apoiar a tomada de decisão</a:t>
            </a:r>
            <a:endParaRPr lang="en-US" sz="1400" dirty="0"/>
          </a:p>
        </p:txBody>
      </p:sp>
      <p:pic>
        <p:nvPicPr>
          <p:cNvPr id="8" name="Image 2" descr="/tmp/claude-1000/-media-arimateia-junior-Dados5-UNIFOR-DOCENTE-AZURE-DEVOPS/e87efb98-d81a-41ec-afb2-eea59369fc18/scratchpad/img/p18_07_165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6240" y="1188720"/>
            <a:ext cx="4114800" cy="2624328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457200" y="416052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21F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Métricas ajudam o gestor a decidir antes de o problema acontecer.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41080" y="0"/>
            <a:ext cx="502920" cy="5143500"/>
          </a:xfrm>
          <a:prstGeom prst="rect">
            <a:avLst/>
          </a:prstGeom>
          <a:solidFill>
            <a:srgbClr val="3333FF"/>
          </a:solidFill>
          <a:ln w="12700">
            <a:solidFill>
              <a:srgbClr val="3333FF"/>
            </a:solidFill>
            <a:prstDash val="solid"/>
          </a:ln>
        </p:spPr>
      </p:sp>
      <p:pic>
        <p:nvPicPr>
          <p:cNvPr id="3" name="Image 0" descr="/tmp/claude-1000/-media-arimateia-junior-Dados5-UNIFOR-DOCENTE-AZURE-DEVOPS/e87efb98-d81a-41ec-afb2-eea59369fc18/scratchpad/img/motivo_lil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0" y="109728"/>
            <a:ext cx="411480" cy="475488"/>
          </a:xfrm>
          <a:prstGeom prst="rect">
            <a:avLst/>
          </a:prstGeom>
        </p:spPr>
      </p:pic>
      <p:pic>
        <p:nvPicPr>
          <p:cNvPr id="4" name="Image 1" descr="/tmp/claude-1000/-media-arimateia-junior-Dados5-UNIFOR-DOCENTE-AZURE-DEVOPS/e87efb98-d81a-41ec-afb2-eea59369fc18/scratchpad/img/logo_posunifo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0" y="4846320"/>
            <a:ext cx="1097280" cy="256032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457200" y="274320"/>
            <a:ext cx="7955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1F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Posição de mercado</a:t>
            </a:r>
            <a:endParaRPr lang="en-US" sz="2600" dirty="0"/>
          </a:p>
        </p:txBody>
      </p:sp>
      <p:sp>
        <p:nvSpPr>
          <p:cNvPr id="6" name="Text 2"/>
          <p:cNvSpPr txBox="1"/>
          <p:nvPr/>
        </p:nvSpPr>
        <p:spPr>
          <a:xfrm>
            <a:off x="457200" y="1051560"/>
            <a:ext cx="3291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Microsoft (Azure DevOps / Azure Boards) é avaliada pelo Gartner na categoria Enterprise Agile Planning Tools: ferramentas que permitem escalar práticas ágeis de forma integrada na organização.</a:t>
            </a:r>
            <a:endParaRPr lang="en-US" sz="1300" dirty="0"/>
          </a:p>
        </p:txBody>
      </p:sp>
      <p:sp>
        <p:nvSpPr>
          <p:cNvPr id="7" name="Shape 3"/>
          <p:cNvSpPr/>
          <p:nvPr/>
        </p:nvSpPr>
        <p:spPr>
          <a:xfrm>
            <a:off x="457200" y="2697480"/>
            <a:ext cx="3291840" cy="1463040"/>
          </a:xfrm>
          <a:prstGeom prst="roundRect">
            <a:avLst>
              <a:gd name="adj" fmla="val 5000"/>
            </a:avLst>
          </a:prstGeom>
          <a:solidFill>
            <a:srgbClr val="E8EAFF"/>
          </a:solidFill>
          <a:ln w="12700">
            <a:solidFill>
              <a:srgbClr val="E8EAFF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594360" y="2788920"/>
            <a:ext cx="3017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21F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é o Gartner?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Referência global em análise de tecnologia; seus relatórios orientam decisões de grandes organizações.</a:t>
            </a:r>
            <a:endParaRPr lang="en-US" sz="1300" dirty="0"/>
          </a:p>
        </p:txBody>
      </p:sp>
      <p:pic>
        <p:nvPicPr>
          <p:cNvPr id="9" name="Image 2" descr="/tmp/claude-1000/-media-arimateia-junior-Dados5-UNIFOR-DOCENTE-AZURE-DEVOPS/e87efb98-d81a-41ec-afb2-eea59369fc18/scratchpad/img/gartne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360" y="1097280"/>
            <a:ext cx="4343400" cy="2432304"/>
          </a:xfrm>
          <a:prstGeom prst="rect">
            <a:avLst/>
          </a:prstGeom>
        </p:spPr>
      </p:pic>
      <p:sp>
        <p:nvSpPr>
          <p:cNvPr id="10" name="Text 5">
            <a:hlinkClick r:id="rId4" tooltip=""/>
          </p:cNvPr>
          <p:cNvSpPr txBox="1"/>
          <p:nvPr/>
        </p:nvSpPr>
        <p:spPr>
          <a:xfrm>
            <a:off x="4023360" y="3657600"/>
            <a:ext cx="4343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u="sng" dirty="0">
                <a:solidFill>
                  <a:srgbClr val="3333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gartner.com/reviews/market/enterprise-agile-planning-tools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41080" y="0"/>
            <a:ext cx="502920" cy="5143500"/>
          </a:xfrm>
          <a:prstGeom prst="rect">
            <a:avLst/>
          </a:prstGeom>
          <a:solidFill>
            <a:srgbClr val="3333FF"/>
          </a:solidFill>
          <a:ln w="12700">
            <a:solidFill>
              <a:srgbClr val="3333FF"/>
            </a:solidFill>
            <a:prstDash val="solid"/>
          </a:ln>
        </p:spPr>
      </p:sp>
      <p:pic>
        <p:nvPicPr>
          <p:cNvPr id="3" name="Image 0" descr="/tmp/claude-1000/-media-arimateia-junior-Dados5-UNIFOR-DOCENTE-AZURE-DEVOPS/e87efb98-d81a-41ec-afb2-eea59369fc18/scratchpad/img/motivo_lil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0" y="109728"/>
            <a:ext cx="411480" cy="475488"/>
          </a:xfrm>
          <a:prstGeom prst="rect">
            <a:avLst/>
          </a:prstGeom>
        </p:spPr>
      </p:pic>
      <p:pic>
        <p:nvPicPr>
          <p:cNvPr id="4" name="Image 1" descr="/tmp/claude-1000/-media-arimateia-junior-Dados5-UNIFOR-DOCENTE-AZURE-DEVOPS/e87efb98-d81a-41ec-afb2-eea59369fc18/scratchpad/img/logo_posunifo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0" y="4846320"/>
            <a:ext cx="1097280" cy="256032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457200" y="274320"/>
            <a:ext cx="7955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1F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Vantagens para a gestão de projetos</a:t>
            </a:r>
            <a:endParaRPr lang="en-US" sz="2600" dirty="0"/>
          </a:p>
        </p:txBody>
      </p:sp>
      <p:sp>
        <p:nvSpPr>
          <p:cNvPr id="6" name="Shape 2"/>
          <p:cNvSpPr/>
          <p:nvPr/>
        </p:nvSpPr>
        <p:spPr>
          <a:xfrm>
            <a:off x="457200" y="1280160"/>
            <a:ext cx="2468880" cy="1417320"/>
          </a:xfrm>
          <a:prstGeom prst="roundRect">
            <a:avLst>
              <a:gd name="adj" fmla="val 5161"/>
            </a:avLst>
          </a:prstGeom>
          <a:solidFill>
            <a:srgbClr val="E8EAFF"/>
          </a:solidFill>
          <a:ln w="12700">
            <a:solidFill>
              <a:srgbClr val="E8EAFF"/>
            </a:solidFill>
            <a:prstDash val="solid"/>
          </a:ln>
        </p:spPr>
      </p:sp>
      <p:sp>
        <p:nvSpPr>
          <p:cNvPr id="7" name="Shape 3"/>
          <p:cNvSpPr/>
          <p:nvPr/>
        </p:nvSpPr>
        <p:spPr>
          <a:xfrm>
            <a:off x="1417320" y="1417320"/>
            <a:ext cx="548640" cy="548640"/>
          </a:xfrm>
          <a:prstGeom prst="ellipse">
            <a:avLst/>
          </a:prstGeom>
          <a:solidFill>
            <a:srgbClr val="3333FF"/>
          </a:solidFill>
          <a:ln w="12700">
            <a:solidFill>
              <a:srgbClr val="3333FF"/>
            </a:solidFill>
            <a:prstDash val="solid"/>
          </a:ln>
        </p:spPr>
      </p:sp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9966" y="1559966"/>
            <a:ext cx="263347" cy="263347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548640" y="201168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21F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Visão completa</a:t>
            </a:r>
            <a:endParaRPr lang="en-US" sz="1300" dirty="0"/>
          </a:p>
        </p:txBody>
      </p:sp>
      <p:sp>
        <p:nvSpPr>
          <p:cNvPr id="10" name="Text 5"/>
          <p:cNvSpPr txBox="1"/>
          <p:nvPr/>
        </p:nvSpPr>
        <p:spPr>
          <a:xfrm>
            <a:off x="548640" y="22860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backlog, progresso e entregas</a:t>
            </a:r>
            <a:endParaRPr lang="en-US" sz="1100" dirty="0"/>
          </a:p>
        </p:txBody>
      </p:sp>
      <p:sp>
        <p:nvSpPr>
          <p:cNvPr id="11" name="Shape 6"/>
          <p:cNvSpPr/>
          <p:nvPr/>
        </p:nvSpPr>
        <p:spPr>
          <a:xfrm>
            <a:off x="3108960" y="1280160"/>
            <a:ext cx="2468880" cy="1417320"/>
          </a:xfrm>
          <a:prstGeom prst="roundRect">
            <a:avLst>
              <a:gd name="adj" fmla="val 5161"/>
            </a:avLst>
          </a:prstGeom>
          <a:solidFill>
            <a:srgbClr val="E8EAFF"/>
          </a:solidFill>
          <a:ln w="12700">
            <a:solidFill>
              <a:srgbClr val="E8EAFF"/>
            </a:solidFill>
            <a:prstDash val="solid"/>
          </a:ln>
        </p:spPr>
      </p:sp>
      <p:sp>
        <p:nvSpPr>
          <p:cNvPr id="12" name="Shape 7"/>
          <p:cNvSpPr/>
          <p:nvPr/>
        </p:nvSpPr>
        <p:spPr>
          <a:xfrm>
            <a:off x="4069080" y="1417320"/>
            <a:ext cx="548640" cy="548640"/>
          </a:xfrm>
          <a:prstGeom prst="ellipse">
            <a:avLst/>
          </a:prstGeom>
          <a:solidFill>
            <a:srgbClr val="3333FF"/>
          </a:solidFill>
          <a:ln w="12700">
            <a:solidFill>
              <a:srgbClr val="3333FF"/>
            </a:solidFill>
            <a:prstDash val="solid"/>
          </a:ln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11726" y="1559966"/>
            <a:ext cx="263347" cy="263347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3200400" y="201168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21F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Colaboração</a:t>
            </a:r>
            <a:endParaRPr lang="en-US" sz="1300" dirty="0"/>
          </a:p>
        </p:txBody>
      </p:sp>
      <p:sp>
        <p:nvSpPr>
          <p:cNvPr id="15" name="Text 9"/>
          <p:cNvSpPr txBox="1"/>
          <p:nvPr/>
        </p:nvSpPr>
        <p:spPr>
          <a:xfrm>
            <a:off x="3200400" y="22860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áreas técnicas e de negócio</a:t>
            </a:r>
            <a:endParaRPr lang="en-US" sz="1100" dirty="0"/>
          </a:p>
        </p:txBody>
      </p:sp>
      <p:sp>
        <p:nvSpPr>
          <p:cNvPr id="16" name="Shape 10"/>
          <p:cNvSpPr/>
          <p:nvPr/>
        </p:nvSpPr>
        <p:spPr>
          <a:xfrm>
            <a:off x="5760720" y="1280160"/>
            <a:ext cx="2468880" cy="1417320"/>
          </a:xfrm>
          <a:prstGeom prst="roundRect">
            <a:avLst>
              <a:gd name="adj" fmla="val 5161"/>
            </a:avLst>
          </a:prstGeom>
          <a:solidFill>
            <a:srgbClr val="E8EAFF"/>
          </a:solidFill>
          <a:ln w="12700">
            <a:solidFill>
              <a:srgbClr val="E8EAFF"/>
            </a:solidFill>
            <a:prstDash val="solid"/>
          </a:ln>
        </p:spPr>
      </p:sp>
      <p:sp>
        <p:nvSpPr>
          <p:cNvPr id="17" name="Shape 11"/>
          <p:cNvSpPr/>
          <p:nvPr/>
        </p:nvSpPr>
        <p:spPr>
          <a:xfrm>
            <a:off x="6720840" y="1417320"/>
            <a:ext cx="548640" cy="548640"/>
          </a:xfrm>
          <a:prstGeom prst="ellipse">
            <a:avLst/>
          </a:prstGeom>
          <a:solidFill>
            <a:srgbClr val="3333FF"/>
          </a:solidFill>
          <a:ln w="12700">
            <a:solidFill>
              <a:srgbClr val="3333FF"/>
            </a:solidFill>
            <a:prstDash val="solid"/>
          </a:ln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63486" y="1559966"/>
            <a:ext cx="263347" cy="263347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5852160" y="201168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21F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Flexível</a:t>
            </a:r>
            <a:endParaRPr lang="en-US" sz="1300" dirty="0"/>
          </a:p>
        </p:txBody>
      </p:sp>
      <p:sp>
        <p:nvSpPr>
          <p:cNvPr id="20" name="Text 13"/>
          <p:cNvSpPr txBox="1"/>
          <p:nvPr/>
        </p:nvSpPr>
        <p:spPr>
          <a:xfrm>
            <a:off x="5852160" y="22860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Basic, Agile, Scrum ou CMMI</a:t>
            </a:r>
            <a:endParaRPr lang="en-US" sz="1100" dirty="0"/>
          </a:p>
        </p:txBody>
      </p:sp>
      <p:sp>
        <p:nvSpPr>
          <p:cNvPr id="21" name="Shape 14"/>
          <p:cNvSpPr/>
          <p:nvPr/>
        </p:nvSpPr>
        <p:spPr>
          <a:xfrm>
            <a:off x="1783080" y="2880360"/>
            <a:ext cx="2468880" cy="1417320"/>
          </a:xfrm>
          <a:prstGeom prst="roundRect">
            <a:avLst>
              <a:gd name="adj" fmla="val 5161"/>
            </a:avLst>
          </a:prstGeom>
          <a:solidFill>
            <a:srgbClr val="E8EAFF"/>
          </a:solidFill>
          <a:ln w="12700">
            <a:solidFill>
              <a:srgbClr val="E8EAFF"/>
            </a:solidFill>
            <a:prstDash val="solid"/>
          </a:ln>
        </p:spPr>
      </p:sp>
      <p:sp>
        <p:nvSpPr>
          <p:cNvPr id="22" name="Shape 15"/>
          <p:cNvSpPr/>
          <p:nvPr/>
        </p:nvSpPr>
        <p:spPr>
          <a:xfrm>
            <a:off x="2743200" y="3017520"/>
            <a:ext cx="548640" cy="548640"/>
          </a:xfrm>
          <a:prstGeom prst="ellipse">
            <a:avLst/>
          </a:prstGeom>
          <a:solidFill>
            <a:srgbClr val="3333FF"/>
          </a:solidFill>
          <a:ln w="12700">
            <a:solidFill>
              <a:srgbClr val="3333FF"/>
            </a:solidFill>
            <a:prstDash val="solid"/>
          </a:ln>
        </p:spPr>
      </p:sp>
      <p:pic>
        <p:nvPicPr>
          <p:cNvPr id="2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85846" y="3160166"/>
            <a:ext cx="263347" cy="263347"/>
          </a:xfrm>
          <a:prstGeom prst="rect">
            <a:avLst/>
          </a:prstGeom>
        </p:spPr>
      </p:pic>
      <p:sp>
        <p:nvSpPr>
          <p:cNvPr id="24" name="Text 16"/>
          <p:cNvSpPr txBox="1"/>
          <p:nvPr/>
        </p:nvSpPr>
        <p:spPr>
          <a:xfrm>
            <a:off x="1874520" y="361188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21F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Aderente</a:t>
            </a:r>
            <a:endParaRPr lang="en-US" sz="1300" dirty="0"/>
          </a:p>
        </p:txBody>
      </p:sp>
      <p:sp>
        <p:nvSpPr>
          <p:cNvPr id="25" name="Text 17"/>
          <p:cNvSpPr txBox="1"/>
          <p:nvPr/>
        </p:nvSpPr>
        <p:spPr>
          <a:xfrm>
            <a:off x="1874520" y="38862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projetos técnicos e não técnicos</a:t>
            </a:r>
            <a:endParaRPr lang="en-US" sz="1100" dirty="0"/>
          </a:p>
        </p:txBody>
      </p:sp>
      <p:sp>
        <p:nvSpPr>
          <p:cNvPr id="26" name="Shape 18"/>
          <p:cNvSpPr/>
          <p:nvPr/>
        </p:nvSpPr>
        <p:spPr>
          <a:xfrm>
            <a:off x="4434840" y="2880360"/>
            <a:ext cx="2468880" cy="1417320"/>
          </a:xfrm>
          <a:prstGeom prst="roundRect">
            <a:avLst>
              <a:gd name="adj" fmla="val 5161"/>
            </a:avLst>
          </a:prstGeom>
          <a:solidFill>
            <a:srgbClr val="E8EAFF"/>
          </a:solidFill>
          <a:ln w="12700">
            <a:solidFill>
              <a:srgbClr val="E8EAFF"/>
            </a:solidFill>
            <a:prstDash val="solid"/>
          </a:ln>
        </p:spPr>
      </p:sp>
      <p:sp>
        <p:nvSpPr>
          <p:cNvPr id="27" name="Shape 19"/>
          <p:cNvSpPr/>
          <p:nvPr/>
        </p:nvSpPr>
        <p:spPr>
          <a:xfrm>
            <a:off x="5394960" y="3017520"/>
            <a:ext cx="548640" cy="548640"/>
          </a:xfrm>
          <a:prstGeom prst="ellipse">
            <a:avLst/>
          </a:prstGeom>
          <a:solidFill>
            <a:srgbClr val="3333FF"/>
          </a:solidFill>
          <a:ln w="12700">
            <a:solidFill>
              <a:srgbClr val="3333FF"/>
            </a:solidFill>
            <a:prstDash val="solid"/>
          </a:ln>
        </p:spPr>
      </p:sp>
      <p:pic>
        <p:nvPicPr>
          <p:cNvPr id="28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537606" y="3160166"/>
            <a:ext cx="263347" cy="263347"/>
          </a:xfrm>
          <a:prstGeom prst="rect">
            <a:avLst/>
          </a:prstGeom>
        </p:spPr>
      </p:pic>
      <p:sp>
        <p:nvSpPr>
          <p:cNvPr id="29" name="Text 20"/>
          <p:cNvSpPr txBox="1"/>
          <p:nvPr/>
        </p:nvSpPr>
        <p:spPr>
          <a:xfrm>
            <a:off x="4526280" y="361188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21F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Decisão com dados</a:t>
            </a:r>
            <a:endParaRPr lang="en-US" sz="1300" dirty="0"/>
          </a:p>
        </p:txBody>
      </p:sp>
      <p:sp>
        <p:nvSpPr>
          <p:cNvPr id="30" name="Text 21"/>
          <p:cNvSpPr txBox="1"/>
          <p:nvPr/>
        </p:nvSpPr>
        <p:spPr>
          <a:xfrm>
            <a:off x="4526280" y="38862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dashboards, indicadores e histórico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21F8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1000/-media-arimateia-junior-Dados5-UNIFOR-DOCENTE-AZURE-DEVOPS/e87efb98-d81a-41ec-afb2-eea59369fc18/scratchpad/img/capa_circul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0" y="0"/>
            <a:ext cx="1097280" cy="2130552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54864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Demonstração ao vivo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420624" cy="420624"/>
          </a:xfrm>
          <a:prstGeom prst="ellipse">
            <a:avLst/>
          </a:prstGeom>
          <a:solidFill>
            <a:srgbClr val="3333FF"/>
          </a:solidFill>
          <a:ln w="12700">
            <a:solidFill>
              <a:srgbClr val="CFD3FF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48640" y="14630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1143000" y="1463040"/>
            <a:ext cx="6400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Criar um Epic e decompor em Feature → User Story → Task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548640" y="2066544"/>
            <a:ext cx="420624" cy="420624"/>
          </a:xfrm>
          <a:prstGeom prst="ellipse">
            <a:avLst/>
          </a:prstGeom>
          <a:solidFill>
            <a:srgbClr val="3333FF"/>
          </a:solidFill>
          <a:ln w="12700">
            <a:solidFill>
              <a:srgbClr val="CFD3F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48640" y="206654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1143000" y="2066544"/>
            <a:ext cx="6400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Preencher responsável, estimativa, prioridade e critério de aceite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548640" y="2670048"/>
            <a:ext cx="420624" cy="420624"/>
          </a:xfrm>
          <a:prstGeom prst="ellipse">
            <a:avLst/>
          </a:prstGeom>
          <a:solidFill>
            <a:srgbClr val="3333FF"/>
          </a:solidFill>
          <a:ln w="12700">
            <a:solidFill>
              <a:srgbClr val="CFD3F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48640" y="26700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1143000" y="2670048"/>
            <a:ext cx="6400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Mover um card no Board (Kanban)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48640" y="3273552"/>
            <a:ext cx="420624" cy="420624"/>
          </a:xfrm>
          <a:prstGeom prst="ellipse">
            <a:avLst/>
          </a:prstGeom>
          <a:solidFill>
            <a:srgbClr val="3333FF"/>
          </a:solidFill>
          <a:ln w="12700">
            <a:solidFill>
              <a:srgbClr val="CFD3F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48640" y="327355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1143000" y="3273552"/>
            <a:ext cx="6400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Planejar a Sprint e a capacidade do time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548640" y="3877056"/>
            <a:ext cx="420624" cy="420624"/>
          </a:xfrm>
          <a:prstGeom prst="ellipse">
            <a:avLst/>
          </a:prstGeom>
          <a:solidFill>
            <a:srgbClr val="3333FF"/>
          </a:solidFill>
          <a:ln w="12700">
            <a:solidFill>
              <a:srgbClr val="CFD3F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548640" y="38770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1143000" y="3877056"/>
            <a:ext cx="6400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 o dashboard e o burndown</a:t>
            </a:r>
            <a:endParaRPr lang="en-US" sz="15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41080" y="0"/>
            <a:ext cx="502920" cy="5143500"/>
          </a:xfrm>
          <a:prstGeom prst="rect">
            <a:avLst/>
          </a:prstGeom>
          <a:solidFill>
            <a:srgbClr val="3333FF"/>
          </a:solidFill>
          <a:ln w="12700">
            <a:solidFill>
              <a:srgbClr val="3333FF"/>
            </a:solidFill>
            <a:prstDash val="solid"/>
          </a:ln>
        </p:spPr>
      </p:sp>
      <p:pic>
        <p:nvPicPr>
          <p:cNvPr id="3" name="Image 0" descr="/tmp/claude-1000/-media-arimateia-junior-Dados5-UNIFOR-DOCENTE-AZURE-DEVOPS/e87efb98-d81a-41ec-afb2-eea59369fc18/scratchpad/img/motivo_lil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0" y="109728"/>
            <a:ext cx="411480" cy="475488"/>
          </a:xfrm>
          <a:prstGeom prst="rect">
            <a:avLst/>
          </a:prstGeom>
        </p:spPr>
      </p:pic>
      <p:pic>
        <p:nvPicPr>
          <p:cNvPr id="4" name="Image 1" descr="/tmp/claude-1000/-media-arimateia-junior-Dados5-UNIFOR-DOCENTE-AZURE-DEVOPS/e87efb98-d81a-41ec-afb2-eea59369fc18/scratchpad/img/logo_posunifo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0" y="4846320"/>
            <a:ext cx="1097280" cy="256032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457200" y="274320"/>
            <a:ext cx="7955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1F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vamos acessar hoje</a:t>
            </a:r>
            <a:endParaRPr lang="en-US" sz="2600" dirty="0"/>
          </a:p>
        </p:txBody>
      </p:sp>
      <p:sp>
        <p:nvSpPr>
          <p:cNvPr id="6" name="Text 2"/>
          <p:cNvSpPr txBox="1"/>
          <p:nvPr/>
        </p:nvSpPr>
        <p:spPr>
          <a:xfrm>
            <a:off x="457200" y="822960"/>
            <a:ext cx="7955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Contas, equipes e projetos já foram preparados pelo professor</a:t>
            </a:r>
            <a:endParaRPr lang="en-US" sz="1300" dirty="0"/>
          </a:p>
        </p:txBody>
      </p:sp>
      <p:sp>
        <p:nvSpPr>
          <p:cNvPr id="7" name="Shape 3"/>
          <p:cNvSpPr/>
          <p:nvPr/>
        </p:nvSpPr>
        <p:spPr>
          <a:xfrm>
            <a:off x="457200" y="1325880"/>
            <a:ext cx="1856232" cy="2240280"/>
          </a:xfrm>
          <a:prstGeom prst="roundRect">
            <a:avLst>
              <a:gd name="adj" fmla="val 3941"/>
            </a:avLst>
          </a:prstGeom>
          <a:solidFill>
            <a:srgbClr val="E8EAFF"/>
          </a:solidFill>
          <a:ln w="12700">
            <a:solidFill>
              <a:srgbClr val="E8EAFF"/>
            </a:solidFill>
            <a:prstDash val="solid"/>
          </a:ln>
        </p:spPr>
      </p:sp>
      <p:sp>
        <p:nvSpPr>
          <p:cNvPr id="8" name="Shape 4"/>
          <p:cNvSpPr/>
          <p:nvPr/>
        </p:nvSpPr>
        <p:spPr>
          <a:xfrm>
            <a:off x="1097280" y="1463040"/>
            <a:ext cx="566928" cy="566928"/>
          </a:xfrm>
          <a:prstGeom prst="ellipse">
            <a:avLst/>
          </a:prstGeom>
          <a:solidFill>
            <a:srgbClr val="3333FF"/>
          </a:solidFill>
          <a:ln w="12700">
            <a:solidFill>
              <a:srgbClr val="3333FF"/>
            </a:solidFill>
            <a:prstDash val="solid"/>
          </a:ln>
        </p:spPr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44681" y="1610441"/>
            <a:ext cx="272125" cy="272125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548640" y="2148840"/>
            <a:ext cx="16733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21F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Acesse</a:t>
            </a:r>
            <a:endParaRPr lang="en-US" sz="1400" dirty="0"/>
          </a:p>
        </p:txBody>
      </p:sp>
      <p:sp>
        <p:nvSpPr>
          <p:cNvPr id="11" name="Text 6"/>
          <p:cNvSpPr txBox="1"/>
          <p:nvPr/>
        </p:nvSpPr>
        <p:spPr>
          <a:xfrm>
            <a:off x="594360" y="2487168"/>
            <a:ext cx="15819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dev.azure.com/unifor-mba-gp-2026</a:t>
            </a:r>
            <a:endParaRPr lang="en-US" sz="1100" dirty="0"/>
          </a:p>
        </p:txBody>
      </p:sp>
      <p:sp>
        <p:nvSpPr>
          <p:cNvPr id="12" name="Shape 7"/>
          <p:cNvSpPr/>
          <p:nvPr/>
        </p:nvSpPr>
        <p:spPr>
          <a:xfrm>
            <a:off x="2322576" y="2331720"/>
            <a:ext cx="118872" cy="201168"/>
          </a:xfrm>
          <a:prstGeom prst="rightArrow">
            <a:avLst/>
          </a:prstGeom>
          <a:solidFill>
            <a:srgbClr val="3333FF"/>
          </a:solidFill>
          <a:ln w="12700">
            <a:solidFill>
              <a:srgbClr val="3333FF"/>
            </a:solidFill>
            <a:prstDash val="solid"/>
          </a:ln>
        </p:spPr>
      </p:sp>
      <p:sp>
        <p:nvSpPr>
          <p:cNvPr id="13" name="Shape 8"/>
          <p:cNvSpPr/>
          <p:nvPr/>
        </p:nvSpPr>
        <p:spPr>
          <a:xfrm>
            <a:off x="2450592" y="1325880"/>
            <a:ext cx="1856232" cy="2240280"/>
          </a:xfrm>
          <a:prstGeom prst="roundRect">
            <a:avLst>
              <a:gd name="adj" fmla="val 3941"/>
            </a:avLst>
          </a:prstGeom>
          <a:solidFill>
            <a:srgbClr val="E8EAFF"/>
          </a:solidFill>
          <a:ln w="12700">
            <a:solidFill>
              <a:srgbClr val="E8EAFF"/>
            </a:solidFill>
            <a:prstDash val="solid"/>
          </a:ln>
        </p:spPr>
      </p:sp>
      <p:sp>
        <p:nvSpPr>
          <p:cNvPr id="14" name="Shape 9"/>
          <p:cNvSpPr/>
          <p:nvPr/>
        </p:nvSpPr>
        <p:spPr>
          <a:xfrm>
            <a:off x="3090672" y="1463040"/>
            <a:ext cx="566928" cy="566928"/>
          </a:xfrm>
          <a:prstGeom prst="ellipse">
            <a:avLst/>
          </a:prstGeom>
          <a:solidFill>
            <a:srgbClr val="3333FF"/>
          </a:solidFill>
          <a:ln w="12700">
            <a:solidFill>
              <a:srgbClr val="3333FF"/>
            </a:solidFill>
            <a:prstDash val="solid"/>
          </a:ln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38073" y="1610441"/>
            <a:ext cx="272125" cy="272125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2542032" y="2148840"/>
            <a:ext cx="16733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21F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Login</a:t>
            </a:r>
            <a:endParaRPr lang="en-US" sz="1400" dirty="0"/>
          </a:p>
        </p:txBody>
      </p:sp>
      <p:sp>
        <p:nvSpPr>
          <p:cNvPr id="17" name="Text 11"/>
          <p:cNvSpPr txBox="1"/>
          <p:nvPr/>
        </p:nvSpPr>
        <p:spPr>
          <a:xfrm>
            <a:off x="2587752" y="2487168"/>
            <a:ext cx="15819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nome.sobrenome@arijrtechnology.com.br e a senha da planilha (troque no 1º acesso).</a:t>
            </a:r>
            <a:endParaRPr lang="en-US" sz="1100" dirty="0"/>
          </a:p>
        </p:txBody>
      </p:sp>
      <p:sp>
        <p:nvSpPr>
          <p:cNvPr id="18" name="Shape 12"/>
          <p:cNvSpPr/>
          <p:nvPr/>
        </p:nvSpPr>
        <p:spPr>
          <a:xfrm>
            <a:off x="4315968" y="2331720"/>
            <a:ext cx="118872" cy="201168"/>
          </a:xfrm>
          <a:prstGeom prst="rightArrow">
            <a:avLst/>
          </a:prstGeom>
          <a:solidFill>
            <a:srgbClr val="3333FF"/>
          </a:solidFill>
          <a:ln w="12700">
            <a:solidFill>
              <a:srgbClr val="3333FF"/>
            </a:solidFill>
            <a:prstDash val="solid"/>
          </a:ln>
        </p:spPr>
      </p:sp>
      <p:sp>
        <p:nvSpPr>
          <p:cNvPr id="19" name="Shape 13"/>
          <p:cNvSpPr/>
          <p:nvPr/>
        </p:nvSpPr>
        <p:spPr>
          <a:xfrm>
            <a:off x="4443984" y="1325880"/>
            <a:ext cx="1856232" cy="2240280"/>
          </a:xfrm>
          <a:prstGeom prst="roundRect">
            <a:avLst>
              <a:gd name="adj" fmla="val 3941"/>
            </a:avLst>
          </a:prstGeom>
          <a:solidFill>
            <a:srgbClr val="E8EAFF"/>
          </a:solidFill>
          <a:ln w="12700">
            <a:solidFill>
              <a:srgbClr val="E8EAFF"/>
            </a:solidFill>
            <a:prstDash val="solid"/>
          </a:ln>
        </p:spPr>
      </p:sp>
      <p:sp>
        <p:nvSpPr>
          <p:cNvPr id="20" name="Shape 14"/>
          <p:cNvSpPr/>
          <p:nvPr/>
        </p:nvSpPr>
        <p:spPr>
          <a:xfrm>
            <a:off x="5084064" y="1463040"/>
            <a:ext cx="566928" cy="566928"/>
          </a:xfrm>
          <a:prstGeom prst="ellipse">
            <a:avLst/>
          </a:prstGeom>
          <a:solidFill>
            <a:srgbClr val="3333FF"/>
          </a:solidFill>
          <a:ln w="12700">
            <a:solidFill>
              <a:srgbClr val="3333FF"/>
            </a:solidFill>
            <a:prstDash val="solid"/>
          </a:ln>
        </p:spPr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31465" y="1610441"/>
            <a:ext cx="272125" cy="272125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4535424" y="2148840"/>
            <a:ext cx="16733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21F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Projeto</a:t>
            </a:r>
            <a:endParaRPr lang="en-US" sz="1400" dirty="0"/>
          </a:p>
        </p:txBody>
      </p:sp>
      <p:sp>
        <p:nvSpPr>
          <p:cNvPr id="23" name="Text 16"/>
          <p:cNvSpPr txBox="1"/>
          <p:nvPr/>
        </p:nvSpPr>
        <p:spPr>
          <a:xfrm>
            <a:off x="4581144" y="2487168"/>
            <a:ext cx="15819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Abra o projeto da sua equipe (ex.: 03-scrum-banking).</a:t>
            </a:r>
            <a:endParaRPr lang="en-US" sz="1100" dirty="0"/>
          </a:p>
        </p:txBody>
      </p:sp>
      <p:sp>
        <p:nvSpPr>
          <p:cNvPr id="24" name="Shape 17"/>
          <p:cNvSpPr/>
          <p:nvPr/>
        </p:nvSpPr>
        <p:spPr>
          <a:xfrm>
            <a:off x="6309360" y="2331720"/>
            <a:ext cx="118872" cy="201168"/>
          </a:xfrm>
          <a:prstGeom prst="rightArrow">
            <a:avLst/>
          </a:prstGeom>
          <a:solidFill>
            <a:srgbClr val="3333FF"/>
          </a:solidFill>
          <a:ln w="12700">
            <a:solidFill>
              <a:srgbClr val="3333FF"/>
            </a:solidFill>
            <a:prstDash val="solid"/>
          </a:ln>
        </p:spPr>
      </p:sp>
      <p:sp>
        <p:nvSpPr>
          <p:cNvPr id="25" name="Shape 18"/>
          <p:cNvSpPr/>
          <p:nvPr/>
        </p:nvSpPr>
        <p:spPr>
          <a:xfrm>
            <a:off x="6437376" y="1325880"/>
            <a:ext cx="1856232" cy="2240280"/>
          </a:xfrm>
          <a:prstGeom prst="roundRect">
            <a:avLst>
              <a:gd name="adj" fmla="val 3941"/>
            </a:avLst>
          </a:prstGeom>
          <a:solidFill>
            <a:srgbClr val="E8EAFF"/>
          </a:solidFill>
          <a:ln w="12700">
            <a:solidFill>
              <a:srgbClr val="E8EAFF"/>
            </a:solidFill>
            <a:prstDash val="solid"/>
          </a:ln>
        </p:spPr>
      </p:sp>
      <p:sp>
        <p:nvSpPr>
          <p:cNvPr id="26" name="Shape 19"/>
          <p:cNvSpPr/>
          <p:nvPr/>
        </p:nvSpPr>
        <p:spPr>
          <a:xfrm>
            <a:off x="7077456" y="1463040"/>
            <a:ext cx="566928" cy="566928"/>
          </a:xfrm>
          <a:prstGeom prst="ellipse">
            <a:avLst/>
          </a:prstGeom>
          <a:solidFill>
            <a:srgbClr val="3333FF"/>
          </a:solidFill>
          <a:ln w="12700">
            <a:solidFill>
              <a:srgbClr val="3333FF"/>
            </a:solidFill>
            <a:prstDash val="solid"/>
          </a:ln>
        </p:spPr>
      </p:sp>
      <p:pic>
        <p:nvPicPr>
          <p:cNvPr id="2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24857" y="1610441"/>
            <a:ext cx="272125" cy="272125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6528816" y="2148840"/>
            <a:ext cx="16733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21F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Confirme</a:t>
            </a:r>
            <a:endParaRPr lang="en-US" sz="1400" dirty="0"/>
          </a:p>
        </p:txBody>
      </p:sp>
      <p:sp>
        <p:nvSpPr>
          <p:cNvPr id="29" name="Text 21"/>
          <p:cNvSpPr txBox="1"/>
          <p:nvPr/>
        </p:nvSpPr>
        <p:spPr>
          <a:xfrm>
            <a:off x="6574536" y="2487168"/>
            <a:ext cx="15819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 Boards visível? Então está pronto!</a:t>
            </a:r>
            <a:endParaRPr lang="en-US" sz="1100" dirty="0"/>
          </a:p>
        </p:txBody>
      </p:sp>
      <p:sp>
        <p:nvSpPr>
          <p:cNvPr id="30" name="Shape 22"/>
          <p:cNvSpPr/>
          <p:nvPr/>
        </p:nvSpPr>
        <p:spPr>
          <a:xfrm>
            <a:off x="457200" y="3749040"/>
            <a:ext cx="7863840" cy="868680"/>
          </a:xfrm>
          <a:prstGeom prst="roundRect">
            <a:avLst>
              <a:gd name="adj" fmla="val 8421"/>
            </a:avLst>
          </a:prstGeom>
          <a:solidFill>
            <a:srgbClr val="E8EAFF"/>
          </a:solidFill>
          <a:ln w="12700">
            <a:solidFill>
              <a:srgbClr val="E8EAFF"/>
            </a:solidFill>
            <a:prstDash val="solid"/>
          </a:ln>
        </p:spPr>
      </p:sp>
      <p:sp>
        <p:nvSpPr>
          <p:cNvPr id="31" name="Shape 23"/>
          <p:cNvSpPr/>
          <p:nvPr/>
        </p:nvSpPr>
        <p:spPr>
          <a:xfrm>
            <a:off x="594360" y="3886200"/>
            <a:ext cx="566928" cy="566928"/>
          </a:xfrm>
          <a:prstGeom prst="ellipse">
            <a:avLst/>
          </a:prstGeom>
          <a:solidFill>
            <a:srgbClr val="121F8F"/>
          </a:solidFill>
          <a:ln w="12700">
            <a:solidFill>
              <a:srgbClr val="121F8F"/>
            </a:solidFill>
            <a:prstDash val="solid"/>
          </a:ln>
        </p:spPr>
      </p:sp>
      <p:pic>
        <p:nvPicPr>
          <p:cNvPr id="32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1761" y="4033601"/>
            <a:ext cx="272125" cy="272125"/>
          </a:xfrm>
          <a:prstGeom prst="rect">
            <a:avLst/>
          </a:prstGeom>
        </p:spPr>
      </p:pic>
      <p:sp>
        <p:nvSpPr>
          <p:cNvPr id="33" name="Text 24"/>
          <p:cNvSpPr txBox="1"/>
          <p:nvPr/>
        </p:nvSpPr>
        <p:spPr>
          <a:xfrm>
            <a:off x="1325880" y="3767328"/>
            <a:ext cx="6858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1F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depois da aula: </a:t>
            </a:r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programa Azure for Students (azure.microsoft.com/free/students) dá US$ 100 em créditos por 12 meses, sem cartão de crédito, validando com o e-mail institucional.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41080" y="0"/>
            <a:ext cx="502920" cy="5143500"/>
          </a:xfrm>
          <a:prstGeom prst="rect">
            <a:avLst/>
          </a:prstGeom>
          <a:solidFill>
            <a:srgbClr val="3333FF"/>
          </a:solidFill>
          <a:ln w="12700">
            <a:solidFill>
              <a:srgbClr val="3333FF"/>
            </a:solidFill>
            <a:prstDash val="solid"/>
          </a:ln>
        </p:spPr>
      </p:sp>
      <p:pic>
        <p:nvPicPr>
          <p:cNvPr id="3" name="Image 0" descr="/tmp/claude-1000/-media-arimateia-junior-Dados5-UNIFOR-DOCENTE-AZURE-DEVOPS/e87efb98-d81a-41ec-afb2-eea59369fc18/scratchpad/img/motivo_lil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0" y="109728"/>
            <a:ext cx="411480" cy="475488"/>
          </a:xfrm>
          <a:prstGeom prst="rect">
            <a:avLst/>
          </a:prstGeom>
        </p:spPr>
      </p:pic>
      <p:pic>
        <p:nvPicPr>
          <p:cNvPr id="4" name="Image 1" descr="/tmp/claude-1000/-media-arimateia-junior-Dados5-UNIFOR-DOCENTE-AZURE-DEVOPS/e87efb98-d81a-41ec-afb2-eea59369fc18/scratchpad/img/logo_posunifo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0" y="4846320"/>
            <a:ext cx="1097280" cy="256032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457200" y="274320"/>
            <a:ext cx="7955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1F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a turma está organizada</a:t>
            </a:r>
            <a:endParaRPr lang="en-US" sz="2600" dirty="0"/>
          </a:p>
        </p:txBody>
      </p:sp>
      <p:sp>
        <p:nvSpPr>
          <p:cNvPr id="6" name="Text 2"/>
          <p:cNvSpPr txBox="1"/>
          <p:nvPr/>
        </p:nvSpPr>
        <p:spPr>
          <a:xfrm>
            <a:off x="457200" y="822960"/>
            <a:ext cx="7955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organização · 4 projetos · 1 processo por projeto</a:t>
            </a:r>
            <a:endParaRPr lang="en-US" sz="1300" dirty="0"/>
          </a:p>
        </p:txBody>
      </p:sp>
      <p:sp>
        <p:nvSpPr>
          <p:cNvPr id="7" name="Shape 3"/>
          <p:cNvSpPr/>
          <p:nvPr/>
        </p:nvSpPr>
        <p:spPr>
          <a:xfrm>
            <a:off x="2377440" y="1234440"/>
            <a:ext cx="4023360" cy="548640"/>
          </a:xfrm>
          <a:prstGeom prst="roundRect">
            <a:avLst>
              <a:gd name="adj" fmla="val 13333"/>
            </a:avLst>
          </a:prstGeom>
          <a:solidFill>
            <a:srgbClr val="121F8F"/>
          </a:solidFill>
          <a:ln w="12700">
            <a:solidFill>
              <a:srgbClr val="121F8F"/>
            </a:solidFill>
            <a:prstDash val="solid"/>
          </a:ln>
        </p:spPr>
      </p:sp>
      <p:sp>
        <p:nvSpPr>
          <p:cNvPr id="8" name="Shape 4"/>
          <p:cNvSpPr/>
          <p:nvPr/>
        </p:nvSpPr>
        <p:spPr>
          <a:xfrm>
            <a:off x="4389120" y="1783080"/>
            <a:ext cx="0" cy="246888"/>
          </a:xfrm>
          <a:prstGeom prst="line">
            <a:avLst/>
          </a:prstGeom>
          <a:noFill/>
          <a:ln w="19050">
            <a:solidFill>
              <a:srgbClr val="3333FF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1385316" y="2029968"/>
            <a:ext cx="5980176" cy="0"/>
          </a:xfrm>
          <a:prstGeom prst="line">
            <a:avLst/>
          </a:prstGeom>
          <a:noFill/>
          <a:ln w="19050">
            <a:solidFill>
              <a:srgbClr val="3333FF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2377440" y="1234440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Organização da turma (Azure DevOps)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1385316" y="2029968"/>
            <a:ext cx="0" cy="256032"/>
          </a:xfrm>
          <a:prstGeom prst="line">
            <a:avLst/>
          </a:prstGeom>
          <a:noFill/>
          <a:ln w="19050">
            <a:solidFill>
              <a:srgbClr val="3333FF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457200" y="2286000"/>
            <a:ext cx="1856232" cy="1325880"/>
          </a:xfrm>
          <a:prstGeom prst="roundRect">
            <a:avLst>
              <a:gd name="adj" fmla="val 5517"/>
            </a:avLst>
          </a:prstGeom>
          <a:solidFill>
            <a:srgbClr val="E8EAFF"/>
          </a:solidFill>
          <a:ln w="12700">
            <a:solidFill>
              <a:srgbClr val="E8EAFF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457200" y="2359152"/>
            <a:ext cx="18562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33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Basic</a:t>
            </a:r>
            <a:endParaRPr lang="en-US" sz="2000" dirty="0"/>
          </a:p>
        </p:txBody>
      </p:sp>
      <p:sp>
        <p:nvSpPr>
          <p:cNvPr id="14" name="Text 10"/>
          <p:cNvSpPr txBox="1"/>
          <p:nvPr/>
        </p:nvSpPr>
        <p:spPr>
          <a:xfrm>
            <a:off x="457200" y="2788920"/>
            <a:ext cx="1856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01-basic-portal</a:t>
            </a:r>
            <a:endParaRPr lang="en-US" sz="1100" dirty="0"/>
          </a:p>
        </p:txBody>
      </p:sp>
      <p:sp>
        <p:nvSpPr>
          <p:cNvPr id="15" name="Text 11"/>
          <p:cNvSpPr txBox="1"/>
          <p:nvPr/>
        </p:nvSpPr>
        <p:spPr>
          <a:xfrm>
            <a:off x="457200" y="3108960"/>
            <a:ext cx="18562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21F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Equipe 01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3378708" y="2029968"/>
            <a:ext cx="0" cy="256032"/>
          </a:xfrm>
          <a:prstGeom prst="line">
            <a:avLst/>
          </a:prstGeom>
          <a:noFill/>
          <a:ln w="19050">
            <a:solidFill>
              <a:srgbClr val="3333FF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2450592" y="2286000"/>
            <a:ext cx="1856232" cy="1325880"/>
          </a:xfrm>
          <a:prstGeom prst="roundRect">
            <a:avLst>
              <a:gd name="adj" fmla="val 5517"/>
            </a:avLst>
          </a:prstGeom>
          <a:solidFill>
            <a:srgbClr val="E8EAFF"/>
          </a:solidFill>
          <a:ln w="12700">
            <a:solidFill>
              <a:srgbClr val="E8EAFF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2450592" y="2359152"/>
            <a:ext cx="18562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33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Agile</a:t>
            </a:r>
            <a:endParaRPr lang="en-US" sz="2000" dirty="0"/>
          </a:p>
        </p:txBody>
      </p:sp>
      <p:sp>
        <p:nvSpPr>
          <p:cNvPr id="19" name="Text 15"/>
          <p:cNvSpPr txBox="1"/>
          <p:nvPr/>
        </p:nvSpPr>
        <p:spPr>
          <a:xfrm>
            <a:off x="2450592" y="2788920"/>
            <a:ext cx="1856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02-agile-delivery</a:t>
            </a:r>
            <a:endParaRPr lang="en-US" sz="1100" dirty="0"/>
          </a:p>
        </p:txBody>
      </p:sp>
      <p:sp>
        <p:nvSpPr>
          <p:cNvPr id="20" name="Text 16"/>
          <p:cNvSpPr txBox="1"/>
          <p:nvPr/>
        </p:nvSpPr>
        <p:spPr>
          <a:xfrm>
            <a:off x="2450592" y="3108960"/>
            <a:ext cx="18562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21F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Equipe 02</a:t>
            </a:r>
            <a:endParaRPr lang="en-US" sz="1200" dirty="0"/>
          </a:p>
        </p:txBody>
      </p:sp>
      <p:sp>
        <p:nvSpPr>
          <p:cNvPr id="21" name="Shape 17"/>
          <p:cNvSpPr/>
          <p:nvPr/>
        </p:nvSpPr>
        <p:spPr>
          <a:xfrm>
            <a:off x="5372100" y="2029968"/>
            <a:ext cx="0" cy="256032"/>
          </a:xfrm>
          <a:prstGeom prst="line">
            <a:avLst/>
          </a:prstGeom>
          <a:noFill/>
          <a:ln w="19050">
            <a:solidFill>
              <a:srgbClr val="3333FF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4443984" y="2286000"/>
            <a:ext cx="1856232" cy="1325880"/>
          </a:xfrm>
          <a:prstGeom prst="roundRect">
            <a:avLst>
              <a:gd name="adj" fmla="val 5517"/>
            </a:avLst>
          </a:prstGeom>
          <a:solidFill>
            <a:srgbClr val="E8EAFF"/>
          </a:solidFill>
          <a:ln w="12700">
            <a:solidFill>
              <a:srgbClr val="E8EAFF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4443984" y="2359152"/>
            <a:ext cx="18562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33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Scrum</a:t>
            </a:r>
            <a:endParaRPr lang="en-US" sz="2000" dirty="0"/>
          </a:p>
        </p:txBody>
      </p:sp>
      <p:sp>
        <p:nvSpPr>
          <p:cNvPr id="24" name="Text 20"/>
          <p:cNvSpPr txBox="1"/>
          <p:nvPr/>
        </p:nvSpPr>
        <p:spPr>
          <a:xfrm>
            <a:off x="4443984" y="2788920"/>
            <a:ext cx="1856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03-scrum-banking</a:t>
            </a:r>
            <a:endParaRPr lang="en-US" sz="1100" dirty="0"/>
          </a:p>
        </p:txBody>
      </p:sp>
      <p:sp>
        <p:nvSpPr>
          <p:cNvPr id="25" name="Text 21"/>
          <p:cNvSpPr txBox="1"/>
          <p:nvPr/>
        </p:nvSpPr>
        <p:spPr>
          <a:xfrm>
            <a:off x="4443984" y="3108960"/>
            <a:ext cx="18562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21F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Equipe 03</a:t>
            </a:r>
            <a:endParaRPr lang="en-US" sz="1200" dirty="0"/>
          </a:p>
        </p:txBody>
      </p:sp>
      <p:sp>
        <p:nvSpPr>
          <p:cNvPr id="26" name="Shape 22"/>
          <p:cNvSpPr/>
          <p:nvPr/>
        </p:nvSpPr>
        <p:spPr>
          <a:xfrm>
            <a:off x="7365492" y="2029968"/>
            <a:ext cx="0" cy="256032"/>
          </a:xfrm>
          <a:prstGeom prst="line">
            <a:avLst/>
          </a:prstGeom>
          <a:noFill/>
          <a:ln w="19050">
            <a:solidFill>
              <a:srgbClr val="3333FF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6437376" y="2286000"/>
            <a:ext cx="1856232" cy="1325880"/>
          </a:xfrm>
          <a:prstGeom prst="roundRect">
            <a:avLst>
              <a:gd name="adj" fmla="val 5517"/>
            </a:avLst>
          </a:prstGeom>
          <a:solidFill>
            <a:srgbClr val="E8EAFF"/>
          </a:solidFill>
          <a:ln w="12700">
            <a:solidFill>
              <a:srgbClr val="E8EAFF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6437376" y="2359152"/>
            <a:ext cx="18562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33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CMMI</a:t>
            </a:r>
            <a:endParaRPr lang="en-US" sz="2000" dirty="0"/>
          </a:p>
        </p:txBody>
      </p:sp>
      <p:sp>
        <p:nvSpPr>
          <p:cNvPr id="29" name="Text 25"/>
          <p:cNvSpPr txBox="1"/>
          <p:nvPr/>
        </p:nvSpPr>
        <p:spPr>
          <a:xfrm>
            <a:off x="6437376" y="2788920"/>
            <a:ext cx="1856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04-cmmi-governance</a:t>
            </a:r>
            <a:endParaRPr lang="en-US" sz="1100" dirty="0"/>
          </a:p>
        </p:txBody>
      </p:sp>
      <p:sp>
        <p:nvSpPr>
          <p:cNvPr id="30" name="Text 26"/>
          <p:cNvSpPr txBox="1"/>
          <p:nvPr/>
        </p:nvSpPr>
        <p:spPr>
          <a:xfrm>
            <a:off x="6437376" y="3108960"/>
            <a:ext cx="18562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21F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Equipe 04</a:t>
            </a:r>
            <a:endParaRPr lang="en-US" sz="1200" dirty="0"/>
          </a:p>
        </p:txBody>
      </p:sp>
      <p:sp>
        <p:nvSpPr>
          <p:cNvPr id="31" name="Text 27"/>
          <p:cNvSpPr txBox="1"/>
          <p:nvPr/>
        </p:nvSpPr>
        <p:spPr>
          <a:xfrm>
            <a:off x="457200" y="388620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Todos com acesso Basic, no grupo Contributors do projeto da própria equipe. O professor acompanha os 4 projetos em tempo real.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41080" y="0"/>
            <a:ext cx="502920" cy="5143500"/>
          </a:xfrm>
          <a:prstGeom prst="rect">
            <a:avLst/>
          </a:prstGeom>
          <a:solidFill>
            <a:srgbClr val="3333FF"/>
          </a:solidFill>
          <a:ln w="12700">
            <a:solidFill>
              <a:srgbClr val="3333FF"/>
            </a:solidFill>
            <a:prstDash val="solid"/>
          </a:ln>
        </p:spPr>
      </p:sp>
      <p:pic>
        <p:nvPicPr>
          <p:cNvPr id="3" name="Image 0" descr="/tmp/claude-1000/-media-arimateia-junior-Dados5-UNIFOR-DOCENTE-AZURE-DEVOPS/e87efb98-d81a-41ec-afb2-eea59369fc18/scratchpad/img/motivo_lil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0" y="109728"/>
            <a:ext cx="411480" cy="475488"/>
          </a:xfrm>
          <a:prstGeom prst="rect">
            <a:avLst/>
          </a:prstGeom>
        </p:spPr>
      </p:pic>
      <p:pic>
        <p:nvPicPr>
          <p:cNvPr id="4" name="Image 1" descr="/tmp/claude-1000/-media-arimateia-junior-Dados5-UNIFOR-DOCENTE-AZURE-DEVOPS/e87efb98-d81a-41ec-afb2-eea59369fc18/scratchpad/img/logo_posunifo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0" y="4846320"/>
            <a:ext cx="1097280" cy="256032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457200" y="274320"/>
            <a:ext cx="7955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1F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Equipes</a:t>
            </a:r>
            <a:endParaRPr lang="en-US" sz="2600" dirty="0"/>
          </a:p>
        </p:txBody>
      </p:sp>
      <p:sp>
        <p:nvSpPr>
          <p:cNvPr id="6" name="Shape 2"/>
          <p:cNvSpPr/>
          <p:nvPr/>
        </p:nvSpPr>
        <p:spPr>
          <a:xfrm>
            <a:off x="457200" y="1051560"/>
            <a:ext cx="1856232" cy="3566160"/>
          </a:xfrm>
          <a:prstGeom prst="roundRect">
            <a:avLst>
              <a:gd name="adj" fmla="val 3941"/>
            </a:avLst>
          </a:prstGeom>
          <a:solidFill>
            <a:srgbClr val="E8EAFF"/>
          </a:solidFill>
          <a:ln w="12700">
            <a:solidFill>
              <a:srgbClr val="E8EAFF"/>
            </a:solidFill>
            <a:prstDash val="solid"/>
          </a:ln>
        </p:spPr>
      </p:sp>
      <p:sp>
        <p:nvSpPr>
          <p:cNvPr id="7" name="Shape 3"/>
          <p:cNvSpPr/>
          <p:nvPr/>
        </p:nvSpPr>
        <p:spPr>
          <a:xfrm>
            <a:off x="457200" y="1051560"/>
            <a:ext cx="1856232" cy="502920"/>
          </a:xfrm>
          <a:prstGeom prst="roundRect">
            <a:avLst>
              <a:gd name="adj" fmla="val 14545"/>
            </a:avLst>
          </a:prstGeom>
          <a:solidFill>
            <a:srgbClr val="121F8F"/>
          </a:solidFill>
          <a:ln w="12700">
            <a:solidFill>
              <a:srgbClr val="121F8F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457200" y="1051560"/>
            <a:ext cx="18562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Equipe 01 · Basic</a:t>
            </a:r>
            <a:endParaRPr lang="en-US" sz="1200" dirty="0"/>
          </a:p>
        </p:txBody>
      </p:sp>
      <p:sp>
        <p:nvSpPr>
          <p:cNvPr id="9" name="Text 5"/>
          <p:cNvSpPr txBox="1"/>
          <p:nvPr/>
        </p:nvSpPr>
        <p:spPr>
          <a:xfrm>
            <a:off x="566928" y="1691640"/>
            <a:ext cx="16459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alunos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Composição enviada no grupo da turma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2450592" y="1051560"/>
            <a:ext cx="1856232" cy="3566160"/>
          </a:xfrm>
          <a:prstGeom prst="roundRect">
            <a:avLst>
              <a:gd name="adj" fmla="val 3941"/>
            </a:avLst>
          </a:prstGeom>
          <a:solidFill>
            <a:srgbClr val="E8EAFF"/>
          </a:solidFill>
          <a:ln w="12700">
            <a:solidFill>
              <a:srgbClr val="E8EAFF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2450592" y="1051560"/>
            <a:ext cx="1856232" cy="502920"/>
          </a:xfrm>
          <a:prstGeom prst="roundRect">
            <a:avLst>
              <a:gd name="adj" fmla="val 14545"/>
            </a:avLst>
          </a:prstGeom>
          <a:solidFill>
            <a:srgbClr val="121F8F"/>
          </a:solidFill>
          <a:ln w="12700">
            <a:solidFill>
              <a:srgbClr val="121F8F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2450592" y="1051560"/>
            <a:ext cx="18562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Equipe 02 · Agile</a:t>
            </a:r>
            <a:endParaRPr lang="en-US" sz="1200" dirty="0"/>
          </a:p>
        </p:txBody>
      </p:sp>
      <p:sp>
        <p:nvSpPr>
          <p:cNvPr id="13" name="Text 9"/>
          <p:cNvSpPr txBox="1"/>
          <p:nvPr/>
        </p:nvSpPr>
        <p:spPr>
          <a:xfrm>
            <a:off x="2560320" y="1691640"/>
            <a:ext cx="16459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alunos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Composição enviada no grupo da turma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4443984" y="1051560"/>
            <a:ext cx="1856232" cy="3566160"/>
          </a:xfrm>
          <a:prstGeom prst="roundRect">
            <a:avLst>
              <a:gd name="adj" fmla="val 3941"/>
            </a:avLst>
          </a:prstGeom>
          <a:solidFill>
            <a:srgbClr val="E8EAFF"/>
          </a:solidFill>
          <a:ln w="12700">
            <a:solidFill>
              <a:srgbClr val="E8EAFF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4443984" y="1051560"/>
            <a:ext cx="1856232" cy="502920"/>
          </a:xfrm>
          <a:prstGeom prst="roundRect">
            <a:avLst>
              <a:gd name="adj" fmla="val 14545"/>
            </a:avLst>
          </a:prstGeom>
          <a:solidFill>
            <a:srgbClr val="121F8F"/>
          </a:solidFill>
          <a:ln w="12700">
            <a:solidFill>
              <a:srgbClr val="121F8F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4443984" y="1051560"/>
            <a:ext cx="18562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Equipe 03 · Scrum</a:t>
            </a:r>
            <a:endParaRPr lang="en-US" sz="1200" dirty="0"/>
          </a:p>
        </p:txBody>
      </p:sp>
      <p:sp>
        <p:nvSpPr>
          <p:cNvPr id="17" name="Text 13"/>
          <p:cNvSpPr txBox="1"/>
          <p:nvPr/>
        </p:nvSpPr>
        <p:spPr>
          <a:xfrm>
            <a:off x="4553712" y="1691640"/>
            <a:ext cx="16459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alunos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Composição enviada no grupo da turma</a:t>
            </a:r>
            <a:endParaRPr lang="en-US" sz="1100" dirty="0"/>
          </a:p>
        </p:txBody>
      </p:sp>
      <p:sp>
        <p:nvSpPr>
          <p:cNvPr id="18" name="Shape 14"/>
          <p:cNvSpPr/>
          <p:nvPr/>
        </p:nvSpPr>
        <p:spPr>
          <a:xfrm>
            <a:off x="6437376" y="1051560"/>
            <a:ext cx="1856232" cy="3566160"/>
          </a:xfrm>
          <a:prstGeom prst="roundRect">
            <a:avLst>
              <a:gd name="adj" fmla="val 3941"/>
            </a:avLst>
          </a:prstGeom>
          <a:solidFill>
            <a:srgbClr val="E8EAFF"/>
          </a:solidFill>
          <a:ln w="12700">
            <a:solidFill>
              <a:srgbClr val="E8EAFF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6437376" y="1051560"/>
            <a:ext cx="1856232" cy="502920"/>
          </a:xfrm>
          <a:prstGeom prst="roundRect">
            <a:avLst>
              <a:gd name="adj" fmla="val 14545"/>
            </a:avLst>
          </a:prstGeom>
          <a:solidFill>
            <a:srgbClr val="121F8F"/>
          </a:solidFill>
          <a:ln w="12700">
            <a:solidFill>
              <a:srgbClr val="121F8F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6437376" y="1051560"/>
            <a:ext cx="18562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Equipe 04 · CMMI</a:t>
            </a:r>
            <a:endParaRPr lang="en-US" sz="1200" dirty="0"/>
          </a:p>
        </p:txBody>
      </p:sp>
      <p:sp>
        <p:nvSpPr>
          <p:cNvPr id="21" name="Text 17"/>
          <p:cNvSpPr txBox="1"/>
          <p:nvPr/>
        </p:nvSpPr>
        <p:spPr>
          <a:xfrm>
            <a:off x="6547104" y="1691640"/>
            <a:ext cx="16459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alunos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Composição enviada no grupo da turma</a:t>
            </a:r>
            <a:endParaRPr lang="en-US" sz="11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41080" y="0"/>
            <a:ext cx="502920" cy="5143500"/>
          </a:xfrm>
          <a:prstGeom prst="rect">
            <a:avLst/>
          </a:prstGeom>
          <a:solidFill>
            <a:srgbClr val="3333FF"/>
          </a:solidFill>
          <a:ln w="12700">
            <a:solidFill>
              <a:srgbClr val="3333FF"/>
            </a:solidFill>
            <a:prstDash val="solid"/>
          </a:ln>
        </p:spPr>
      </p:sp>
      <p:pic>
        <p:nvPicPr>
          <p:cNvPr id="3" name="Image 0" descr="/tmp/claude-1000/-media-arimateia-junior-Dados5-UNIFOR-DOCENTE-AZURE-DEVOPS/e87efb98-d81a-41ec-afb2-eea59369fc18/scratchpad/img/motivo_lil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0" y="109728"/>
            <a:ext cx="411480" cy="475488"/>
          </a:xfrm>
          <a:prstGeom prst="rect">
            <a:avLst/>
          </a:prstGeom>
        </p:spPr>
      </p:pic>
      <p:pic>
        <p:nvPicPr>
          <p:cNvPr id="4" name="Image 1" descr="/tmp/claude-1000/-media-arimateia-junior-Dados5-UNIFOR-DOCENTE-AZURE-DEVOPS/e87efb98-d81a-41ec-afb2-eea59369fc18/scratchpad/img/logo_posunifo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0" y="4846320"/>
            <a:ext cx="1097280" cy="256032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457200" y="274320"/>
            <a:ext cx="7955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1F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cenários de cada equipe</a:t>
            </a:r>
            <a:endParaRPr lang="en-US" sz="2600" dirty="0"/>
          </a:p>
        </p:txBody>
      </p:sp>
      <p:sp>
        <p:nvSpPr>
          <p:cNvPr id="6" name="Text 2"/>
          <p:cNvSpPr txBox="1"/>
          <p:nvPr/>
        </p:nvSpPr>
        <p:spPr>
          <a:xfrm>
            <a:off x="457200" y="822960"/>
            <a:ext cx="7955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 e pipelines já prontos: o foco é a gestão do projeto</a:t>
            </a:r>
            <a:endParaRPr lang="en-US" sz="1300" dirty="0"/>
          </a:p>
        </p:txBody>
      </p:sp>
      <p:sp>
        <p:nvSpPr>
          <p:cNvPr id="7" name="Shape 3"/>
          <p:cNvSpPr/>
          <p:nvPr/>
        </p:nvSpPr>
        <p:spPr>
          <a:xfrm>
            <a:off x="457200" y="1280160"/>
            <a:ext cx="1856232" cy="2834640"/>
          </a:xfrm>
          <a:prstGeom prst="roundRect">
            <a:avLst>
              <a:gd name="adj" fmla="val 3941"/>
            </a:avLst>
          </a:prstGeom>
          <a:solidFill>
            <a:srgbClr val="E8EAFF"/>
          </a:solidFill>
          <a:ln w="12700">
            <a:solidFill>
              <a:srgbClr val="E8EAFF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457200" y="1371600"/>
            <a:ext cx="1856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Basic</a:t>
            </a:r>
            <a:endParaRPr lang="en-US" sz="18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1783080"/>
            <a:ext cx="16733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21F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Portal do Cliente</a:t>
            </a:r>
            <a:endParaRPr lang="en-US" sz="1300" dirty="0"/>
          </a:p>
        </p:txBody>
      </p:sp>
      <p:sp>
        <p:nvSpPr>
          <p:cNvPr id="10" name="Text 6"/>
          <p:cNvSpPr txBox="1"/>
          <p:nvPr/>
        </p:nvSpPr>
        <p:spPr>
          <a:xfrm>
            <a:off x="566928" y="2377440"/>
            <a:ext cx="16367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 acompanha solicitações, status e comunicados</a:t>
            </a:r>
            <a:endParaRPr lang="en-US" sz="1100" dirty="0"/>
          </a:p>
        </p:txBody>
      </p:sp>
      <p:sp>
        <p:nvSpPr>
          <p:cNvPr id="11" name="Text 7"/>
          <p:cNvSpPr txBox="1"/>
          <p:nvPr/>
        </p:nvSpPr>
        <p:spPr>
          <a:xfrm>
            <a:off x="566928" y="3154680"/>
            <a:ext cx="16367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Mínimo: 1 Epic · 5 Issues · 10 Tasks</a:t>
            </a:r>
            <a:endParaRPr lang="en-US" sz="1000" dirty="0"/>
          </a:p>
        </p:txBody>
      </p:sp>
      <p:sp>
        <p:nvSpPr>
          <p:cNvPr id="12" name="Shape 8"/>
          <p:cNvSpPr/>
          <p:nvPr/>
        </p:nvSpPr>
        <p:spPr>
          <a:xfrm>
            <a:off x="2450592" y="1280160"/>
            <a:ext cx="1856232" cy="2834640"/>
          </a:xfrm>
          <a:prstGeom prst="roundRect">
            <a:avLst>
              <a:gd name="adj" fmla="val 3941"/>
            </a:avLst>
          </a:prstGeom>
          <a:solidFill>
            <a:srgbClr val="E8EAFF"/>
          </a:solidFill>
          <a:ln w="12700">
            <a:solidFill>
              <a:srgbClr val="E8EAFF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2450592" y="1371600"/>
            <a:ext cx="1856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Agile</a:t>
            </a:r>
            <a:endParaRPr lang="en-US" sz="1800" dirty="0"/>
          </a:p>
        </p:txBody>
      </p:sp>
      <p:sp>
        <p:nvSpPr>
          <p:cNvPr id="14" name="Text 10"/>
          <p:cNvSpPr txBox="1"/>
          <p:nvPr/>
        </p:nvSpPr>
        <p:spPr>
          <a:xfrm>
            <a:off x="2542032" y="1783080"/>
            <a:ext cx="16733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21F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 de Delivery</a:t>
            </a:r>
            <a:endParaRPr lang="en-US" sz="1300" dirty="0"/>
          </a:p>
        </p:txBody>
      </p:sp>
      <p:sp>
        <p:nvSpPr>
          <p:cNvPr id="15" name="Text 11"/>
          <p:cNvSpPr txBox="1"/>
          <p:nvPr/>
        </p:nvSpPr>
        <p:spPr>
          <a:xfrm>
            <a:off x="2560320" y="2377440"/>
            <a:ext cx="16367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Pedidos, rastreamento e entrega</a:t>
            </a:r>
            <a:endParaRPr lang="en-US" sz="1100" dirty="0"/>
          </a:p>
        </p:txBody>
      </p:sp>
      <p:sp>
        <p:nvSpPr>
          <p:cNvPr id="16" name="Text 12"/>
          <p:cNvSpPr txBox="1"/>
          <p:nvPr/>
        </p:nvSpPr>
        <p:spPr>
          <a:xfrm>
            <a:off x="2560320" y="3154680"/>
            <a:ext cx="16367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Mínimo: 1 Epic · 3 Features · 6 User Stories · 10 Tasks</a:t>
            </a:r>
            <a:endParaRPr lang="en-US" sz="1000" dirty="0"/>
          </a:p>
        </p:txBody>
      </p:sp>
      <p:sp>
        <p:nvSpPr>
          <p:cNvPr id="17" name="Shape 13"/>
          <p:cNvSpPr/>
          <p:nvPr/>
        </p:nvSpPr>
        <p:spPr>
          <a:xfrm>
            <a:off x="4443984" y="1280160"/>
            <a:ext cx="1856232" cy="2834640"/>
          </a:xfrm>
          <a:prstGeom prst="roundRect">
            <a:avLst>
              <a:gd name="adj" fmla="val 3941"/>
            </a:avLst>
          </a:prstGeom>
          <a:solidFill>
            <a:srgbClr val="E8EAFF"/>
          </a:solidFill>
          <a:ln w="12700">
            <a:solidFill>
              <a:srgbClr val="E8EAFF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4443984" y="1371600"/>
            <a:ext cx="1856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Scrum</a:t>
            </a:r>
            <a:endParaRPr lang="en-US" sz="1800" dirty="0"/>
          </a:p>
        </p:txBody>
      </p:sp>
      <p:sp>
        <p:nvSpPr>
          <p:cNvPr id="19" name="Text 15"/>
          <p:cNvSpPr txBox="1"/>
          <p:nvPr/>
        </p:nvSpPr>
        <p:spPr>
          <a:xfrm>
            <a:off x="4535424" y="1783080"/>
            <a:ext cx="16733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21F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Aplicativo Bancário PIX</a:t>
            </a:r>
            <a:endParaRPr lang="en-US" sz="1300" dirty="0"/>
          </a:p>
        </p:txBody>
      </p:sp>
      <p:sp>
        <p:nvSpPr>
          <p:cNvPr id="20" name="Text 16"/>
          <p:cNvSpPr txBox="1"/>
          <p:nvPr/>
        </p:nvSpPr>
        <p:spPr>
          <a:xfrm>
            <a:off x="4553712" y="2377440"/>
            <a:ext cx="16367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Transferência instantânea em Sprint</a:t>
            </a:r>
            <a:endParaRPr lang="en-US" sz="1100" dirty="0"/>
          </a:p>
        </p:txBody>
      </p:sp>
      <p:sp>
        <p:nvSpPr>
          <p:cNvPr id="21" name="Text 17"/>
          <p:cNvSpPr txBox="1"/>
          <p:nvPr/>
        </p:nvSpPr>
        <p:spPr>
          <a:xfrm>
            <a:off x="4553712" y="3154680"/>
            <a:ext cx="16367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Mínimo: 1 Epic · 2 Features · 6 PBIs · 9 Tasks</a:t>
            </a:r>
            <a:endParaRPr lang="en-US" sz="1000" dirty="0"/>
          </a:p>
        </p:txBody>
      </p:sp>
      <p:sp>
        <p:nvSpPr>
          <p:cNvPr id="22" name="Shape 18"/>
          <p:cNvSpPr/>
          <p:nvPr/>
        </p:nvSpPr>
        <p:spPr>
          <a:xfrm>
            <a:off x="6437376" y="1280160"/>
            <a:ext cx="1856232" cy="2834640"/>
          </a:xfrm>
          <a:prstGeom prst="roundRect">
            <a:avLst>
              <a:gd name="adj" fmla="val 3941"/>
            </a:avLst>
          </a:prstGeom>
          <a:solidFill>
            <a:srgbClr val="E8EAFF"/>
          </a:solidFill>
          <a:ln w="12700">
            <a:solidFill>
              <a:srgbClr val="E8EAFF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6437376" y="1371600"/>
            <a:ext cx="1856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CMMI</a:t>
            </a:r>
            <a:endParaRPr lang="en-US" sz="1800" dirty="0"/>
          </a:p>
        </p:txBody>
      </p:sp>
      <p:sp>
        <p:nvSpPr>
          <p:cNvPr id="24" name="Text 20"/>
          <p:cNvSpPr txBox="1"/>
          <p:nvPr/>
        </p:nvSpPr>
        <p:spPr>
          <a:xfrm>
            <a:off x="6528816" y="1783080"/>
            <a:ext cx="16733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21F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 Governamental</a:t>
            </a:r>
            <a:endParaRPr lang="en-US" sz="1300" dirty="0"/>
          </a:p>
        </p:txBody>
      </p:sp>
      <p:sp>
        <p:nvSpPr>
          <p:cNvPr id="25" name="Text 21"/>
          <p:cNvSpPr txBox="1"/>
          <p:nvPr/>
        </p:nvSpPr>
        <p:spPr>
          <a:xfrm>
            <a:off x="6547104" y="2377440"/>
            <a:ext cx="16367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Controle de acesso com auditoria</a:t>
            </a:r>
            <a:endParaRPr lang="en-US" sz="1100" dirty="0"/>
          </a:p>
        </p:txBody>
      </p:sp>
      <p:sp>
        <p:nvSpPr>
          <p:cNvPr id="26" name="Text 22"/>
          <p:cNvSpPr txBox="1"/>
          <p:nvPr/>
        </p:nvSpPr>
        <p:spPr>
          <a:xfrm>
            <a:off x="6547104" y="3154680"/>
            <a:ext cx="16367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Mínimo: 1 Epic · 2 Features · 4 Requirements · 5 Change Requests · 9 Tasks</a:t>
            </a:r>
            <a:endParaRPr lang="en-US" sz="1000" dirty="0"/>
          </a:p>
        </p:txBody>
      </p:sp>
      <p:sp>
        <p:nvSpPr>
          <p:cNvPr id="27" name="Text 23">
            <a:hlinkClick r:id="rId3" tooltip=""/>
          </p:cNvPr>
          <p:cNvSpPr txBox="1"/>
          <p:nvPr/>
        </p:nvSpPr>
        <p:spPr>
          <a:xfrm>
            <a:off x="457200" y="429768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u="sng" dirty="0">
                <a:solidFill>
                  <a:srgbClr val="121F8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Roteiro do aluno: docs/roteiro-hands-on.md no repositório da prática</a:t>
            </a:r>
            <a:endParaRPr lang="en-US" sz="1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41080" y="0"/>
            <a:ext cx="502920" cy="5143500"/>
          </a:xfrm>
          <a:prstGeom prst="rect">
            <a:avLst/>
          </a:prstGeom>
          <a:solidFill>
            <a:srgbClr val="3333FF"/>
          </a:solidFill>
          <a:ln w="12700">
            <a:solidFill>
              <a:srgbClr val="3333FF"/>
            </a:solidFill>
            <a:prstDash val="solid"/>
          </a:ln>
        </p:spPr>
      </p:sp>
      <p:pic>
        <p:nvPicPr>
          <p:cNvPr id="3" name="Image 0" descr="/tmp/claude-1000/-media-arimateia-junior-Dados5-UNIFOR-DOCENTE-AZURE-DEVOPS/e87efb98-d81a-41ec-afb2-eea59369fc18/scratchpad/img/motivo_lil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0" y="109728"/>
            <a:ext cx="411480" cy="475488"/>
          </a:xfrm>
          <a:prstGeom prst="rect">
            <a:avLst/>
          </a:prstGeom>
        </p:spPr>
      </p:pic>
      <p:pic>
        <p:nvPicPr>
          <p:cNvPr id="4" name="Image 1" descr="/tmp/claude-1000/-media-arimateia-junior-Dados5-UNIFOR-DOCENTE-AZURE-DEVOPS/e87efb98-d81a-41ec-afb2-eea59369fc18/scratchpad/img/logo_posunifo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0" y="4846320"/>
            <a:ext cx="1097280" cy="256032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457200" y="274320"/>
            <a:ext cx="7955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1F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Roteiro da prática</a:t>
            </a:r>
            <a:endParaRPr lang="en-US" sz="2600" dirty="0"/>
          </a:p>
        </p:txBody>
      </p:sp>
      <p:sp>
        <p:nvSpPr>
          <p:cNvPr id="6" name="Shape 2"/>
          <p:cNvSpPr/>
          <p:nvPr/>
        </p:nvSpPr>
        <p:spPr>
          <a:xfrm>
            <a:off x="457200" y="914400"/>
            <a:ext cx="420624" cy="420624"/>
          </a:xfrm>
          <a:prstGeom prst="ellipse">
            <a:avLst/>
          </a:prstGeom>
          <a:solidFill>
            <a:srgbClr val="3333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457200" y="9144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4"/>
          <p:cNvSpPr txBox="1"/>
          <p:nvPr/>
        </p:nvSpPr>
        <p:spPr>
          <a:xfrm>
            <a:off x="1051560" y="914400"/>
            <a:ext cx="2103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1F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Acessar o projeto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3154680" y="914400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33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10'</a:t>
            </a:r>
            <a:endParaRPr lang="en-US" sz="1200" dirty="0"/>
          </a:p>
        </p:txBody>
      </p:sp>
      <p:sp>
        <p:nvSpPr>
          <p:cNvPr id="10" name="Text 6"/>
          <p:cNvSpPr txBox="1"/>
          <p:nvPr/>
        </p:nvSpPr>
        <p:spPr>
          <a:xfrm>
            <a:off x="3657600" y="914400"/>
            <a:ext cx="4754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Projeto da equipe, primeira pipeline e artefato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457200" y="1444752"/>
            <a:ext cx="420624" cy="420624"/>
          </a:xfrm>
          <a:prstGeom prst="ellipse">
            <a:avLst/>
          </a:prstGeom>
          <a:solidFill>
            <a:srgbClr val="3333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457200" y="144475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1051560" y="1444752"/>
            <a:ext cx="2103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1F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Campos e regras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154680" y="1444752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33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15'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3657600" y="1444752"/>
            <a:ext cx="4754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Descrição, prioridade, estimativa, critérios de aceite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457200" y="1975104"/>
            <a:ext cx="420624" cy="420624"/>
          </a:xfrm>
          <a:prstGeom prst="ellipse">
            <a:avLst/>
          </a:prstGeom>
          <a:solidFill>
            <a:srgbClr val="3333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457200" y="197510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4"/>
          <p:cNvSpPr txBox="1"/>
          <p:nvPr/>
        </p:nvSpPr>
        <p:spPr>
          <a:xfrm>
            <a:off x="1051560" y="1975104"/>
            <a:ext cx="2103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1F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realista</a:t>
            </a:r>
            <a:endParaRPr lang="en-US" sz="1400" dirty="0"/>
          </a:p>
        </p:txBody>
      </p:sp>
      <p:sp>
        <p:nvSpPr>
          <p:cNvPr id="19" name="Text 15"/>
          <p:cNvSpPr txBox="1"/>
          <p:nvPr/>
        </p:nvSpPr>
        <p:spPr>
          <a:xfrm>
            <a:off x="3154680" y="1975104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33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45'</a:t>
            </a:r>
            <a:endParaRPr lang="en-US" sz="1200" dirty="0"/>
          </a:p>
        </p:txBody>
      </p:sp>
      <p:sp>
        <p:nvSpPr>
          <p:cNvPr id="20" name="Text 16"/>
          <p:cNvSpPr txBox="1"/>
          <p:nvPr/>
        </p:nvSpPr>
        <p:spPr>
          <a:xfrm>
            <a:off x="3657600" y="1975104"/>
            <a:ext cx="4754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Hierarquia completa seguindo o guia do processo</a:t>
            </a:r>
            <a:endParaRPr lang="en-US" sz="1200" dirty="0"/>
          </a:p>
        </p:txBody>
      </p:sp>
      <p:sp>
        <p:nvSpPr>
          <p:cNvPr id="21" name="Shape 17"/>
          <p:cNvSpPr/>
          <p:nvPr/>
        </p:nvSpPr>
        <p:spPr>
          <a:xfrm>
            <a:off x="457200" y="2505456"/>
            <a:ext cx="420624" cy="420624"/>
          </a:xfrm>
          <a:prstGeom prst="ellipse">
            <a:avLst/>
          </a:prstGeom>
          <a:solidFill>
            <a:srgbClr val="3333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457200" y="2505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3" name="Text 19"/>
          <p:cNvSpPr txBox="1"/>
          <p:nvPr/>
        </p:nvSpPr>
        <p:spPr>
          <a:xfrm>
            <a:off x="1051560" y="2505456"/>
            <a:ext cx="2103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1F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Refinar e priorizar</a:t>
            </a:r>
            <a:endParaRPr lang="en-US" sz="1400" dirty="0"/>
          </a:p>
        </p:txBody>
      </p:sp>
      <p:sp>
        <p:nvSpPr>
          <p:cNvPr id="24" name="Text 20"/>
          <p:cNvSpPr txBox="1"/>
          <p:nvPr/>
        </p:nvSpPr>
        <p:spPr>
          <a:xfrm>
            <a:off x="3154680" y="2505456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33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25'</a:t>
            </a:r>
            <a:endParaRPr lang="en-US" sz="1200" dirty="0"/>
          </a:p>
        </p:txBody>
      </p:sp>
      <p:sp>
        <p:nvSpPr>
          <p:cNvPr id="25" name="Text 21"/>
          <p:cNvSpPr txBox="1"/>
          <p:nvPr/>
        </p:nvSpPr>
        <p:spPr>
          <a:xfrm>
            <a:off x="3657600" y="2505456"/>
            <a:ext cx="4754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MVP, risco, dependência, quebrar itens grandes</a:t>
            </a:r>
            <a:endParaRPr lang="en-US" sz="1200" dirty="0"/>
          </a:p>
        </p:txBody>
      </p:sp>
      <p:sp>
        <p:nvSpPr>
          <p:cNvPr id="26" name="Shape 22"/>
          <p:cNvSpPr/>
          <p:nvPr/>
        </p:nvSpPr>
        <p:spPr>
          <a:xfrm>
            <a:off x="457200" y="3035808"/>
            <a:ext cx="420624" cy="420624"/>
          </a:xfrm>
          <a:prstGeom prst="ellipse">
            <a:avLst/>
          </a:prstGeom>
          <a:solidFill>
            <a:srgbClr val="3333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457200" y="30358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8" name="Text 24"/>
          <p:cNvSpPr txBox="1"/>
          <p:nvPr/>
        </p:nvSpPr>
        <p:spPr>
          <a:xfrm>
            <a:off x="1051560" y="3035808"/>
            <a:ext cx="2103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1F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e sprint</a:t>
            </a:r>
            <a:endParaRPr lang="en-US" sz="1400" dirty="0"/>
          </a:p>
        </p:txBody>
      </p:sp>
      <p:sp>
        <p:nvSpPr>
          <p:cNvPr id="29" name="Text 25"/>
          <p:cNvSpPr txBox="1"/>
          <p:nvPr/>
        </p:nvSpPr>
        <p:spPr>
          <a:xfrm>
            <a:off x="3154680" y="3035808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33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25'</a:t>
            </a:r>
            <a:endParaRPr lang="en-US" sz="1200" dirty="0"/>
          </a:p>
        </p:txBody>
      </p:sp>
      <p:sp>
        <p:nvSpPr>
          <p:cNvPr id="30" name="Text 26"/>
          <p:cNvSpPr txBox="1"/>
          <p:nvPr/>
        </p:nvSpPr>
        <p:spPr>
          <a:xfrm>
            <a:off x="3657600" y="3035808"/>
            <a:ext cx="4754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Itens em estados diferentes, um deles bloqueado</a:t>
            </a:r>
            <a:endParaRPr lang="en-US" sz="1200" dirty="0"/>
          </a:p>
        </p:txBody>
      </p:sp>
      <p:sp>
        <p:nvSpPr>
          <p:cNvPr id="31" name="Shape 27"/>
          <p:cNvSpPr/>
          <p:nvPr/>
        </p:nvSpPr>
        <p:spPr>
          <a:xfrm>
            <a:off x="457200" y="3566160"/>
            <a:ext cx="420624" cy="420624"/>
          </a:xfrm>
          <a:prstGeom prst="ellipse">
            <a:avLst/>
          </a:prstGeom>
          <a:solidFill>
            <a:srgbClr val="3333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457200" y="35661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33" name="Text 29"/>
          <p:cNvSpPr txBox="1"/>
          <p:nvPr/>
        </p:nvSpPr>
        <p:spPr>
          <a:xfrm>
            <a:off x="1051560" y="3566160"/>
            <a:ext cx="2103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1F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</a:t>
            </a:r>
            <a:endParaRPr lang="en-US" sz="1400" dirty="0"/>
          </a:p>
        </p:txBody>
      </p:sp>
      <p:sp>
        <p:nvSpPr>
          <p:cNvPr id="34" name="Text 30"/>
          <p:cNvSpPr txBox="1"/>
          <p:nvPr/>
        </p:nvSpPr>
        <p:spPr>
          <a:xfrm>
            <a:off x="3154680" y="3566160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33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20'</a:t>
            </a:r>
            <a:endParaRPr lang="en-US" sz="1200" dirty="0"/>
          </a:p>
        </p:txBody>
      </p:sp>
      <p:sp>
        <p:nvSpPr>
          <p:cNvPr id="35" name="Text 31"/>
          <p:cNvSpPr txBox="1"/>
          <p:nvPr/>
        </p:nvSpPr>
        <p:spPr>
          <a:xfrm>
            <a:off x="3657600" y="3566160"/>
            <a:ext cx="4754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Executar, baixar o artefato e abrir o site da equipe</a:t>
            </a:r>
            <a:endParaRPr lang="en-US" sz="1200" dirty="0"/>
          </a:p>
        </p:txBody>
      </p:sp>
      <p:sp>
        <p:nvSpPr>
          <p:cNvPr id="36" name="Shape 32"/>
          <p:cNvSpPr/>
          <p:nvPr/>
        </p:nvSpPr>
        <p:spPr>
          <a:xfrm>
            <a:off x="457200" y="4096512"/>
            <a:ext cx="420624" cy="420624"/>
          </a:xfrm>
          <a:prstGeom prst="ellipse">
            <a:avLst/>
          </a:prstGeom>
          <a:solidFill>
            <a:srgbClr val="3333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457200" y="409651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500" dirty="0"/>
          </a:p>
        </p:txBody>
      </p:sp>
      <p:sp>
        <p:nvSpPr>
          <p:cNvPr id="38" name="Text 34"/>
          <p:cNvSpPr txBox="1"/>
          <p:nvPr/>
        </p:nvSpPr>
        <p:spPr>
          <a:xfrm>
            <a:off x="1051560" y="4096512"/>
            <a:ext cx="2103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1F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Consultas e dashboard</a:t>
            </a:r>
            <a:endParaRPr lang="en-US" sz="1400" dirty="0"/>
          </a:p>
        </p:txBody>
      </p:sp>
      <p:sp>
        <p:nvSpPr>
          <p:cNvPr id="39" name="Text 35"/>
          <p:cNvSpPr txBox="1"/>
          <p:nvPr/>
        </p:nvSpPr>
        <p:spPr>
          <a:xfrm>
            <a:off x="3154680" y="4096512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33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30'</a:t>
            </a:r>
            <a:endParaRPr lang="en-US" sz="1200" dirty="0"/>
          </a:p>
        </p:txBody>
      </p:sp>
      <p:sp>
        <p:nvSpPr>
          <p:cNvPr id="40" name="Text 36"/>
          <p:cNvSpPr txBox="1"/>
          <p:nvPr/>
        </p:nvSpPr>
        <p:spPr>
          <a:xfrm>
            <a:off x="3657600" y="4096512"/>
            <a:ext cx="4754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Query + pelo menos 4 widgets</a:t>
            </a:r>
            <a:endParaRPr lang="en-US" sz="1200" dirty="0"/>
          </a:p>
        </p:txBody>
      </p:sp>
      <p:sp>
        <p:nvSpPr>
          <p:cNvPr id="41" name="Text 37"/>
          <p:cNvSpPr txBox="1"/>
          <p:nvPr/>
        </p:nvSpPr>
        <p:spPr>
          <a:xfrm>
            <a:off x="457200" y="4645152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Pipeline: há 1 job gratuito para as 4 equipes, então o professor chama uma equipe por vez (Basic → Agile → Scrum → CMMI).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41080" y="0"/>
            <a:ext cx="502920" cy="5143500"/>
          </a:xfrm>
          <a:prstGeom prst="rect">
            <a:avLst/>
          </a:prstGeom>
          <a:solidFill>
            <a:srgbClr val="3333FF"/>
          </a:solidFill>
          <a:ln w="12700">
            <a:solidFill>
              <a:srgbClr val="3333FF"/>
            </a:solidFill>
            <a:prstDash val="solid"/>
          </a:ln>
        </p:spPr>
      </p:sp>
      <p:pic>
        <p:nvPicPr>
          <p:cNvPr id="3" name="Image 0" descr="/tmp/claude-1000/-media-arimateia-junior-Dados5-UNIFOR-DOCENTE-AZURE-DEVOPS/e87efb98-d81a-41ec-afb2-eea59369fc18/scratchpad/img/motivo_lil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0" y="109728"/>
            <a:ext cx="411480" cy="475488"/>
          </a:xfrm>
          <a:prstGeom prst="rect">
            <a:avLst/>
          </a:prstGeom>
        </p:spPr>
      </p:pic>
      <p:pic>
        <p:nvPicPr>
          <p:cNvPr id="4" name="Image 1" descr="/tmp/claude-1000/-media-arimateia-junior-Dados5-UNIFOR-DOCENTE-AZURE-DEVOPS/e87efb98-d81a-41ec-afb2-eea59369fc18/scratchpad/img/logo_posunifo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0" y="4846320"/>
            <a:ext cx="1097280" cy="256032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457200" y="274320"/>
            <a:ext cx="7955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1F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Apresentação (4 min por equipe)</a:t>
            </a:r>
            <a:endParaRPr lang="en-US" sz="2600" dirty="0"/>
          </a:p>
        </p:txBody>
      </p:sp>
      <p:sp>
        <p:nvSpPr>
          <p:cNvPr id="6" name="Shape 2"/>
          <p:cNvSpPr/>
          <p:nvPr/>
        </p:nvSpPr>
        <p:spPr>
          <a:xfrm>
            <a:off x="457200" y="1051560"/>
            <a:ext cx="457200" cy="457200"/>
          </a:xfrm>
          <a:prstGeom prst="ellipse">
            <a:avLst/>
          </a:prstGeom>
          <a:solidFill>
            <a:srgbClr val="3333FF"/>
          </a:solidFill>
          <a:ln w="12700">
            <a:solidFill>
              <a:srgbClr val="3333FF"/>
            </a:solidFill>
            <a:prstDash val="solid"/>
          </a:ln>
        </p:spPr>
      </p:sp>
      <p:pic>
        <p:nvPicPr>
          <p:cNvPr id="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72" y="1170432"/>
            <a:ext cx="219456" cy="219456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1051560" y="10515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o processo organiza o trabalho? Mostrem a hierarquia.</a:t>
            </a:r>
            <a:endParaRPr lang="en-US" sz="1200" dirty="0"/>
          </a:p>
        </p:txBody>
      </p:sp>
      <p:sp>
        <p:nvSpPr>
          <p:cNvPr id="9" name="Shape 4"/>
          <p:cNvSpPr/>
          <p:nvPr/>
        </p:nvSpPr>
        <p:spPr>
          <a:xfrm>
            <a:off x="457200" y="1655064"/>
            <a:ext cx="457200" cy="457200"/>
          </a:xfrm>
          <a:prstGeom prst="ellipse">
            <a:avLst/>
          </a:prstGeom>
          <a:solidFill>
            <a:srgbClr val="3333FF"/>
          </a:solidFill>
          <a:ln w="12700">
            <a:solidFill>
              <a:srgbClr val="3333FF"/>
            </a:solidFill>
            <a:prstDash val="solid"/>
          </a:ln>
        </p:spPr>
      </p:sp>
      <p:pic>
        <p:nvPicPr>
          <p:cNvPr id="1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6072" y="1773936"/>
            <a:ext cx="219456" cy="219456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1051560" y="1655064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a equipe priorizou e estimou?</a:t>
            </a:r>
            <a:endParaRPr lang="en-US" sz="1200" dirty="0"/>
          </a:p>
        </p:txBody>
      </p:sp>
      <p:sp>
        <p:nvSpPr>
          <p:cNvPr id="12" name="Shape 6"/>
          <p:cNvSpPr/>
          <p:nvPr/>
        </p:nvSpPr>
        <p:spPr>
          <a:xfrm>
            <a:off x="457200" y="2258568"/>
            <a:ext cx="457200" cy="457200"/>
          </a:xfrm>
          <a:prstGeom prst="ellipse">
            <a:avLst/>
          </a:prstGeom>
          <a:solidFill>
            <a:srgbClr val="3333FF"/>
          </a:solidFill>
          <a:ln w="12700">
            <a:solidFill>
              <a:srgbClr val="3333FF"/>
            </a:solidFill>
            <a:prstDash val="solid"/>
          </a:ln>
        </p:spPr>
      </p:sp>
      <p:pic>
        <p:nvPicPr>
          <p:cNvPr id="1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6072" y="2377440"/>
            <a:ext cx="219456" cy="219456"/>
          </a:xfrm>
          <a:prstGeom prst="rect">
            <a:avLst/>
          </a:prstGeom>
        </p:spPr>
      </p:pic>
      <p:sp>
        <p:nvSpPr>
          <p:cNvPr id="14" name="Text 7"/>
          <p:cNvSpPr txBox="1"/>
          <p:nvPr/>
        </p:nvSpPr>
        <p:spPr>
          <a:xfrm>
            <a:off x="1051560" y="2258568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 item é o maior risco ou dependência?</a:t>
            </a:r>
            <a:endParaRPr lang="en-US" sz="1200" dirty="0"/>
          </a:p>
        </p:txBody>
      </p:sp>
      <p:sp>
        <p:nvSpPr>
          <p:cNvPr id="15" name="Shape 8"/>
          <p:cNvSpPr/>
          <p:nvPr/>
        </p:nvSpPr>
        <p:spPr>
          <a:xfrm>
            <a:off x="457200" y="2862072"/>
            <a:ext cx="457200" cy="457200"/>
          </a:xfrm>
          <a:prstGeom prst="ellipse">
            <a:avLst/>
          </a:prstGeom>
          <a:solidFill>
            <a:srgbClr val="3333FF"/>
          </a:solidFill>
          <a:ln w="12700">
            <a:solidFill>
              <a:srgbClr val="3333FF"/>
            </a:solidFill>
            <a:prstDash val="solid"/>
          </a:ln>
        </p:spPr>
      </p:sp>
      <p:pic>
        <p:nvPicPr>
          <p:cNvPr id="1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6072" y="2980944"/>
            <a:ext cx="219456" cy="219456"/>
          </a:xfrm>
          <a:prstGeom prst="rect">
            <a:avLst/>
          </a:prstGeom>
        </p:spPr>
      </p:pic>
      <p:sp>
        <p:nvSpPr>
          <p:cNvPr id="17" name="Text 9"/>
          <p:cNvSpPr txBox="1"/>
          <p:nvPr/>
        </p:nvSpPr>
        <p:spPr>
          <a:xfrm>
            <a:off x="1051560" y="2862072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 métrica do dashboard mais ajuda o gerente?</a:t>
            </a:r>
            <a:endParaRPr lang="en-US" sz="1200" dirty="0"/>
          </a:p>
        </p:txBody>
      </p:sp>
      <p:sp>
        <p:nvSpPr>
          <p:cNvPr id="18" name="Shape 10"/>
          <p:cNvSpPr/>
          <p:nvPr/>
        </p:nvSpPr>
        <p:spPr>
          <a:xfrm>
            <a:off x="457200" y="3465576"/>
            <a:ext cx="457200" cy="457200"/>
          </a:xfrm>
          <a:prstGeom prst="ellipse">
            <a:avLst/>
          </a:prstGeom>
          <a:solidFill>
            <a:srgbClr val="3333FF"/>
          </a:solidFill>
          <a:ln w="12700">
            <a:solidFill>
              <a:srgbClr val="3333FF"/>
            </a:solidFill>
            <a:prstDash val="solid"/>
          </a:ln>
        </p:spPr>
      </p:sp>
      <p:pic>
        <p:nvPicPr>
          <p:cNvPr id="1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6072" y="3584448"/>
            <a:ext cx="219456" cy="219456"/>
          </a:xfrm>
          <a:prstGeom prst="rect">
            <a:avLst/>
          </a:prstGeom>
        </p:spPr>
      </p:pic>
      <p:sp>
        <p:nvSpPr>
          <p:cNvPr id="20" name="Text 11"/>
          <p:cNvSpPr txBox="1"/>
          <p:nvPr/>
        </p:nvSpPr>
        <p:spPr>
          <a:xfrm>
            <a:off x="1051560" y="3465576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a pipeline evidencia sobre a entrega?</a:t>
            </a:r>
            <a:endParaRPr lang="en-US" sz="1200" dirty="0"/>
          </a:p>
        </p:txBody>
      </p:sp>
      <p:sp>
        <p:nvSpPr>
          <p:cNvPr id="21" name="Text 12"/>
          <p:cNvSpPr txBox="1"/>
          <p:nvPr/>
        </p:nvSpPr>
        <p:spPr>
          <a:xfrm>
            <a:off x="4572000" y="100584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1F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Critérios de avaliação (0 a 2 cada)</a:t>
            </a:r>
            <a:endParaRPr lang="en-US" sz="1300" dirty="0"/>
          </a:p>
        </p:txBody>
      </p:sp>
      <p:sp>
        <p:nvSpPr>
          <p:cNvPr id="22" name="Shape 13"/>
          <p:cNvSpPr/>
          <p:nvPr/>
        </p:nvSpPr>
        <p:spPr>
          <a:xfrm>
            <a:off x="4572000" y="1371600"/>
            <a:ext cx="3749040" cy="347472"/>
          </a:xfrm>
          <a:prstGeom prst="roundRect">
            <a:avLst>
              <a:gd name="adj" fmla="val 21053"/>
            </a:avLst>
          </a:prstGeom>
          <a:solidFill>
            <a:srgbClr val="E8EAFF"/>
          </a:solidFill>
          <a:ln w="12700">
            <a:solidFill>
              <a:srgbClr val="E8EAFF"/>
            </a:solidFill>
            <a:prstDash val="solid"/>
          </a:ln>
        </p:spPr>
      </p:sp>
      <p:sp>
        <p:nvSpPr>
          <p:cNvPr id="23" name="Text 14"/>
          <p:cNvSpPr txBox="1"/>
          <p:nvPr/>
        </p:nvSpPr>
        <p:spPr>
          <a:xfrm>
            <a:off x="4709160" y="1371600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Processo correto</a:t>
            </a:r>
            <a:endParaRPr lang="en-US" sz="1100" dirty="0"/>
          </a:p>
        </p:txBody>
      </p:sp>
      <p:sp>
        <p:nvSpPr>
          <p:cNvPr id="24" name="Shape 15"/>
          <p:cNvSpPr/>
          <p:nvPr/>
        </p:nvSpPr>
        <p:spPr>
          <a:xfrm>
            <a:off x="4572000" y="1773936"/>
            <a:ext cx="3749040" cy="347472"/>
          </a:xfrm>
          <a:prstGeom prst="roundRect">
            <a:avLst>
              <a:gd name="adj" fmla="val 21053"/>
            </a:avLst>
          </a:prstGeom>
          <a:solidFill>
            <a:srgbClr val="E8EAFF"/>
          </a:solidFill>
          <a:ln w="12700">
            <a:solidFill>
              <a:srgbClr val="E8EAFF"/>
            </a:solidFill>
            <a:prstDash val="solid"/>
          </a:ln>
        </p:spPr>
      </p:sp>
      <p:sp>
        <p:nvSpPr>
          <p:cNvPr id="25" name="Text 16"/>
          <p:cNvSpPr txBox="1"/>
          <p:nvPr/>
        </p:nvSpPr>
        <p:spPr>
          <a:xfrm>
            <a:off x="4709160" y="1773936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Hierarquia coerente e relacionada</a:t>
            </a:r>
            <a:endParaRPr lang="en-US" sz="1100" dirty="0"/>
          </a:p>
        </p:txBody>
      </p:sp>
      <p:sp>
        <p:nvSpPr>
          <p:cNvPr id="26" name="Shape 17"/>
          <p:cNvSpPr/>
          <p:nvPr/>
        </p:nvSpPr>
        <p:spPr>
          <a:xfrm>
            <a:off x="4572000" y="2176272"/>
            <a:ext cx="3749040" cy="347472"/>
          </a:xfrm>
          <a:prstGeom prst="roundRect">
            <a:avLst>
              <a:gd name="adj" fmla="val 21053"/>
            </a:avLst>
          </a:prstGeom>
          <a:solidFill>
            <a:srgbClr val="E8EAFF"/>
          </a:solidFill>
          <a:ln w="12700">
            <a:solidFill>
              <a:srgbClr val="E8EAFF"/>
            </a:solidFill>
            <a:prstDash val="solid"/>
          </a:ln>
        </p:spPr>
      </p:sp>
      <p:sp>
        <p:nvSpPr>
          <p:cNvPr id="27" name="Text 18"/>
          <p:cNvSpPr txBox="1"/>
          <p:nvPr/>
        </p:nvSpPr>
        <p:spPr>
          <a:xfrm>
            <a:off x="4709160" y="2176272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Campos: descrição, prioridade, estimativa, aceite</a:t>
            </a:r>
            <a:endParaRPr lang="en-US" sz="1100" dirty="0"/>
          </a:p>
        </p:txBody>
      </p:sp>
      <p:sp>
        <p:nvSpPr>
          <p:cNvPr id="28" name="Shape 19"/>
          <p:cNvSpPr/>
          <p:nvPr/>
        </p:nvSpPr>
        <p:spPr>
          <a:xfrm>
            <a:off x="4572000" y="2578608"/>
            <a:ext cx="3749040" cy="347472"/>
          </a:xfrm>
          <a:prstGeom prst="roundRect">
            <a:avLst>
              <a:gd name="adj" fmla="val 21053"/>
            </a:avLst>
          </a:prstGeom>
          <a:solidFill>
            <a:srgbClr val="E8EAFF"/>
          </a:solidFill>
          <a:ln w="12700">
            <a:solidFill>
              <a:srgbClr val="E8EAFF"/>
            </a:solidFill>
            <a:prstDash val="solid"/>
          </a:ln>
        </p:spPr>
      </p:sp>
      <p:sp>
        <p:nvSpPr>
          <p:cNvPr id="29" name="Text 20"/>
          <p:cNvSpPr txBox="1"/>
          <p:nvPr/>
        </p:nvSpPr>
        <p:spPr>
          <a:xfrm>
            <a:off x="4709160" y="2578608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Priorização por valor, risco e dependência</a:t>
            </a:r>
            <a:endParaRPr lang="en-US" sz="1100" dirty="0"/>
          </a:p>
        </p:txBody>
      </p:sp>
      <p:sp>
        <p:nvSpPr>
          <p:cNvPr id="30" name="Shape 21"/>
          <p:cNvSpPr/>
          <p:nvPr/>
        </p:nvSpPr>
        <p:spPr>
          <a:xfrm>
            <a:off x="4572000" y="2980944"/>
            <a:ext cx="3749040" cy="347472"/>
          </a:xfrm>
          <a:prstGeom prst="roundRect">
            <a:avLst>
              <a:gd name="adj" fmla="val 21053"/>
            </a:avLst>
          </a:prstGeom>
          <a:solidFill>
            <a:srgbClr val="E8EAFF"/>
          </a:solidFill>
          <a:ln w="12700">
            <a:solidFill>
              <a:srgbClr val="E8EAFF"/>
            </a:solidFill>
            <a:prstDash val="solid"/>
          </a:ln>
        </p:spPr>
      </p:sp>
      <p:sp>
        <p:nvSpPr>
          <p:cNvPr id="31" name="Text 22"/>
          <p:cNvSpPr txBox="1"/>
          <p:nvPr/>
        </p:nvSpPr>
        <p:spPr>
          <a:xfrm>
            <a:off x="4709160" y="2980944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/ Sprint representa fluxo real</a:t>
            </a:r>
            <a:endParaRPr lang="en-US" sz="1100" dirty="0"/>
          </a:p>
        </p:txBody>
      </p:sp>
      <p:sp>
        <p:nvSpPr>
          <p:cNvPr id="32" name="Shape 23"/>
          <p:cNvSpPr/>
          <p:nvPr/>
        </p:nvSpPr>
        <p:spPr>
          <a:xfrm>
            <a:off x="4572000" y="3383280"/>
            <a:ext cx="3749040" cy="347472"/>
          </a:xfrm>
          <a:prstGeom prst="roundRect">
            <a:avLst>
              <a:gd name="adj" fmla="val 21053"/>
            </a:avLst>
          </a:prstGeom>
          <a:solidFill>
            <a:srgbClr val="E8EAFF"/>
          </a:solidFill>
          <a:ln w="12700">
            <a:solidFill>
              <a:srgbClr val="E8EAFF"/>
            </a:solidFill>
            <a:prstDash val="solid"/>
          </a:ln>
        </p:spPr>
      </p:sp>
      <p:sp>
        <p:nvSpPr>
          <p:cNvPr id="33" name="Text 24"/>
          <p:cNvSpPr txBox="1"/>
          <p:nvPr/>
        </p:nvSpPr>
        <p:spPr>
          <a:xfrm>
            <a:off x="4709160" y="3383280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executada e entendida</a:t>
            </a:r>
            <a:endParaRPr lang="en-US" sz="1100" dirty="0"/>
          </a:p>
        </p:txBody>
      </p:sp>
      <p:sp>
        <p:nvSpPr>
          <p:cNvPr id="34" name="Shape 25"/>
          <p:cNvSpPr/>
          <p:nvPr/>
        </p:nvSpPr>
        <p:spPr>
          <a:xfrm>
            <a:off x="4572000" y="3785616"/>
            <a:ext cx="3749040" cy="347472"/>
          </a:xfrm>
          <a:prstGeom prst="roundRect">
            <a:avLst>
              <a:gd name="adj" fmla="val 21053"/>
            </a:avLst>
          </a:prstGeom>
          <a:solidFill>
            <a:srgbClr val="E8EAFF"/>
          </a:solidFill>
          <a:ln w="12700">
            <a:solidFill>
              <a:srgbClr val="E8EAFF"/>
            </a:solidFill>
            <a:prstDash val="solid"/>
          </a:ln>
        </p:spPr>
      </p:sp>
      <p:sp>
        <p:nvSpPr>
          <p:cNvPr id="35" name="Text 26"/>
          <p:cNvSpPr txBox="1"/>
          <p:nvPr/>
        </p:nvSpPr>
        <p:spPr>
          <a:xfrm>
            <a:off x="4709160" y="3785616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que apoia decisão</a:t>
            </a:r>
            <a:endParaRPr lang="en-US" sz="1100" dirty="0"/>
          </a:p>
        </p:txBody>
      </p:sp>
      <p:sp>
        <p:nvSpPr>
          <p:cNvPr id="36" name="Shape 27"/>
          <p:cNvSpPr/>
          <p:nvPr/>
        </p:nvSpPr>
        <p:spPr>
          <a:xfrm>
            <a:off x="4572000" y="4187952"/>
            <a:ext cx="3749040" cy="347472"/>
          </a:xfrm>
          <a:prstGeom prst="roundRect">
            <a:avLst>
              <a:gd name="adj" fmla="val 21053"/>
            </a:avLst>
          </a:prstGeom>
          <a:solidFill>
            <a:srgbClr val="E8EAFF"/>
          </a:solidFill>
          <a:ln w="12700">
            <a:solidFill>
              <a:srgbClr val="E8EAFF"/>
            </a:solidFill>
            <a:prstDash val="solid"/>
          </a:ln>
        </p:spPr>
      </p:sp>
      <p:sp>
        <p:nvSpPr>
          <p:cNvPr id="37" name="Text 28"/>
          <p:cNvSpPr txBox="1"/>
          <p:nvPr/>
        </p:nvSpPr>
        <p:spPr>
          <a:xfrm>
            <a:off x="4709160" y="4187952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Apresentação clara e objetiva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21F8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1000/-media-arimateia-junior-Dados5-UNIFOR-DOCENTE-AZURE-DEVOPS/e87efb98-d81a-41ec-afb2-eea59369fc18/scratchpad/img/capa_set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79792" y="4206240"/>
            <a:ext cx="1664208" cy="93268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640080"/>
            <a:ext cx="7498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cada processo organizou o trabalho de um jeito diferente?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548640" y="2148840"/>
            <a:ext cx="457200" cy="457200"/>
          </a:xfrm>
          <a:prstGeom prst="ellipse">
            <a:avLst/>
          </a:prstGeom>
          <a:solidFill>
            <a:srgbClr val="3333FF"/>
          </a:solidFill>
          <a:ln w="12700">
            <a:solidFill>
              <a:srgbClr val="3333FF"/>
            </a:solidFill>
            <a:prstDash val="solid"/>
          </a:ln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2267712"/>
            <a:ext cx="219456" cy="219456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1188720" y="2148840"/>
            <a:ext cx="6675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 processo daria mais controle à diretoria? E mais agilidade ao time?</a:t>
            </a:r>
            <a:endParaRPr lang="en-US" sz="1500" dirty="0"/>
          </a:p>
        </p:txBody>
      </p:sp>
      <p:sp>
        <p:nvSpPr>
          <p:cNvPr id="7" name="Shape 3"/>
          <p:cNvSpPr/>
          <p:nvPr/>
        </p:nvSpPr>
        <p:spPr>
          <a:xfrm>
            <a:off x="548640" y="2834640"/>
            <a:ext cx="457200" cy="457200"/>
          </a:xfrm>
          <a:prstGeom prst="ellipse">
            <a:avLst/>
          </a:prstGeom>
          <a:solidFill>
            <a:srgbClr val="3333FF"/>
          </a:solidFill>
          <a:ln w="12700">
            <a:solidFill>
              <a:srgbClr val="3333FF"/>
            </a:solidFill>
            <a:prstDash val="solid"/>
          </a:ln>
        </p:spPr>
      </p:sp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" y="2953512"/>
            <a:ext cx="219456" cy="219456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188720" y="2834640"/>
            <a:ext cx="6675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 entra a governança (PMBOK) e onde entra a adaptação (Scrum / Kanban)?</a:t>
            </a:r>
            <a:endParaRPr lang="en-US" sz="1500" dirty="0"/>
          </a:p>
        </p:txBody>
      </p:sp>
      <p:sp>
        <p:nvSpPr>
          <p:cNvPr id="10" name="Shape 5"/>
          <p:cNvSpPr/>
          <p:nvPr/>
        </p:nvSpPr>
        <p:spPr>
          <a:xfrm>
            <a:off x="548640" y="3520440"/>
            <a:ext cx="457200" cy="457200"/>
          </a:xfrm>
          <a:prstGeom prst="ellipse">
            <a:avLst/>
          </a:prstGeom>
          <a:solidFill>
            <a:srgbClr val="3333FF"/>
          </a:solidFill>
          <a:ln w="12700">
            <a:solidFill>
              <a:srgbClr val="3333FF"/>
            </a:solidFill>
            <a:prstDash val="solid"/>
          </a:ln>
        </p:spPr>
      </p:sp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7512" y="3639312"/>
            <a:ext cx="219456" cy="219456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1188720" y="3520440"/>
            <a:ext cx="6675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ferramenta mudou o plano, ou só registrou as decisões de vocês?</a:t>
            </a:r>
            <a:endParaRPr lang="en-US" sz="1500" dirty="0"/>
          </a:p>
        </p:txBody>
      </p:sp>
      <p:sp>
        <p:nvSpPr>
          <p:cNvPr id="13" name="Text 7"/>
          <p:cNvSpPr txBox="1"/>
          <p:nvPr/>
        </p:nvSpPr>
        <p:spPr>
          <a:xfrm>
            <a:off x="548640" y="4343400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C3DD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ferramenta é secundária: o que gera resultado são as decisões de planejamento e gestão.</a:t>
            </a:r>
            <a:endParaRPr lang="en-US" sz="13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21F8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1000/-media-arimateia-junior-Dados5-UNIFOR-DOCENTE-AZURE-DEVOPS/e87efb98-d81a-41ec-afb2-eea59369fc18/scratchpad/img/capa_circul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0" y="0"/>
            <a:ext cx="1097280" cy="2130552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1463040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Obrigado!</a:t>
            </a:r>
            <a:endParaRPr lang="en-US" sz="4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22860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FD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Arimatéia Júnior</a:t>
            </a:r>
            <a:endParaRPr lang="en-US" sz="1800" dirty="0"/>
          </a:p>
        </p:txBody>
      </p:sp>
      <p:sp>
        <p:nvSpPr>
          <p:cNvPr id="5" name="Text 2">
            <a:hlinkClick r:id="rId2" tooltip=""/>
          </p:cNvPr>
          <p:cNvSpPr txBox="1"/>
          <p:nvPr/>
        </p:nvSpPr>
        <p:spPr>
          <a:xfrm>
            <a:off x="548640" y="2834640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Material de apoio: github.com/unifor-docente/azure-devops-planejamento-hands-on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6583680" y="2468880"/>
            <a:ext cx="146304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7" name="Image 1" descr="/tmp/claude-1000/-media-arimateia-junior-Dados5-UNIFOR-DOCENTE-AZURE-DEVOPS/e87efb98-d81a-41ec-afb2-eea59369fc18/scratchpad/img/q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2560320"/>
            <a:ext cx="1280160" cy="1280160"/>
          </a:xfrm>
          <a:prstGeom prst="rect">
            <a:avLst/>
          </a:prstGeom>
        </p:spPr>
      </p:pic>
      <p:pic>
        <p:nvPicPr>
          <p:cNvPr id="8" name="Image 2" descr="/tmp/claude-1000/-media-arimateia-junior-Dados5-UNIFOR-DOCENTE-AZURE-DEVOPS/e87efb98-d81a-41ec-afb2-eea59369fc18/scratchpad/img/logo_posunifor_branc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4526280"/>
            <a:ext cx="1234440" cy="30175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Azure DevOps – MBA em Gerenciamento de Projetos</dc:title>
  <dc:subject>PptxGenJS Presentation</dc:subject>
  <dc:creator>Arimatéia Júnior</dc:creator>
  <cp:lastModifiedBy>Arimatéia Júnior</cp:lastModifiedBy>
  <cp:revision>1</cp:revision>
  <dcterms:created xsi:type="dcterms:W3CDTF">2026-09-29T03:51:40Z</dcterms:created>
  <dcterms:modified xsi:type="dcterms:W3CDTF">2026-09-29T03:51:40Z</dcterms:modified>
</cp:coreProperties>
</file>