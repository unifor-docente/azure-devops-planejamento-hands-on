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1F8F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21F8F"/>
                </a:solidFill>
                <a:latin typeface="Arial"/>
              </a:rPr>
              <a:t>Horas restantes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Ideal</c:v>
                </c:pt>
              </c:strCache>
            </c:strRef>
          </c:tx>
          <c:spPr>
            <a:solidFill>
              <a:srgbClr val="CFD3FF"/>
            </a:solidFill>
            <a:ln w="38100" cap="flat">
              <a:solidFill>
                <a:srgbClr val="CFD3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FD3FF"/>
              </a:solidFill>
              <a:ln w="9525" cap="flat">
                <a:solidFill>
                  <a:srgbClr val="CFD3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80</c:v>
                </c:pt>
                <c:pt idx="1">
                  <c:v>71</c:v>
                </c:pt>
                <c:pt idx="2">
                  <c:v>62</c:v>
                </c:pt>
                <c:pt idx="3">
                  <c:v>53</c:v>
                </c:pt>
                <c:pt idx="4">
                  <c:v>44</c:v>
                </c:pt>
                <c:pt idx="5">
                  <c:v>36</c:v>
                </c:pt>
                <c:pt idx="6">
                  <c:v>27</c:v>
                </c:pt>
                <c:pt idx="7">
                  <c:v>18</c:v>
                </c:pt>
                <c:pt idx="8">
                  <c:v>9</c:v>
                </c:pt>
                <c:pt idx="9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</c:v>
                </c:pt>
              </c:strCache>
            </c:strRef>
          </c:tx>
          <c:spPr>
            <a:solidFill>
              <a:srgbClr val="3333FF"/>
            </a:solidFill>
            <a:ln w="38100" cap="flat">
              <a:solidFill>
                <a:srgbClr val="3333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333FF"/>
              </a:solidFill>
              <a:ln w="9525" cap="flat">
                <a:solidFill>
                  <a:srgbClr val="3333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80</c:v>
                </c:pt>
                <c:pt idx="1">
                  <c:v>78</c:v>
                </c:pt>
                <c:pt idx="2">
                  <c:v>74</c:v>
                </c:pt>
                <c:pt idx="3">
                  <c:v>74</c:v>
                </c:pt>
                <c:pt idx="4">
                  <c:v>70</c:v>
                </c:pt>
                <c:pt idx="5">
                  <c:v>62</c:v>
                </c:pt>
                <c:pt idx="6">
                  <c:v>50</c:v>
                </c:pt>
                <c:pt idx="7">
                  <c:v>38</c:v>
                </c:pt>
                <c:pt idx="8">
                  <c:v>26</c:v>
                </c:pt>
                <c:pt idx="9">
                  <c:v>14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4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4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cronograma do guia do instrutor fecha exatamente em 4h. Se houver intervalo, reduzir Refinamento e Board para 20 min 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CMMI: Change Request NÃO fica entre Requirement e Task. A hierarquia é Epic &gt; Feature &gt; Requirement &gt; Task; Change Request, Risk, Review e Issue são itens que se relacionam ao Requirement.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Usar o projeto de demonstração já preenchido para mostrar burndown e dashboard com dados (o burndown depende de dias de histórico).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Correção em relação à versão anterior: o crédito do Azure for Students é de US$ 100 (não R$ 500) e não é necessário para usar o Azure DevOps. Alunos entram com acesso Basic somente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Primeira tarefa de cada equipe: escolher o Gerente do Projeto (conduz priorização e Sprint).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Papéis sugeridos (6 por equipe): Gerente do projeto, Product Owner, Guardião do backlog, Guardião do board, Analista de indicadores, Responsável pela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hyperlink" Target="https://www.gartner.com/reviews/market/enterprise-agile-planning-tools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nifor-docente/azure-devops-planejamento-hands-on/blob/main/docs/roteiro-hands-on.md" TargetMode="Externa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nifor-docente/azure-devops-planejamento-hands-on" TargetMode="External"/><Relationship Id="rId1" Type="http://schemas.openxmlformats.org/officeDocument/2006/relationships/image" Target="../media/image-26-1.png"/><Relationship Id="rId3" Type="http://schemas.openxmlformats.org/officeDocument/2006/relationships/image" Target="../media/image-26-2.png"/><Relationship Id="rId4" Type="http://schemas.openxmlformats.org/officeDocument/2006/relationships/image" Target="../media/image-2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F8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media-arimateia-junior-Dados5-UNIFOR-DOCENTE-AZURE-DEVOPS/e87efb98-d81a-41ec-afb2-eea59369fc18/scratchpad/img/capa_circu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0"/>
            <a:ext cx="1097280" cy="2130552"/>
          </a:xfrm>
          <a:prstGeom prst="rect">
            <a:avLst/>
          </a:prstGeom>
        </p:spPr>
      </p:pic>
      <p:pic>
        <p:nvPicPr>
          <p:cNvPr id="3" name="Image 1" descr="/tmp/claude-1000/-media-arimateia-junior-Dados5-UNIFOR-DOCENTE-AZURE-DEVOPS/e87efb98-d81a-41ec-afb2-eea59369fc18/scratchpad/img/capa_se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9792" y="4206240"/>
            <a:ext cx="1664208" cy="9326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37160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DevOps</a:t>
            </a:r>
            <a:endParaRPr lang="en-US" sz="44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21945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D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e gestão de projetos na prática</a:t>
            </a:r>
            <a:endParaRPr lang="en-US" sz="20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28346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MBA em Gerenciamento de Projetos  ·  29/09/2026</a:t>
            </a:r>
            <a:endParaRPr lang="en-US" sz="1400" dirty="0"/>
          </a:p>
        </p:txBody>
      </p:sp>
      <p:pic>
        <p:nvPicPr>
          <p:cNvPr id="7" name="Image 2" descr="/tmp/claude-1000/-media-arimateia-junior-Dados5-UNIFOR-DOCENTE-AZURE-DEVOPS/e87efb98-d81a-41ec-afb2-eea59369fc18/scratchpad/img/logo_posunifor_branc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26280"/>
            <a:ext cx="1234440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Arimatéia Júnior</a:t>
            </a:r>
            <a:endParaRPr lang="en-US" sz="2600" dirty="0"/>
          </a:p>
        </p:txBody>
      </p:sp>
      <p:pic>
        <p:nvPicPr>
          <p:cNvPr id="6" name="Image 2" descr="/tmp/claude-1000/-media-arimateia-junior-Dados5-UNIFOR-DOCENTE-AZURE-DEVOPS/e87efb98-d81a-41ec-afb2-eea59369fc18/scratchpad/img/fot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20040"/>
            <a:ext cx="1920240" cy="1920240"/>
          </a:xfrm>
          <a:prstGeom prst="ellipse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35040" y="22860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Apaixonado por família, tecnologia e futebol</a:t>
            </a:r>
            <a:endParaRPr lang="en-US" sz="1000" dirty="0"/>
          </a:p>
        </p:txBody>
      </p:sp>
      <p:sp>
        <p:nvSpPr>
          <p:cNvPr id="8" name="Text 3"/>
          <p:cNvSpPr txBox="1"/>
          <p:nvPr/>
        </p:nvSpPr>
        <p:spPr>
          <a:xfrm>
            <a:off x="457200" y="960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Formação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457200" y="123444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Pós-graduado em Engenharia de Software com ênfase em DevOps – UNIFOR (2025)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MBA em Arquitetura de Software e Soluções – XP Educação (2023)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Segurança da Informação – UNINASSAU (2021)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 de Computadores – Faculdade Lourenço Filho (2014)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45720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Experiência profissional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457200" y="256032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Arquiteto de Software e Soluções – TIVIT (cliente: Petrobras)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 de Tecnologia – ARI JR Technology</a:t>
            </a:r>
            <a:endParaRPr lang="en-US" sz="1100" dirty="0"/>
          </a:p>
        </p:txBody>
      </p:sp>
      <p:pic>
        <p:nvPicPr>
          <p:cNvPr id="12" name="Image 3" descr="/tmp/claude-1000/-media-arimateia-junior-Dados5-UNIFOR-DOCENTE-AZURE-DEVOPS/e87efb98-d81a-41ec-afb2-eea59369fc18/scratchpad/img/badg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200400"/>
            <a:ext cx="7498080" cy="1499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vamos fazer hoje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82296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horas · teoria curta, prática longa · 29/09/2026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457200" y="1417320"/>
            <a:ext cx="1883664" cy="2377440"/>
          </a:xfrm>
          <a:prstGeom prst="roundRect">
            <a:avLst>
              <a:gd name="adj" fmla="val 3883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124712" y="1600200"/>
            <a:ext cx="548640" cy="548640"/>
          </a:xfrm>
          <a:prstGeom prst="ellipse">
            <a:avLst/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7358" y="1742846"/>
            <a:ext cx="263347" cy="263347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2920" y="22860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02920" y="267004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 + demo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97180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DevOps, Azure DevOps, processos e demonstração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2450592" y="1417320"/>
            <a:ext cx="1883664" cy="2377440"/>
          </a:xfrm>
          <a:prstGeom prst="roundRect">
            <a:avLst>
              <a:gd name="adj" fmla="val 3883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3118104" y="1600200"/>
            <a:ext cx="548640" cy="548640"/>
          </a:xfrm>
          <a:prstGeom prst="ellipse">
            <a:avLst/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0750" y="1742846"/>
            <a:ext cx="263347" cy="263347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2496312" y="22860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800" dirty="0"/>
          </a:p>
        </p:txBody>
      </p:sp>
      <p:sp>
        <p:nvSpPr>
          <p:cNvPr id="17" name="Text 11"/>
          <p:cNvSpPr txBox="1"/>
          <p:nvPr/>
        </p:nvSpPr>
        <p:spPr>
          <a:xfrm>
            <a:off x="2496312" y="267004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2542032" y="297180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Convite, projeto da equipe e primeira pipeline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4443984" y="1417320"/>
            <a:ext cx="1883664" cy="2377440"/>
          </a:xfrm>
          <a:prstGeom prst="roundRect">
            <a:avLst>
              <a:gd name="adj" fmla="val 3883"/>
            </a:avLst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5111496" y="1600200"/>
            <a:ext cx="548640" cy="54864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4142" y="1742846"/>
            <a:ext cx="263347" cy="263347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489704" y="22860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2h40</a:t>
            </a:r>
            <a:endParaRPr lang="en-US" sz="1800" dirty="0"/>
          </a:p>
        </p:txBody>
      </p:sp>
      <p:sp>
        <p:nvSpPr>
          <p:cNvPr id="23" name="Text 16"/>
          <p:cNvSpPr txBox="1"/>
          <p:nvPr/>
        </p:nvSpPr>
        <p:spPr>
          <a:xfrm>
            <a:off x="4489704" y="267004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4535424" y="297180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D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Backlog, sprint, pipeline e dashboard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437376" y="1417320"/>
            <a:ext cx="1883664" cy="2377440"/>
          </a:xfrm>
          <a:prstGeom prst="roundRect">
            <a:avLst>
              <a:gd name="adj" fmla="val 3883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7104888" y="1600200"/>
            <a:ext cx="548640" cy="548640"/>
          </a:xfrm>
          <a:prstGeom prst="ellipse">
            <a:avLst/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7534" y="1742846"/>
            <a:ext cx="263347" cy="263347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483096" y="22860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800" dirty="0"/>
          </a:p>
        </p:txBody>
      </p:sp>
      <p:sp>
        <p:nvSpPr>
          <p:cNvPr id="29" name="Text 21"/>
          <p:cNvSpPr txBox="1"/>
          <p:nvPr/>
        </p:nvSpPr>
        <p:spPr>
          <a:xfrm>
            <a:off x="6483096" y="267004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Apresentações</a:t>
            </a:r>
            <a:endParaRPr lang="en-US" sz="1200" dirty="0"/>
          </a:p>
        </p:txBody>
      </p:sp>
      <p:sp>
        <p:nvSpPr>
          <p:cNvPr id="30" name="Text 22"/>
          <p:cNvSpPr txBox="1"/>
          <p:nvPr/>
        </p:nvSpPr>
        <p:spPr>
          <a:xfrm>
            <a:off x="6528816" y="297180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 por equipe</a:t>
            </a:r>
            <a:endParaRPr lang="en-US" sz="1000" dirty="0"/>
          </a:p>
        </p:txBody>
      </p:sp>
      <p:sp>
        <p:nvSpPr>
          <p:cNvPr id="31" name="Text 23"/>
          <p:cNvSpPr txBox="1"/>
          <p:nvPr/>
        </p:nvSpPr>
        <p:spPr>
          <a:xfrm>
            <a:off x="457200" y="4023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sair daqui sabendo transformar um objetivo de negócio em um plano rastreável, com escopo, prioridade, Sprint e acompanhamento.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Desafios da gestão tradicional de projetos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82296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os projetos costumam perder o controle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457200" y="137160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594360" y="1645920"/>
            <a:ext cx="548640" cy="54864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" y="1788566"/>
            <a:ext cx="263347" cy="263347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80160" y="157276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Pouca visibilidade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1280160" y="19842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o andamento real do projeto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3108960" y="137160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3246120" y="1645920"/>
            <a:ext cx="548640" cy="54864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8766" y="1788566"/>
            <a:ext cx="263347" cy="26334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931920" y="157276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 dispersa</a:t>
            </a:r>
            <a:endParaRPr lang="en-US" sz="1200" dirty="0"/>
          </a:p>
        </p:txBody>
      </p:sp>
      <p:sp>
        <p:nvSpPr>
          <p:cNvPr id="16" name="Text 10"/>
          <p:cNvSpPr txBox="1"/>
          <p:nvPr/>
        </p:nvSpPr>
        <p:spPr>
          <a:xfrm>
            <a:off x="3931920" y="19842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e-mail, planilhas, conversas soltas</a:t>
            </a:r>
            <a:endParaRPr lang="en-US" sz="1000" dirty="0"/>
          </a:p>
        </p:txBody>
      </p:sp>
      <p:sp>
        <p:nvSpPr>
          <p:cNvPr id="17" name="Shape 11"/>
          <p:cNvSpPr/>
          <p:nvPr/>
        </p:nvSpPr>
        <p:spPr>
          <a:xfrm>
            <a:off x="5760720" y="137160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5897880" y="1645920"/>
            <a:ext cx="548640" cy="54864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0526" y="1788566"/>
            <a:ext cx="263347" cy="26334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583680" y="157276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Retrabalho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6583680" y="19842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perda de informações e decisões</a:t>
            </a:r>
            <a:endParaRPr lang="en-US" sz="1000" dirty="0"/>
          </a:p>
        </p:txBody>
      </p:sp>
      <p:sp>
        <p:nvSpPr>
          <p:cNvPr id="22" name="Shape 15"/>
          <p:cNvSpPr/>
          <p:nvPr/>
        </p:nvSpPr>
        <p:spPr>
          <a:xfrm>
            <a:off x="457200" y="260604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594360" y="2880360"/>
            <a:ext cx="548640" cy="54864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006" y="3023006"/>
            <a:ext cx="263347" cy="263347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1280160" y="280720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Entregas difíceis de acompanhar</a:t>
            </a:r>
            <a:endParaRPr lang="en-US" sz="1200" dirty="0"/>
          </a:p>
        </p:txBody>
      </p:sp>
      <p:sp>
        <p:nvSpPr>
          <p:cNvPr id="26" name="Text 18"/>
          <p:cNvSpPr txBox="1"/>
          <p:nvPr/>
        </p:nvSpPr>
        <p:spPr>
          <a:xfrm>
            <a:off x="1280160" y="321868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faz o quê, e até quando?</a:t>
            </a:r>
            <a:endParaRPr lang="en-US" sz="1000" dirty="0"/>
          </a:p>
        </p:txBody>
      </p:sp>
      <p:sp>
        <p:nvSpPr>
          <p:cNvPr id="27" name="Shape 19"/>
          <p:cNvSpPr/>
          <p:nvPr/>
        </p:nvSpPr>
        <p:spPr>
          <a:xfrm>
            <a:off x="3108960" y="260604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3246120" y="2880360"/>
            <a:ext cx="548640" cy="54864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88766" y="3023006"/>
            <a:ext cx="263347" cy="263347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3931920" y="280720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rastreabilidade</a:t>
            </a:r>
            <a:endParaRPr lang="en-US" sz="1200" dirty="0"/>
          </a:p>
        </p:txBody>
      </p:sp>
      <p:sp>
        <p:nvSpPr>
          <p:cNvPr id="31" name="Text 22"/>
          <p:cNvSpPr txBox="1"/>
          <p:nvPr/>
        </p:nvSpPr>
        <p:spPr>
          <a:xfrm>
            <a:off x="3931920" y="321868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histórico das mudanças</a:t>
            </a:r>
            <a:endParaRPr lang="en-US" sz="1000" dirty="0"/>
          </a:p>
        </p:txBody>
      </p:sp>
      <p:sp>
        <p:nvSpPr>
          <p:cNvPr id="32" name="Shape 23"/>
          <p:cNvSpPr/>
          <p:nvPr/>
        </p:nvSpPr>
        <p:spPr>
          <a:xfrm>
            <a:off x="5760720" y="260604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5897880" y="2880360"/>
            <a:ext cx="548640" cy="54864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40526" y="3023006"/>
            <a:ext cx="263347" cy="263347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583680" y="280720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inconsistentes</a:t>
            </a:r>
            <a:endParaRPr lang="en-US" sz="1200" dirty="0"/>
          </a:p>
        </p:txBody>
      </p:sp>
      <p:sp>
        <p:nvSpPr>
          <p:cNvPr id="36" name="Text 26"/>
          <p:cNvSpPr txBox="1"/>
          <p:nvPr/>
        </p:nvSpPr>
        <p:spPr>
          <a:xfrm>
            <a:off x="6583680" y="321868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 tomada de decisão</a:t>
            </a:r>
            <a:endParaRPr lang="en-US" sz="1000" dirty="0"/>
          </a:p>
        </p:txBody>
      </p:sp>
      <p:sp>
        <p:nvSpPr>
          <p:cNvPr id="37" name="Text 27"/>
          <p:cNvSpPr txBox="1"/>
          <p:nvPr/>
        </p:nvSpPr>
        <p:spPr>
          <a:xfrm>
            <a:off x="457200" y="40233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modernas surgiram justamente para atacar esses problemas e para integrar as áreas técnicas e de negócio.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DevOps?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100584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é mais do que uma ferramenta ou metodologia: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uma cultura que une Desenvolvimento (Dev) e Operações (Ops) para entregar valor de forma rápida, contínua e com qualidade, com o mínimo de atrito entre as equipes.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457200" y="269748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85800" y="28803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não é apenas tecnologia.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2918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colaboração, automação, visibilidade e melhoria contínua.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754880" y="1005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benefícios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754880" y="1417320"/>
            <a:ext cx="411480" cy="41148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1865" y="1524305"/>
            <a:ext cx="197510" cy="19751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03520" y="1417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 times técnicos e não técnicos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4754880" y="1965960"/>
            <a:ext cx="411480" cy="41148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1865" y="2072945"/>
            <a:ext cx="197510" cy="19751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303520" y="1965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 do planejamento à entrega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4754880" y="2514600"/>
            <a:ext cx="411480" cy="41148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1865" y="2621585"/>
            <a:ext cx="197510" cy="19751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03520" y="25146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 o tempo de entrega, com qualidade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4754880" y="3063240"/>
            <a:ext cx="411480" cy="41148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1865" y="3170225"/>
            <a:ext cx="197510" cy="19751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5303520" y="3063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visibilidade e rastreabilidade</a:t>
            </a:r>
            <a:endParaRPr lang="en-US" sz="1200" dirty="0"/>
          </a:p>
        </p:txBody>
      </p:sp>
      <p:sp>
        <p:nvSpPr>
          <p:cNvPr id="23" name="Shape 15"/>
          <p:cNvSpPr/>
          <p:nvPr/>
        </p:nvSpPr>
        <p:spPr>
          <a:xfrm>
            <a:off x="4754880" y="3611880"/>
            <a:ext cx="411480" cy="41148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61865" y="3718865"/>
            <a:ext cx="197510" cy="19751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5303520" y="36118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Processos em um único ecossistema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DevOps: uma plataforma, cinco serviços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82296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planejamento à entrega, tudo integrado e rastreável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457200" y="1417320"/>
            <a:ext cx="1499616" cy="2148840"/>
          </a:xfrm>
          <a:prstGeom prst="roundRect">
            <a:avLst>
              <a:gd name="adj" fmla="val 4878"/>
            </a:avLst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86968" y="1600200"/>
            <a:ext cx="640080" cy="64008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9" y="1766621"/>
            <a:ext cx="307238" cy="30723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2920" y="2377440"/>
            <a:ext cx="14081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Boards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66928" y="2715768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D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Planejamento: backlog, Kanban, sprints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2048256" y="1417320"/>
            <a:ext cx="1499616" cy="2148840"/>
          </a:xfrm>
          <a:prstGeom prst="roundRect">
            <a:avLst>
              <a:gd name="adj" fmla="val 4878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2478024" y="1600200"/>
            <a:ext cx="640080" cy="640080"/>
          </a:xfrm>
          <a:prstGeom prst="ellipse">
            <a:avLst/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4445" y="1766621"/>
            <a:ext cx="307238" cy="30723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2093976" y="2377440"/>
            <a:ext cx="14081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Repos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2157984" y="2715768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Versionamento de código (Git)</a:t>
            </a:r>
            <a:endParaRPr lang="en-US" sz="1000" dirty="0"/>
          </a:p>
        </p:txBody>
      </p:sp>
      <p:sp>
        <p:nvSpPr>
          <p:cNvPr id="17" name="Shape 11"/>
          <p:cNvSpPr/>
          <p:nvPr/>
        </p:nvSpPr>
        <p:spPr>
          <a:xfrm>
            <a:off x="3639312" y="1417320"/>
            <a:ext cx="1499616" cy="2148840"/>
          </a:xfrm>
          <a:prstGeom prst="roundRect">
            <a:avLst>
              <a:gd name="adj" fmla="val 4878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069080" y="1600200"/>
            <a:ext cx="640080" cy="640080"/>
          </a:xfrm>
          <a:prstGeom prst="ellipse">
            <a:avLst/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5501" y="1766621"/>
            <a:ext cx="307238" cy="307238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3685032" y="2377440"/>
            <a:ext cx="14081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Pipelines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3749040" y="2715768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Automação: integração e entrega contínua (CI/CD)</a:t>
            </a:r>
            <a:endParaRPr lang="en-US" sz="1000" dirty="0"/>
          </a:p>
        </p:txBody>
      </p:sp>
      <p:sp>
        <p:nvSpPr>
          <p:cNvPr id="22" name="Shape 15"/>
          <p:cNvSpPr/>
          <p:nvPr/>
        </p:nvSpPr>
        <p:spPr>
          <a:xfrm>
            <a:off x="5230368" y="1417320"/>
            <a:ext cx="1499616" cy="2148840"/>
          </a:xfrm>
          <a:prstGeom prst="roundRect">
            <a:avLst>
              <a:gd name="adj" fmla="val 4878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5660136" y="1600200"/>
            <a:ext cx="640080" cy="640080"/>
          </a:xfrm>
          <a:prstGeom prst="ellipse">
            <a:avLst/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6557" y="1766621"/>
            <a:ext cx="307238" cy="307238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276088" y="2377440"/>
            <a:ext cx="14081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Test Plans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5340096" y="2715768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manuais e automatizados</a:t>
            </a:r>
            <a:endParaRPr lang="en-US" sz="1000" dirty="0"/>
          </a:p>
        </p:txBody>
      </p:sp>
      <p:sp>
        <p:nvSpPr>
          <p:cNvPr id="27" name="Shape 19"/>
          <p:cNvSpPr/>
          <p:nvPr/>
        </p:nvSpPr>
        <p:spPr>
          <a:xfrm>
            <a:off x="6821424" y="1417320"/>
            <a:ext cx="1499616" cy="2148840"/>
          </a:xfrm>
          <a:prstGeom prst="roundRect">
            <a:avLst>
              <a:gd name="adj" fmla="val 4878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7251192" y="1600200"/>
            <a:ext cx="640080" cy="640080"/>
          </a:xfrm>
          <a:prstGeom prst="ellipse">
            <a:avLst/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17613" y="1766621"/>
            <a:ext cx="307238" cy="307238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867144" y="2377440"/>
            <a:ext cx="14081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Artifacts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6931152" y="2715768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Pacotes (npm, NuGet, etc.)</a:t>
            </a:r>
            <a:endParaRPr lang="en-US" sz="1000" dirty="0"/>
          </a:p>
        </p:txBody>
      </p:sp>
      <p:sp>
        <p:nvSpPr>
          <p:cNvPr id="32" name="Shape 23"/>
          <p:cNvSpPr/>
          <p:nvPr/>
        </p:nvSpPr>
        <p:spPr>
          <a:xfrm>
            <a:off x="457200" y="3749040"/>
            <a:ext cx="1499616" cy="365760"/>
          </a:xfrm>
          <a:prstGeom prst="roundRect">
            <a:avLst>
              <a:gd name="adj" fmla="val 20000"/>
            </a:avLst>
          </a:prstGeom>
          <a:solidFill>
            <a:srgbClr val="C3DDB9"/>
          </a:solidFill>
          <a:ln w="12700">
            <a:solidFill>
              <a:srgbClr val="C3DDB9"/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457200" y="374904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HOJE</a:t>
            </a:r>
            <a:endParaRPr lang="en-US" sz="1100" dirty="0"/>
          </a:p>
        </p:txBody>
      </p:sp>
      <p:sp>
        <p:nvSpPr>
          <p:cNvPr id="34" name="Text 25"/>
          <p:cNvSpPr txBox="1"/>
          <p:nvPr/>
        </p:nvSpPr>
        <p:spPr>
          <a:xfrm>
            <a:off x="2148840" y="37490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demais serviços aparecem só na demonstração: a gestão acontece no Boards.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Boards: o que vamos usar hoje</a:t>
            </a:r>
            <a:endParaRPr lang="en-US" sz="2600" dirty="0"/>
          </a:p>
        </p:txBody>
      </p:sp>
      <p:sp>
        <p:nvSpPr>
          <p:cNvPr id="6" name="Shape 2"/>
          <p:cNvSpPr/>
          <p:nvPr/>
        </p:nvSpPr>
        <p:spPr>
          <a:xfrm>
            <a:off x="457200" y="1051560"/>
            <a:ext cx="548640" cy="54864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846" y="1194206"/>
            <a:ext cx="263347" cy="263347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188720" y="10515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500" dirty="0"/>
          </a:p>
        </p:txBody>
      </p:sp>
      <p:sp>
        <p:nvSpPr>
          <p:cNvPr id="9" name="Text 4"/>
          <p:cNvSpPr txBox="1"/>
          <p:nvPr/>
        </p:nvSpPr>
        <p:spPr>
          <a:xfrm>
            <a:off x="3200400" y="10515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priorizada de tudo o que o projeto precisa entregar.</a:t>
            </a:r>
            <a:endParaRPr lang="en-US" sz="1300" dirty="0"/>
          </a:p>
        </p:txBody>
      </p:sp>
      <p:sp>
        <p:nvSpPr>
          <p:cNvPr id="10" name="Shape 5"/>
          <p:cNvSpPr/>
          <p:nvPr/>
        </p:nvSpPr>
        <p:spPr>
          <a:xfrm>
            <a:off x="457200" y="1764792"/>
            <a:ext cx="548640" cy="54864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846" y="1907438"/>
            <a:ext cx="263347" cy="263347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188720" y="176479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(Kanban)</a:t>
            </a:r>
            <a:endParaRPr lang="en-US" sz="1500" dirty="0"/>
          </a:p>
        </p:txBody>
      </p:sp>
      <p:sp>
        <p:nvSpPr>
          <p:cNvPr id="13" name="Text 7"/>
          <p:cNvSpPr txBox="1"/>
          <p:nvPr/>
        </p:nvSpPr>
        <p:spPr>
          <a:xfrm>
            <a:off x="3200400" y="176479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Quadro visual: A fazer → Fazendo → Feito.</a:t>
            </a:r>
            <a:endParaRPr lang="en-US" sz="1300" dirty="0"/>
          </a:p>
        </p:txBody>
      </p:sp>
      <p:sp>
        <p:nvSpPr>
          <p:cNvPr id="14" name="Shape 8"/>
          <p:cNvSpPr/>
          <p:nvPr/>
        </p:nvSpPr>
        <p:spPr>
          <a:xfrm>
            <a:off x="457200" y="2478024"/>
            <a:ext cx="548640" cy="54864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46" y="2620670"/>
            <a:ext cx="263347" cy="263347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188720" y="247802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</a:t>
            </a:r>
            <a:endParaRPr lang="en-US" sz="1500" dirty="0"/>
          </a:p>
        </p:txBody>
      </p:sp>
      <p:sp>
        <p:nvSpPr>
          <p:cNvPr id="17" name="Text 10"/>
          <p:cNvSpPr txBox="1"/>
          <p:nvPr/>
        </p:nvSpPr>
        <p:spPr>
          <a:xfrm>
            <a:off x="3200400" y="247802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Ciclos curtos (ex.: 2 semanas) com meta e capacidade.</a:t>
            </a:r>
            <a:endParaRPr lang="en-US" sz="1300" dirty="0"/>
          </a:p>
        </p:txBody>
      </p:sp>
      <p:sp>
        <p:nvSpPr>
          <p:cNvPr id="18" name="Shape 11"/>
          <p:cNvSpPr/>
          <p:nvPr/>
        </p:nvSpPr>
        <p:spPr>
          <a:xfrm>
            <a:off x="457200" y="3191256"/>
            <a:ext cx="548640" cy="54864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846" y="3333902"/>
            <a:ext cx="263347" cy="263347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188720" y="31912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(Queries)</a:t>
            </a:r>
            <a:endParaRPr lang="en-US" sz="1500" dirty="0"/>
          </a:p>
        </p:txBody>
      </p:sp>
      <p:sp>
        <p:nvSpPr>
          <p:cNvPr id="21" name="Text 13"/>
          <p:cNvSpPr txBox="1"/>
          <p:nvPr/>
        </p:nvSpPr>
        <p:spPr>
          <a:xfrm>
            <a:off x="3200400" y="319125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salvos: riscos abertos, itens atrasados...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457200" y="3904488"/>
            <a:ext cx="548640" cy="54864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9846" y="4047134"/>
            <a:ext cx="263347" cy="263347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390448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n-US" sz="1500" dirty="0"/>
          </a:p>
        </p:txBody>
      </p:sp>
      <p:sp>
        <p:nvSpPr>
          <p:cNvPr id="25" name="Text 16"/>
          <p:cNvSpPr txBox="1"/>
          <p:nvPr/>
        </p:nvSpPr>
        <p:spPr>
          <a:xfrm>
            <a:off x="3200400" y="390448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com progresso, burndown e indicadores.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Glossário rápido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82296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vocabulário do Azure Boards traduzido para gestão de projetos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78638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00400"/>
                <a:gridCol w="2926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F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F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F8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33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 objetivo ou iniciativa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5B64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Lançar o app de delivery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33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 relevante que compõe o Epic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5B64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 de parceiros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33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Story / PBI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Necessidade de um usuário, com valor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5B64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cliente, quero acompanhar meu pedido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33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 concreta, com responsável e horas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5B64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Treinar equipe da loja 1 (4h)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33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Backlog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 priorizada de itens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5B64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Ordem = prioridade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33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Ciclo curto com meta e capacidade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5B64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1: 2 semanas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33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aceite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saberemos que está pronto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5B64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Piloto com 50 pedidos sem erro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EAP ao Backlog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82296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já conhece essa estrutura: é a decomposição do escopo do PMBOK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1188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EAP (PMBOK)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4937760" y="11887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Boards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600200"/>
            <a:ext cx="3017520" cy="502920"/>
          </a:xfrm>
          <a:prstGeom prst="roundRect">
            <a:avLst>
              <a:gd name="adj" fmla="val 14545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16002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/ Programa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3794760" y="1719072"/>
            <a:ext cx="822960" cy="274320"/>
          </a:xfrm>
          <a:prstGeom prst="rightArrow">
            <a:avLst/>
          </a:prstGeom>
          <a:solidFill>
            <a:srgbClr val="C3DDB9"/>
          </a:solidFill>
          <a:ln w="12700">
            <a:solidFill>
              <a:srgbClr val="C3DDB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937760" y="1600200"/>
            <a:ext cx="3383280" cy="502920"/>
          </a:xfrm>
          <a:prstGeom prst="roundRect">
            <a:avLst>
              <a:gd name="adj" fmla="val 14545"/>
            </a:avLst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029200" y="16002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21792" y="2258568"/>
            <a:ext cx="2852928" cy="502920"/>
          </a:xfrm>
          <a:prstGeom prst="roundRect">
            <a:avLst>
              <a:gd name="adj" fmla="val 14545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13232" y="2258568"/>
            <a:ext cx="2670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principal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3794760" y="2377440"/>
            <a:ext cx="822960" cy="274320"/>
          </a:xfrm>
          <a:prstGeom prst="rightArrow">
            <a:avLst/>
          </a:prstGeom>
          <a:solidFill>
            <a:srgbClr val="C3DDB9"/>
          </a:solidFill>
          <a:ln w="12700">
            <a:solidFill>
              <a:srgbClr val="C3DDB9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102352" y="2258568"/>
            <a:ext cx="3218688" cy="502920"/>
          </a:xfrm>
          <a:prstGeom prst="roundRect">
            <a:avLst>
              <a:gd name="adj" fmla="val 14545"/>
            </a:avLst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193792" y="2258568"/>
            <a:ext cx="3035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786384" y="2916936"/>
            <a:ext cx="2688336" cy="502920"/>
          </a:xfrm>
          <a:prstGeom prst="roundRect">
            <a:avLst>
              <a:gd name="adj" fmla="val 14545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77824" y="2916936"/>
            <a:ext cx="2505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Pacote de trabalho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3794760" y="3035808"/>
            <a:ext cx="822960" cy="274320"/>
          </a:xfrm>
          <a:prstGeom prst="rightArrow">
            <a:avLst/>
          </a:prstGeom>
          <a:solidFill>
            <a:srgbClr val="C3DDB9"/>
          </a:solidFill>
          <a:ln w="12700">
            <a:solidFill>
              <a:srgbClr val="C3DDB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266944" y="2916936"/>
            <a:ext cx="3054096" cy="502920"/>
          </a:xfrm>
          <a:prstGeom prst="roundRect">
            <a:avLst>
              <a:gd name="adj" fmla="val 14545"/>
            </a:avLst>
          </a:prstGeom>
          <a:solidFill>
            <a:srgbClr val="5B6BFF"/>
          </a:solidFill>
          <a:ln w="12700">
            <a:solidFill>
              <a:srgbClr val="5B6B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358384" y="2916936"/>
            <a:ext cx="2871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Story · PBI · Requirement · Issue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950976" y="3575304"/>
            <a:ext cx="2523744" cy="502920"/>
          </a:xfrm>
          <a:prstGeom prst="roundRect">
            <a:avLst>
              <a:gd name="adj" fmla="val 14545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42416" y="3575304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3794760" y="3694176"/>
            <a:ext cx="822960" cy="274320"/>
          </a:xfrm>
          <a:prstGeom prst="rightArrow">
            <a:avLst/>
          </a:prstGeom>
          <a:solidFill>
            <a:srgbClr val="C3DDB9"/>
          </a:solidFill>
          <a:ln w="12700">
            <a:solidFill>
              <a:srgbClr val="C3DDB9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431536" y="3575304"/>
            <a:ext cx="2889504" cy="502920"/>
          </a:xfrm>
          <a:prstGeom prst="roundRect">
            <a:avLst>
              <a:gd name="adj" fmla="val 14545"/>
            </a:avLst>
          </a:prstGeom>
          <a:solidFill>
            <a:srgbClr val="8C97FF"/>
          </a:solidFill>
          <a:ln w="12700">
            <a:solidFill>
              <a:srgbClr val="8C97F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522976" y="3575304"/>
            <a:ext cx="2706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457200" y="42976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Diferença-chave: no Boards a EAP vira viva, com responsável, estimativa, estado e histórico em cada item.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4 processos do Azure DevOps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82296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processo é escolhido ao criar o projeto e define a hierarquia dos itens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457200" y="1280160"/>
            <a:ext cx="1874520" cy="3429000"/>
          </a:xfrm>
          <a:prstGeom prst="roundRect">
            <a:avLst>
              <a:gd name="adj" fmla="val 3902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457200" y="13716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594360" y="1810512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94360" y="181051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67512" y="2194560"/>
            <a:ext cx="1527048" cy="310896"/>
          </a:xfrm>
          <a:prstGeom prst="roundRect">
            <a:avLst>
              <a:gd name="adj" fmla="val 14706"/>
            </a:avLst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67512" y="2194560"/>
            <a:ext cx="1527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740664" y="2578608"/>
            <a:ext cx="1453896" cy="310896"/>
          </a:xfrm>
          <a:prstGeom prst="roundRect">
            <a:avLst>
              <a:gd name="adj" fmla="val 14706"/>
            </a:avLst>
          </a:prstGeom>
          <a:solidFill>
            <a:srgbClr val="8C97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40664" y="2578608"/>
            <a:ext cx="1453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3429000"/>
            <a:ext cx="1655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Simples e direto. Poucos estados: To Do, Doing, Done.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2450592" y="1280160"/>
            <a:ext cx="1874520" cy="3429000"/>
          </a:xfrm>
          <a:prstGeom prst="roundRect">
            <a:avLst>
              <a:gd name="adj" fmla="val 3902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2450592" y="13716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2587752" y="1810512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587752" y="181051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2660904" y="2194560"/>
            <a:ext cx="1527048" cy="310896"/>
          </a:xfrm>
          <a:prstGeom prst="roundRect">
            <a:avLst>
              <a:gd name="adj" fmla="val 14706"/>
            </a:avLst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2660904" y="2194560"/>
            <a:ext cx="1527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2734056" y="2578608"/>
            <a:ext cx="1453896" cy="310896"/>
          </a:xfrm>
          <a:prstGeom prst="roundRect">
            <a:avLst>
              <a:gd name="adj" fmla="val 14706"/>
            </a:avLst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734056" y="2578608"/>
            <a:ext cx="1453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Story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2807208" y="2962656"/>
            <a:ext cx="1380744" cy="310896"/>
          </a:xfrm>
          <a:prstGeom prst="roundRect">
            <a:avLst>
              <a:gd name="adj" fmla="val 14706"/>
            </a:avLst>
          </a:prstGeom>
          <a:solidFill>
            <a:srgbClr val="8C97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2807208" y="2962656"/>
            <a:ext cx="1380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2560320" y="3429000"/>
            <a:ext cx="1655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Flexível, orientado a produto. Estimativa em Story Points.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4443984" y="1280160"/>
            <a:ext cx="1874520" cy="3429000"/>
          </a:xfrm>
          <a:prstGeom prst="roundRect">
            <a:avLst>
              <a:gd name="adj" fmla="val 3902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443984" y="13716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</a:t>
            </a:r>
            <a:endParaRPr lang="en-US" sz="1800" dirty="0"/>
          </a:p>
        </p:txBody>
      </p:sp>
      <p:sp>
        <p:nvSpPr>
          <p:cNvPr id="29" name="Shape 25"/>
          <p:cNvSpPr/>
          <p:nvPr/>
        </p:nvSpPr>
        <p:spPr>
          <a:xfrm>
            <a:off x="4581144" y="1810512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581144" y="181051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4654296" y="2194560"/>
            <a:ext cx="1527048" cy="310896"/>
          </a:xfrm>
          <a:prstGeom prst="roundRect">
            <a:avLst>
              <a:gd name="adj" fmla="val 14706"/>
            </a:avLst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654296" y="2194560"/>
            <a:ext cx="1527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4727448" y="2578608"/>
            <a:ext cx="1453896" cy="310896"/>
          </a:xfrm>
          <a:prstGeom prst="roundRect">
            <a:avLst>
              <a:gd name="adj" fmla="val 14706"/>
            </a:avLst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727448" y="2578608"/>
            <a:ext cx="1453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PBI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4800600" y="2962656"/>
            <a:ext cx="1380744" cy="310896"/>
          </a:xfrm>
          <a:prstGeom prst="roundRect">
            <a:avLst>
              <a:gd name="adj" fmla="val 14706"/>
            </a:avLst>
          </a:prstGeom>
          <a:solidFill>
            <a:srgbClr val="8C97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800600" y="2962656"/>
            <a:ext cx="1380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100" dirty="0"/>
          </a:p>
        </p:txBody>
      </p:sp>
      <p:sp>
        <p:nvSpPr>
          <p:cNvPr id="37" name="Text 33"/>
          <p:cNvSpPr txBox="1"/>
          <p:nvPr/>
        </p:nvSpPr>
        <p:spPr>
          <a:xfrm>
            <a:off x="4553712" y="3429000"/>
            <a:ext cx="1655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Estruturado em Sprints. Estimativa em Effort; foco em burndown.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6437376" y="1280160"/>
            <a:ext cx="1874520" cy="3429000"/>
          </a:xfrm>
          <a:prstGeom prst="roundRect">
            <a:avLst>
              <a:gd name="adj" fmla="val 3902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437376" y="13716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CMMI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>
            <a:off x="6574536" y="1810512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574536" y="181051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6647688" y="2194560"/>
            <a:ext cx="1527048" cy="310896"/>
          </a:xfrm>
          <a:prstGeom prst="roundRect">
            <a:avLst>
              <a:gd name="adj" fmla="val 14706"/>
            </a:avLst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647688" y="2194560"/>
            <a:ext cx="1527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100" dirty="0"/>
          </a:p>
        </p:txBody>
      </p:sp>
      <p:sp>
        <p:nvSpPr>
          <p:cNvPr id="44" name="Shape 40"/>
          <p:cNvSpPr/>
          <p:nvPr/>
        </p:nvSpPr>
        <p:spPr>
          <a:xfrm>
            <a:off x="6720840" y="2578608"/>
            <a:ext cx="1453896" cy="310896"/>
          </a:xfrm>
          <a:prstGeom prst="roundRect">
            <a:avLst>
              <a:gd name="adj" fmla="val 14706"/>
            </a:avLst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720840" y="2578608"/>
            <a:ext cx="1453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</a:t>
            </a:r>
            <a:endParaRPr lang="en-US" sz="1100" dirty="0"/>
          </a:p>
        </p:txBody>
      </p:sp>
      <p:sp>
        <p:nvSpPr>
          <p:cNvPr id="46" name="Shape 42"/>
          <p:cNvSpPr/>
          <p:nvPr/>
        </p:nvSpPr>
        <p:spPr>
          <a:xfrm>
            <a:off x="6793992" y="2962656"/>
            <a:ext cx="1380744" cy="310896"/>
          </a:xfrm>
          <a:prstGeom prst="roundRect">
            <a:avLst>
              <a:gd name="adj" fmla="val 14706"/>
            </a:avLst>
          </a:prstGeom>
          <a:solidFill>
            <a:srgbClr val="8C97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793992" y="2962656"/>
            <a:ext cx="1380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100" dirty="0"/>
          </a:p>
        </p:txBody>
      </p:sp>
      <p:sp>
        <p:nvSpPr>
          <p:cNvPr id="48" name="Text 44"/>
          <p:cNvSpPr txBox="1"/>
          <p:nvPr/>
        </p:nvSpPr>
        <p:spPr>
          <a:xfrm>
            <a:off x="6547104" y="3429000"/>
            <a:ext cx="1655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Formal, voltado a governança e auditoria.</a:t>
            </a:r>
            <a:endParaRPr lang="en-US" sz="1000" dirty="0"/>
          </a:p>
        </p:txBody>
      </p:sp>
      <p:sp>
        <p:nvSpPr>
          <p:cNvPr id="49" name="Text 45"/>
          <p:cNvSpPr txBox="1"/>
          <p:nvPr/>
        </p:nvSpPr>
        <p:spPr>
          <a:xfrm>
            <a:off x="6547104" y="4023360"/>
            <a:ext cx="1655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Change Request, Risk, Review e Issue relacionados ao Requirement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raciocínio, vocabulário diferente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82296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Exemplos de decomposição em cada processo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78638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66344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F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 de decomposição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F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 usar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F8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33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Epic: Implantar Portal do Cliente → Issue: Tela de login → Task: Criar formulário de autenticação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4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Times pequenos, fluxo operacional, projetos simples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33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Agile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Epic: Sistema de Delivery → Feature: Gestão de pedidos → User Story: Como cliente, quero acompanhar meu pedido → Task: Criar tela de rastreamento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4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Produtos digitais, entregas iterativas, pouca formalidade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33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Epic: App bancário → Feature: Transferência PIX → PBI: Permitir transferência instantânea → Task: Validar chave PIX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4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Times com Sprints bem definidas e cerimônias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33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Epic: Sistema governamental → Feature: Governança de acessos → Requirement: Controle de acesso por perfil → Task: Atualizar regras de permissão  (+ Change Request: alterar política de autenticação)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4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Governança, compliance, auditoria e aprovações formais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utiliza?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82296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 de diversos setores, em ambientes que exigem: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457200" y="1325880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594360" y="1417320"/>
            <a:ext cx="502920" cy="50292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119" y="1548079"/>
            <a:ext cx="241402" cy="24140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152144" y="1325880"/>
            <a:ext cx="11155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</a:t>
            </a:r>
            <a:endParaRPr lang="en-US" sz="1100" dirty="0"/>
          </a:p>
        </p:txBody>
      </p:sp>
      <p:sp>
        <p:nvSpPr>
          <p:cNvPr id="11" name="Shape 6"/>
          <p:cNvSpPr/>
          <p:nvPr/>
        </p:nvSpPr>
        <p:spPr>
          <a:xfrm>
            <a:off x="2450592" y="1325880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2587752" y="1417320"/>
            <a:ext cx="502920" cy="50292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8511" y="1548079"/>
            <a:ext cx="241402" cy="24140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145536" y="1325880"/>
            <a:ext cx="11155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Colaboração</a:t>
            </a:r>
            <a:endParaRPr lang="en-US" sz="1100" dirty="0"/>
          </a:p>
        </p:txBody>
      </p:sp>
      <p:sp>
        <p:nvSpPr>
          <p:cNvPr id="15" name="Shape 9"/>
          <p:cNvSpPr/>
          <p:nvPr/>
        </p:nvSpPr>
        <p:spPr>
          <a:xfrm>
            <a:off x="4443984" y="1325880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581144" y="1417320"/>
            <a:ext cx="502920" cy="50292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1903" y="1548079"/>
            <a:ext cx="241402" cy="24140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5138928" y="1325880"/>
            <a:ext cx="11155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Governança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6437376" y="1325880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6574536" y="1417320"/>
            <a:ext cx="502920" cy="50292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5295" y="1548079"/>
            <a:ext cx="241402" cy="241402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132320" y="1325880"/>
            <a:ext cx="11155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Agilidade</a:t>
            </a:r>
            <a:endParaRPr lang="en-US" sz="1100" dirty="0"/>
          </a:p>
        </p:txBody>
      </p:sp>
      <p:pic>
        <p:nvPicPr>
          <p:cNvPr id="23" name="Image 6" descr="/tmp/claude-1000/-media-arimateia-junior-Dados5-UNIFOR-DOCENTE-AZURE-DEVOPS/e87efb98-d81a-41ec-afb2-eea59369fc18/scratchpad/img/logos_empresa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2377440"/>
            <a:ext cx="6949440" cy="155448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457200" y="44348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 · Financeiro · Indústria · Governo e Saúde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que apoiam a gestão do projeto</a:t>
            </a:r>
            <a:endParaRPr lang="en-US" sz="2600" dirty="0"/>
          </a:p>
        </p:txBody>
      </p:sp>
      <p:sp>
        <p:nvSpPr>
          <p:cNvPr id="6" name="Shape 2"/>
          <p:cNvSpPr/>
          <p:nvPr/>
        </p:nvSpPr>
        <p:spPr>
          <a:xfrm>
            <a:off x="457200" y="1097280"/>
            <a:ext cx="3840480" cy="777240"/>
          </a:xfrm>
          <a:prstGeom prst="roundRect">
            <a:avLst>
              <a:gd name="adj" fmla="val 9412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40080" y="10972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Burndown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2057400" y="109728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restante na Sprint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4434840" y="1097280"/>
            <a:ext cx="3840480" cy="777240"/>
          </a:xfrm>
          <a:prstGeom prst="roundRect">
            <a:avLst>
              <a:gd name="adj" fmla="val 9412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617720" y="10972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035040" y="109728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de entrega por Sprint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57200" y="2011680"/>
            <a:ext cx="3840480" cy="777240"/>
          </a:xfrm>
          <a:prstGeom prst="roundRect">
            <a:avLst>
              <a:gd name="adj" fmla="val 9412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" y="20116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057400" y="201168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pedido à entrega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434840" y="2011680"/>
            <a:ext cx="3840480" cy="777240"/>
          </a:xfrm>
          <a:prstGeom prst="roundRect">
            <a:avLst>
              <a:gd name="adj" fmla="val 9412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617720" y="20116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Time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6035040" y="201168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início da execução à entrega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57200" y="2926080"/>
            <a:ext cx="3840480" cy="777240"/>
          </a:xfrm>
          <a:prstGeom prst="roundRect">
            <a:avLst>
              <a:gd name="adj" fmla="val 9412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0080" y="29260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2057400" y="292608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 entregue no período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4434840" y="2926080"/>
            <a:ext cx="3840480" cy="777240"/>
          </a:xfrm>
          <a:prstGeom prst="roundRect">
            <a:avLst>
              <a:gd name="adj" fmla="val 9412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617720" y="29260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CFD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6035040" y="292608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fluxo trava (gargalos)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457200" y="3931920"/>
            <a:ext cx="7818120" cy="594360"/>
          </a:xfrm>
          <a:prstGeom prst="roundRect">
            <a:avLst>
              <a:gd name="adj" fmla="val 12308"/>
            </a:avLst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40080" y="393192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importante do que ver gráficos é interpretar o comportamento do time.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Interpretando métricas: o burndown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82296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ilustrativo: Sprint de 10 dias, 80 horas planejadas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65760" y="1188720"/>
          <a:ext cx="475488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 txBox="1"/>
          <p:nvPr/>
        </p:nvSpPr>
        <p:spPr>
          <a:xfrm>
            <a:off x="5394960" y="1188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gestor lê aqui</a:t>
            </a:r>
            <a:endParaRPr lang="en-US" sz="1400" dirty="0"/>
          </a:p>
        </p:txBody>
      </p:sp>
      <p:sp>
        <p:nvSpPr>
          <p:cNvPr id="9" name="Text 4"/>
          <p:cNvSpPr txBox="1"/>
          <p:nvPr/>
        </p:nvSpPr>
        <p:spPr>
          <a:xfrm>
            <a:off x="5394960" y="15544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real acima da ideal: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reta por dias (D3–D4):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impedimento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subindo: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entrou na Sprint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Sobrou trabalho em D10: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superestimada</a:t>
            </a:r>
            <a:endParaRPr lang="en-US" sz="1200" dirty="0"/>
          </a:p>
        </p:txBody>
      </p:sp>
      <p:sp>
        <p:nvSpPr>
          <p:cNvPr id="10" name="Shape 5"/>
          <p:cNvSpPr/>
          <p:nvPr/>
        </p:nvSpPr>
        <p:spPr>
          <a:xfrm>
            <a:off x="5394960" y="3474720"/>
            <a:ext cx="2926080" cy="1051560"/>
          </a:xfrm>
          <a:prstGeom prst="roundRect">
            <a:avLst>
              <a:gd name="adj" fmla="val 6957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5532120" y="35204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média entregue por Sprint: base para previsibilidade e planejamento das próximas.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visual e acompanhamento em tempo real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10972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permitem: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150876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Acompanhar o progresso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gargalos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Visualizar a produtividade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Monitorar bugs e riscos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Acompanhar Sprints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Apoiar a tomada de decisão</a:t>
            </a:r>
            <a:endParaRPr lang="en-US" sz="1400" dirty="0"/>
          </a:p>
        </p:txBody>
      </p:sp>
      <p:pic>
        <p:nvPicPr>
          <p:cNvPr id="8" name="Image 2" descr="/tmp/claude-1000/-media-arimateia-junior-Dados5-UNIFOR-DOCENTE-AZURE-DEVOPS/e87efb98-d81a-41ec-afb2-eea59369fc18/scratchpad/img/p18_07_16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88720"/>
            <a:ext cx="4114800" cy="262432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457200" y="4160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ajudam o gestor a decidir antes de o problema acontecer.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Posição de mercado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105156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Microsoft (Azure DevOps / Azure Boards) é avaliada pelo Gartner na categoria Enterprise Agile Planning Tools: ferramentas que permitem escalar práticas ágeis de forma integrada na organização.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457200" y="2697480"/>
            <a:ext cx="3291840" cy="1463040"/>
          </a:xfrm>
          <a:prstGeom prst="roundRect">
            <a:avLst>
              <a:gd name="adj" fmla="val 5000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94360" y="278892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o Gartner?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 global em análise de tecnologia; seus relatórios orientam decisões de grandes organizações.</a:t>
            </a:r>
            <a:endParaRPr lang="en-US" sz="1300" dirty="0"/>
          </a:p>
        </p:txBody>
      </p:sp>
      <p:pic>
        <p:nvPicPr>
          <p:cNvPr id="9" name="Image 2" descr="/tmp/claude-1000/-media-arimateia-junior-Dados5-UNIFOR-DOCENTE-AZURE-DEVOPS/e87efb98-d81a-41ec-afb2-eea59369fc18/scratchpad/img/gartn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097280"/>
            <a:ext cx="4343400" cy="2432304"/>
          </a:xfrm>
          <a:prstGeom prst="rect">
            <a:avLst/>
          </a:prstGeom>
        </p:spPr>
      </p:pic>
      <p:sp>
        <p:nvSpPr>
          <p:cNvPr id="10" name="Text 5">
            <a:hlinkClick r:id="rId4" tooltip=""/>
          </p:cNvPr>
          <p:cNvSpPr txBox="1"/>
          <p:nvPr/>
        </p:nvSpPr>
        <p:spPr>
          <a:xfrm>
            <a:off x="4023360" y="365760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gartner.com/reviews/market/enterprise-agile-planning-tools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Vantagens para a gestão de projetos</a:t>
            </a:r>
            <a:endParaRPr lang="en-US" sz="2600" dirty="0"/>
          </a:p>
        </p:txBody>
      </p:sp>
      <p:sp>
        <p:nvSpPr>
          <p:cNvPr id="6" name="Shape 2"/>
          <p:cNvSpPr/>
          <p:nvPr/>
        </p:nvSpPr>
        <p:spPr>
          <a:xfrm>
            <a:off x="457200" y="128016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1417320" y="1417320"/>
            <a:ext cx="548640" cy="54864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9966" y="1559966"/>
            <a:ext cx="263347" cy="263347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20116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completa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backlog, progresso e entregas</a:t>
            </a:r>
            <a:endParaRPr lang="en-US" sz="1100" dirty="0"/>
          </a:p>
        </p:txBody>
      </p:sp>
      <p:sp>
        <p:nvSpPr>
          <p:cNvPr id="11" name="Shape 6"/>
          <p:cNvSpPr/>
          <p:nvPr/>
        </p:nvSpPr>
        <p:spPr>
          <a:xfrm>
            <a:off x="3108960" y="128016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4069080" y="1417320"/>
            <a:ext cx="548640" cy="54864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1726" y="1559966"/>
            <a:ext cx="263347" cy="263347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200400" y="20116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Colaboração</a:t>
            </a:r>
            <a:endParaRPr lang="en-US" sz="1300" dirty="0"/>
          </a:p>
        </p:txBody>
      </p:sp>
      <p:sp>
        <p:nvSpPr>
          <p:cNvPr id="15" name="Text 9"/>
          <p:cNvSpPr txBox="1"/>
          <p:nvPr/>
        </p:nvSpPr>
        <p:spPr>
          <a:xfrm>
            <a:off x="320040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áreas técnicas e de negócio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5760720" y="128016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6720840" y="1417320"/>
            <a:ext cx="548640" cy="54864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3486" y="1559966"/>
            <a:ext cx="263347" cy="26334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852160" y="20116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Flexível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585216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Basic, Agile, Scrum ou CMMI</a:t>
            </a:r>
            <a:endParaRPr lang="en-US" sz="1100" dirty="0"/>
          </a:p>
        </p:txBody>
      </p:sp>
      <p:sp>
        <p:nvSpPr>
          <p:cNvPr id="21" name="Shape 14"/>
          <p:cNvSpPr/>
          <p:nvPr/>
        </p:nvSpPr>
        <p:spPr>
          <a:xfrm>
            <a:off x="1783080" y="288036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2743200" y="3017520"/>
            <a:ext cx="548640" cy="54864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5846" y="3160166"/>
            <a:ext cx="263347" cy="263347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874520" y="3611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Aderente</a:t>
            </a:r>
            <a:endParaRPr lang="en-US" sz="1300" dirty="0"/>
          </a:p>
        </p:txBody>
      </p:sp>
      <p:sp>
        <p:nvSpPr>
          <p:cNvPr id="25" name="Text 17"/>
          <p:cNvSpPr txBox="1"/>
          <p:nvPr/>
        </p:nvSpPr>
        <p:spPr>
          <a:xfrm>
            <a:off x="1874520" y="38862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projetos técnicos e não técnicos</a:t>
            </a:r>
            <a:endParaRPr lang="en-US" sz="1100" dirty="0"/>
          </a:p>
        </p:txBody>
      </p:sp>
      <p:sp>
        <p:nvSpPr>
          <p:cNvPr id="26" name="Shape 18"/>
          <p:cNvSpPr/>
          <p:nvPr/>
        </p:nvSpPr>
        <p:spPr>
          <a:xfrm>
            <a:off x="4434840" y="288036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5394960" y="3017520"/>
            <a:ext cx="548640" cy="54864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37606" y="3160166"/>
            <a:ext cx="263347" cy="263347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4526280" y="3611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com dados</a:t>
            </a:r>
            <a:endParaRPr lang="en-US" sz="1300" dirty="0"/>
          </a:p>
        </p:txBody>
      </p:sp>
      <p:sp>
        <p:nvSpPr>
          <p:cNvPr id="30" name="Text 21"/>
          <p:cNvSpPr txBox="1"/>
          <p:nvPr/>
        </p:nvSpPr>
        <p:spPr>
          <a:xfrm>
            <a:off x="4526280" y="38862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dashboards, indicadores e histórico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1F8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media-arimateia-junior-Dados5-UNIFOR-DOCENTE-AZURE-DEVOPS/e87efb98-d81a-41ec-afb2-eea59369fc18/scratchpad/img/capa_circu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0"/>
            <a:ext cx="1097280" cy="213055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54864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ao vivo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420624" cy="420624"/>
          </a:xfrm>
          <a:prstGeom prst="ellipse">
            <a:avLst/>
          </a:prstGeom>
          <a:solidFill>
            <a:srgbClr val="3333FF"/>
          </a:solidFill>
          <a:ln w="12700">
            <a:solidFill>
              <a:srgbClr val="CFD3F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4630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1463040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um Epic e decompor em Feature → User Story → Task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066544"/>
            <a:ext cx="420624" cy="420624"/>
          </a:xfrm>
          <a:prstGeom prst="ellipse">
            <a:avLst/>
          </a:prstGeom>
          <a:solidFill>
            <a:srgbClr val="3333FF"/>
          </a:solidFill>
          <a:ln w="12700">
            <a:solidFill>
              <a:srgbClr val="CFD3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0665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2066544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Preencher responsável, estimativa, prioridade e critério de aceite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670048"/>
            <a:ext cx="420624" cy="420624"/>
          </a:xfrm>
          <a:prstGeom prst="ellipse">
            <a:avLst/>
          </a:prstGeom>
          <a:solidFill>
            <a:srgbClr val="3333FF"/>
          </a:solidFill>
          <a:ln w="12700">
            <a:solidFill>
              <a:srgbClr val="CFD3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670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2670048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 um card no Board (Kanban)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273552"/>
            <a:ext cx="420624" cy="420624"/>
          </a:xfrm>
          <a:prstGeom prst="ellipse">
            <a:avLst/>
          </a:prstGeom>
          <a:solidFill>
            <a:srgbClr val="3333FF"/>
          </a:solidFill>
          <a:ln w="12700">
            <a:solidFill>
              <a:srgbClr val="CFD3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273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3273552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Planejar a Sprint e a capacidade do time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3877056"/>
            <a:ext cx="420624" cy="420624"/>
          </a:xfrm>
          <a:prstGeom prst="ellipse">
            <a:avLst/>
          </a:prstGeom>
          <a:solidFill>
            <a:srgbClr val="3333FF"/>
          </a:solidFill>
          <a:ln w="12700">
            <a:solidFill>
              <a:srgbClr val="CFD3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38770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877056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o dashboard e o burndown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vamos acessar hoje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82296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de criar conta ou organização: o professor já preparou tudo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457200" y="1325880"/>
            <a:ext cx="1856232" cy="2240280"/>
          </a:xfrm>
          <a:prstGeom prst="roundRect">
            <a:avLst>
              <a:gd name="adj" fmla="val 394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097280" y="1463040"/>
            <a:ext cx="566928" cy="566928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681" y="1610441"/>
            <a:ext cx="272125" cy="272125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48640" y="2148840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Convite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594360" y="2487168"/>
            <a:ext cx="1581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o e-mail “You've been invited to Azure DevOps” e clique em Join now.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2322576" y="2331720"/>
            <a:ext cx="118872" cy="201168"/>
          </a:xfrm>
          <a:prstGeom prst="rightArrow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2450592" y="1325880"/>
            <a:ext cx="1856232" cy="2240280"/>
          </a:xfrm>
          <a:prstGeom prst="roundRect">
            <a:avLst>
              <a:gd name="adj" fmla="val 394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3090672" y="1463040"/>
            <a:ext cx="566928" cy="566928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8073" y="1610441"/>
            <a:ext cx="272125" cy="272125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2542032" y="2148840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Login</a:t>
            </a:r>
            <a:endParaRPr lang="en-US" sz="1400" dirty="0"/>
          </a:p>
        </p:txBody>
      </p:sp>
      <p:sp>
        <p:nvSpPr>
          <p:cNvPr id="17" name="Text 11"/>
          <p:cNvSpPr txBox="1"/>
          <p:nvPr/>
        </p:nvSpPr>
        <p:spPr>
          <a:xfrm>
            <a:off x="2587752" y="2487168"/>
            <a:ext cx="1581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com o mesmo e-mail que recebeu o convite.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4315968" y="2331720"/>
            <a:ext cx="118872" cy="201168"/>
          </a:xfrm>
          <a:prstGeom prst="rightArrow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443984" y="1325880"/>
            <a:ext cx="1856232" cy="2240280"/>
          </a:xfrm>
          <a:prstGeom prst="roundRect">
            <a:avLst>
              <a:gd name="adj" fmla="val 394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5084064" y="1463040"/>
            <a:ext cx="566928" cy="566928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1465" y="1610441"/>
            <a:ext cx="272125" cy="272125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535424" y="2148840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Projeto</a:t>
            </a:r>
            <a:endParaRPr lang="en-US" sz="1400" dirty="0"/>
          </a:p>
        </p:txBody>
      </p:sp>
      <p:sp>
        <p:nvSpPr>
          <p:cNvPr id="23" name="Text 16"/>
          <p:cNvSpPr txBox="1"/>
          <p:nvPr/>
        </p:nvSpPr>
        <p:spPr>
          <a:xfrm>
            <a:off x="4581144" y="2487168"/>
            <a:ext cx="1581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o projeto da sua equipe (ex.: 03-scrum-banking).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6309360" y="2331720"/>
            <a:ext cx="118872" cy="201168"/>
          </a:xfrm>
          <a:prstGeom prst="rightArrow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6437376" y="1325880"/>
            <a:ext cx="1856232" cy="2240280"/>
          </a:xfrm>
          <a:prstGeom prst="roundRect">
            <a:avLst>
              <a:gd name="adj" fmla="val 394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7077456" y="1463040"/>
            <a:ext cx="566928" cy="566928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4857" y="1610441"/>
            <a:ext cx="272125" cy="272125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528816" y="2148840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Confirme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6574536" y="2487168"/>
            <a:ext cx="1581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Boards visível? Então está pronto!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3749040"/>
            <a:ext cx="7863840" cy="868680"/>
          </a:xfrm>
          <a:prstGeom prst="roundRect">
            <a:avLst>
              <a:gd name="adj" fmla="val 842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594360" y="3886200"/>
            <a:ext cx="566928" cy="566928"/>
          </a:xfrm>
          <a:prstGeom prst="ellipse">
            <a:avLst/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1761" y="4033601"/>
            <a:ext cx="272125" cy="272125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325880" y="3767328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depois da aula: 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programa Azure for Students (azure.microsoft.com/free/students) dá US$ 100 em créditos por 12 meses, sem cartão de crédito, validando com o e-mail institucional.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turma está organizada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82296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organização · 4 projetos · 1 processo por projeto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2377440" y="1234440"/>
            <a:ext cx="4023360" cy="548640"/>
          </a:xfrm>
          <a:prstGeom prst="roundRect">
            <a:avLst>
              <a:gd name="adj" fmla="val 13333"/>
            </a:avLst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4389120" y="1783080"/>
            <a:ext cx="0" cy="246888"/>
          </a:xfrm>
          <a:prstGeom prst="line">
            <a:avLst/>
          </a:prstGeom>
          <a:noFill/>
          <a:ln w="19050">
            <a:solidFill>
              <a:srgbClr val="3333F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385316" y="2029968"/>
            <a:ext cx="5980176" cy="0"/>
          </a:xfrm>
          <a:prstGeom prst="line">
            <a:avLst/>
          </a:prstGeom>
          <a:noFill/>
          <a:ln w="19050">
            <a:solidFill>
              <a:srgbClr val="3333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2377440" y="12344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Organização da turma (Azure DevOps)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385316" y="2029968"/>
            <a:ext cx="0" cy="256032"/>
          </a:xfrm>
          <a:prstGeom prst="line">
            <a:avLst/>
          </a:prstGeom>
          <a:noFill/>
          <a:ln w="19050">
            <a:solidFill>
              <a:srgbClr val="3333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57200" y="2286000"/>
            <a:ext cx="1856232" cy="1325880"/>
          </a:xfrm>
          <a:prstGeom prst="roundRect">
            <a:avLst>
              <a:gd name="adj" fmla="val 5517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57200" y="2359152"/>
            <a:ext cx="1856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278892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01-basic-portal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" y="3108960"/>
            <a:ext cx="1856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01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3378708" y="2029968"/>
            <a:ext cx="0" cy="256032"/>
          </a:xfrm>
          <a:prstGeom prst="line">
            <a:avLst/>
          </a:prstGeom>
          <a:noFill/>
          <a:ln w="19050">
            <a:solidFill>
              <a:srgbClr val="3333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450592" y="2286000"/>
            <a:ext cx="1856232" cy="1325880"/>
          </a:xfrm>
          <a:prstGeom prst="roundRect">
            <a:avLst>
              <a:gd name="adj" fmla="val 5517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50592" y="2359152"/>
            <a:ext cx="1856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</a:t>
            </a:r>
            <a:endParaRPr lang="en-US" sz="2000" dirty="0"/>
          </a:p>
        </p:txBody>
      </p:sp>
      <p:sp>
        <p:nvSpPr>
          <p:cNvPr id="19" name="Text 15"/>
          <p:cNvSpPr txBox="1"/>
          <p:nvPr/>
        </p:nvSpPr>
        <p:spPr>
          <a:xfrm>
            <a:off x="2450592" y="278892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02-agile-delivery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2450592" y="3108960"/>
            <a:ext cx="1856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02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5372100" y="2029968"/>
            <a:ext cx="0" cy="256032"/>
          </a:xfrm>
          <a:prstGeom prst="line">
            <a:avLst/>
          </a:prstGeom>
          <a:noFill/>
          <a:ln w="19050">
            <a:solidFill>
              <a:srgbClr val="3333F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443984" y="2286000"/>
            <a:ext cx="1856232" cy="1325880"/>
          </a:xfrm>
          <a:prstGeom prst="roundRect">
            <a:avLst>
              <a:gd name="adj" fmla="val 5517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443984" y="2359152"/>
            <a:ext cx="1856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</a:t>
            </a:r>
            <a:endParaRPr lang="en-US" sz="2000" dirty="0"/>
          </a:p>
        </p:txBody>
      </p:sp>
      <p:sp>
        <p:nvSpPr>
          <p:cNvPr id="24" name="Text 20"/>
          <p:cNvSpPr txBox="1"/>
          <p:nvPr/>
        </p:nvSpPr>
        <p:spPr>
          <a:xfrm>
            <a:off x="4443984" y="278892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03-scrum-banking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4443984" y="3108960"/>
            <a:ext cx="1856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03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7365492" y="2029968"/>
            <a:ext cx="0" cy="256032"/>
          </a:xfrm>
          <a:prstGeom prst="line">
            <a:avLst/>
          </a:prstGeom>
          <a:noFill/>
          <a:ln w="19050">
            <a:solidFill>
              <a:srgbClr val="3333FF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437376" y="2286000"/>
            <a:ext cx="1856232" cy="1325880"/>
          </a:xfrm>
          <a:prstGeom prst="roundRect">
            <a:avLst>
              <a:gd name="adj" fmla="val 5517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437376" y="2359152"/>
            <a:ext cx="1856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CMMI</a:t>
            </a:r>
            <a:endParaRPr lang="en-US" sz="2000" dirty="0"/>
          </a:p>
        </p:txBody>
      </p:sp>
      <p:sp>
        <p:nvSpPr>
          <p:cNvPr id="29" name="Text 25"/>
          <p:cNvSpPr txBox="1"/>
          <p:nvPr/>
        </p:nvSpPr>
        <p:spPr>
          <a:xfrm>
            <a:off x="6437376" y="278892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04-cmmi-governance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6437376" y="3108960"/>
            <a:ext cx="1856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04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457200" y="38862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com acesso Basic, no grupo Contributors do projeto da própria equipe. O professor acompanha os 4 projetos em tempo real.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Equipes</a:t>
            </a:r>
            <a:endParaRPr lang="en-US" sz="2600" dirty="0"/>
          </a:p>
        </p:txBody>
      </p:sp>
      <p:sp>
        <p:nvSpPr>
          <p:cNvPr id="6" name="Shape 2"/>
          <p:cNvSpPr/>
          <p:nvPr/>
        </p:nvSpPr>
        <p:spPr>
          <a:xfrm>
            <a:off x="457200" y="1051560"/>
            <a:ext cx="1856232" cy="3566160"/>
          </a:xfrm>
          <a:prstGeom prst="roundRect">
            <a:avLst>
              <a:gd name="adj" fmla="val 394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57200" y="1051560"/>
            <a:ext cx="1856232" cy="502920"/>
          </a:xfrm>
          <a:prstGeom prst="roundRect">
            <a:avLst>
              <a:gd name="adj" fmla="val 14545"/>
            </a:avLst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457200" y="1051560"/>
            <a:ext cx="1856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01 · Basic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1691640"/>
            <a:ext cx="16459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alunos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Composição informada pelo professor em sala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450592" y="1051560"/>
            <a:ext cx="1856232" cy="3566160"/>
          </a:xfrm>
          <a:prstGeom prst="roundRect">
            <a:avLst>
              <a:gd name="adj" fmla="val 394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2450592" y="1051560"/>
            <a:ext cx="1856232" cy="502920"/>
          </a:xfrm>
          <a:prstGeom prst="roundRect">
            <a:avLst>
              <a:gd name="adj" fmla="val 14545"/>
            </a:avLst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450592" y="1051560"/>
            <a:ext cx="1856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02 · Agile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2560320" y="1691640"/>
            <a:ext cx="16459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alunos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Composição informada pelo professor em sala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443984" y="1051560"/>
            <a:ext cx="1856232" cy="3566160"/>
          </a:xfrm>
          <a:prstGeom prst="roundRect">
            <a:avLst>
              <a:gd name="adj" fmla="val 394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443984" y="1051560"/>
            <a:ext cx="1856232" cy="502920"/>
          </a:xfrm>
          <a:prstGeom prst="roundRect">
            <a:avLst>
              <a:gd name="adj" fmla="val 14545"/>
            </a:avLst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443984" y="1051560"/>
            <a:ext cx="1856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03 · Scrum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4553712" y="1691640"/>
            <a:ext cx="16459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alunos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Composição informada pelo professor em sala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437376" y="1051560"/>
            <a:ext cx="1856232" cy="3566160"/>
          </a:xfrm>
          <a:prstGeom prst="roundRect">
            <a:avLst>
              <a:gd name="adj" fmla="val 394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37376" y="1051560"/>
            <a:ext cx="1856232" cy="502920"/>
          </a:xfrm>
          <a:prstGeom prst="roundRect">
            <a:avLst>
              <a:gd name="adj" fmla="val 14545"/>
            </a:avLst>
          </a:prstGeom>
          <a:solidFill>
            <a:srgbClr val="121F8F"/>
          </a:solidFill>
          <a:ln w="12700">
            <a:solidFill>
              <a:srgbClr val="121F8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37376" y="1051560"/>
            <a:ext cx="1856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04 · CMMI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547104" y="1691640"/>
            <a:ext cx="16459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alunos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Composição informada pelo professor em sala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cenários de cada equipe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82296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e pipelines já prontos: o foco é a gestão do projeto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457200" y="1280160"/>
            <a:ext cx="1856232" cy="2834640"/>
          </a:xfrm>
          <a:prstGeom prst="roundRect">
            <a:avLst>
              <a:gd name="adj" fmla="val 394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457200" y="1371600"/>
            <a:ext cx="1856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1783080"/>
            <a:ext cx="1673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do Cliente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66928" y="2377440"/>
            <a:ext cx="1636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acompanha solicitações, status e comunicados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3154680"/>
            <a:ext cx="16367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Mínimo: 1 Epic · 5 Issues · 10 Tasks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2450592" y="1280160"/>
            <a:ext cx="1856232" cy="2834640"/>
          </a:xfrm>
          <a:prstGeom prst="roundRect">
            <a:avLst>
              <a:gd name="adj" fmla="val 394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450592" y="1371600"/>
            <a:ext cx="1856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2542032" y="1783080"/>
            <a:ext cx="1673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Delivery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2560320" y="2377440"/>
            <a:ext cx="1636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Pedidos, rastreamento e entrega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2560320" y="3154680"/>
            <a:ext cx="16367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Mínimo: 1 Epic · 3 Features · 6 User Stories · 10 Tasks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443984" y="1280160"/>
            <a:ext cx="1856232" cy="2834640"/>
          </a:xfrm>
          <a:prstGeom prst="roundRect">
            <a:avLst>
              <a:gd name="adj" fmla="val 394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443984" y="1371600"/>
            <a:ext cx="1856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4535424" y="1783080"/>
            <a:ext cx="1673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Aplicativo Bancário PIX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4553712" y="2377440"/>
            <a:ext cx="1636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Transferência instantânea em Sprint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4553712" y="3154680"/>
            <a:ext cx="16367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Mínimo: 1 Epic · 2 Features · 6 PBIs · 9 Tasks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437376" y="1280160"/>
            <a:ext cx="1856232" cy="2834640"/>
          </a:xfrm>
          <a:prstGeom prst="roundRect">
            <a:avLst>
              <a:gd name="adj" fmla="val 3941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437376" y="1371600"/>
            <a:ext cx="1856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CMMI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6528816" y="1783080"/>
            <a:ext cx="1673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Governamental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6547104" y="2377440"/>
            <a:ext cx="1636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acesso com auditoria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6547104" y="3154680"/>
            <a:ext cx="16367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Mínimo: 1 Epic · 2 Features · 4 Requirements · 5 Change Requests · 9 Tasks</a:t>
            </a:r>
            <a:endParaRPr lang="en-US" sz="1000" dirty="0"/>
          </a:p>
        </p:txBody>
      </p:sp>
      <p:sp>
        <p:nvSpPr>
          <p:cNvPr id="27" name="Text 23">
            <a:hlinkClick r:id="rId3" tooltip=""/>
          </p:cNvPr>
          <p:cNvSpPr txBox="1"/>
          <p:nvPr/>
        </p:nvSpPr>
        <p:spPr>
          <a:xfrm>
            <a:off x="457200" y="42976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Roteiro do aluno: docs/roteiro-hands-on.md no repositório da prática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 da prática</a:t>
            </a:r>
            <a:endParaRPr lang="en-US" sz="2600" dirty="0"/>
          </a:p>
        </p:txBody>
      </p:sp>
      <p:sp>
        <p:nvSpPr>
          <p:cNvPr id="6" name="Shape 2"/>
          <p:cNvSpPr/>
          <p:nvPr/>
        </p:nvSpPr>
        <p:spPr>
          <a:xfrm>
            <a:off x="457200" y="914400"/>
            <a:ext cx="420624" cy="420624"/>
          </a:xfrm>
          <a:prstGeom prst="ellipse">
            <a:avLst/>
          </a:prstGeom>
          <a:solidFill>
            <a:srgbClr val="3333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457200" y="914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1051560" y="91440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Acessar o projeto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3154680" y="91440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3657600" y="91440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da equipe, primeira pipeline e artefato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57200" y="1444752"/>
            <a:ext cx="420624" cy="420624"/>
          </a:xfrm>
          <a:prstGeom prst="ellipse">
            <a:avLst/>
          </a:prstGeom>
          <a:solidFill>
            <a:srgbClr val="3333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444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051560" y="1444752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e regras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154680" y="144475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15'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3657600" y="1444752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Descrição, prioridade, estimativa, critérios de aceite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1975104"/>
            <a:ext cx="420624" cy="420624"/>
          </a:xfrm>
          <a:prstGeom prst="ellipse">
            <a:avLst/>
          </a:prstGeom>
          <a:solidFill>
            <a:srgbClr val="3333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57200" y="19751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1051560" y="1975104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realista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3154680" y="1975104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45'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3657600" y="197510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Hierarquia completa seguindo o guia do processo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457200" y="2505456"/>
            <a:ext cx="420624" cy="420624"/>
          </a:xfrm>
          <a:prstGeom prst="ellipse">
            <a:avLst/>
          </a:prstGeom>
          <a:solidFill>
            <a:srgbClr val="3333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57200" y="2505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1051560" y="2505456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Refinar e priorizar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3154680" y="250545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25'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3657600" y="2505456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MVP, risco, dependência, quebrar itens grandes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457200" y="3035808"/>
            <a:ext cx="420624" cy="420624"/>
          </a:xfrm>
          <a:prstGeom prst="ellipse">
            <a:avLst/>
          </a:prstGeom>
          <a:solidFill>
            <a:srgbClr val="3333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57200" y="3035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1051560" y="3035808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e sprint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3154680" y="303580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25'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3657600" y="3035808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em estados diferentes, um deles bloqueado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457200" y="3566160"/>
            <a:ext cx="420624" cy="420624"/>
          </a:xfrm>
          <a:prstGeom prst="ellipse">
            <a:avLst/>
          </a:prstGeom>
          <a:solidFill>
            <a:srgbClr val="3333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57200" y="35661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29"/>
          <p:cNvSpPr txBox="1"/>
          <p:nvPr/>
        </p:nvSpPr>
        <p:spPr>
          <a:xfrm>
            <a:off x="1051560" y="356616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400" dirty="0"/>
          </a:p>
        </p:txBody>
      </p:sp>
      <p:sp>
        <p:nvSpPr>
          <p:cNvPr id="34" name="Text 30"/>
          <p:cNvSpPr txBox="1"/>
          <p:nvPr/>
        </p:nvSpPr>
        <p:spPr>
          <a:xfrm>
            <a:off x="3154680" y="356616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20'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3657600" y="356616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Executar e registrar a evidência em um work item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457200" y="4096512"/>
            <a:ext cx="420624" cy="420624"/>
          </a:xfrm>
          <a:prstGeom prst="ellipse">
            <a:avLst/>
          </a:prstGeom>
          <a:solidFill>
            <a:srgbClr val="3333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457200" y="40965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38" name="Text 34"/>
          <p:cNvSpPr txBox="1"/>
          <p:nvPr/>
        </p:nvSpPr>
        <p:spPr>
          <a:xfrm>
            <a:off x="1051560" y="4096512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e dashboard</a:t>
            </a:r>
            <a:endParaRPr lang="en-US" sz="1400" dirty="0"/>
          </a:p>
        </p:txBody>
      </p:sp>
      <p:sp>
        <p:nvSpPr>
          <p:cNvPr id="39" name="Text 35"/>
          <p:cNvSpPr txBox="1"/>
          <p:nvPr/>
        </p:nvSpPr>
        <p:spPr>
          <a:xfrm>
            <a:off x="3154680" y="409651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30'</a:t>
            </a:r>
            <a:endParaRPr lang="en-US" sz="1200" dirty="0"/>
          </a:p>
        </p:txBody>
      </p:sp>
      <p:sp>
        <p:nvSpPr>
          <p:cNvPr id="40" name="Text 36"/>
          <p:cNvSpPr txBox="1"/>
          <p:nvPr/>
        </p:nvSpPr>
        <p:spPr>
          <a:xfrm>
            <a:off x="3657600" y="4096512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Query + pelo menos 4 widgets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457200" y="46451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há 1 job gratuito para as 4 equipes, então o professor chama uma equipe por vez (Basic → Agile → Scrum → CMMI).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3" name="Image 0" descr="/tmp/claude-1000/-media-arimateia-junior-Dados5-UNIFOR-DOCENTE-AZURE-DEVOPS/e87efb98-d81a-41ec-afb2-eea59369fc18/scratchpad/img/motivo_li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09728"/>
            <a:ext cx="411480" cy="475488"/>
          </a:xfrm>
          <a:prstGeom prst="rect">
            <a:avLst/>
          </a:prstGeom>
        </p:spPr>
      </p:pic>
      <p:pic>
        <p:nvPicPr>
          <p:cNvPr id="4" name="Image 1" descr="/tmp/claude-1000/-media-arimateia-junior-Dados5-UNIFOR-DOCENTE-AZURE-DEVOPS/e87efb98-d81a-41ec-afb2-eea59369fc18/scratchpad/img/logo_posunif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4846320"/>
            <a:ext cx="1097280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743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(4 min por equipe)</a:t>
            </a:r>
            <a:endParaRPr lang="en-US" sz="2600" dirty="0"/>
          </a:p>
        </p:txBody>
      </p:sp>
      <p:sp>
        <p:nvSpPr>
          <p:cNvPr id="6" name="Shape 2"/>
          <p:cNvSpPr/>
          <p:nvPr/>
        </p:nvSpPr>
        <p:spPr>
          <a:xfrm>
            <a:off x="457200" y="1051560"/>
            <a:ext cx="457200" cy="45720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170432"/>
            <a:ext cx="219456" cy="219456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51560" y="1051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processo organiza o trabalho? Mostrem a hierarquia.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457200" y="1655064"/>
            <a:ext cx="457200" cy="45720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1773936"/>
            <a:ext cx="219456" cy="21945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51560" y="165506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equipe priorizou e estimou?</a:t>
            </a:r>
            <a:endParaRPr lang="en-US" sz="1200" dirty="0"/>
          </a:p>
        </p:txBody>
      </p:sp>
      <p:sp>
        <p:nvSpPr>
          <p:cNvPr id="12" name="Shape 6"/>
          <p:cNvSpPr/>
          <p:nvPr/>
        </p:nvSpPr>
        <p:spPr>
          <a:xfrm>
            <a:off x="457200" y="2258568"/>
            <a:ext cx="457200" cy="45720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" y="2377440"/>
            <a:ext cx="219456" cy="219456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051560" y="225856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item é o maior risco ou dependência?</a:t>
            </a:r>
            <a:endParaRPr lang="en-US" sz="1200" dirty="0"/>
          </a:p>
        </p:txBody>
      </p:sp>
      <p:sp>
        <p:nvSpPr>
          <p:cNvPr id="15" name="Shape 8"/>
          <p:cNvSpPr/>
          <p:nvPr/>
        </p:nvSpPr>
        <p:spPr>
          <a:xfrm>
            <a:off x="457200" y="2862072"/>
            <a:ext cx="457200" cy="45720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" y="2980944"/>
            <a:ext cx="219456" cy="219456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1051560" y="28620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métrica do dashboard mais ajuda o gerente?</a:t>
            </a:r>
            <a:endParaRPr lang="en-US" sz="1200" dirty="0"/>
          </a:p>
        </p:txBody>
      </p:sp>
      <p:sp>
        <p:nvSpPr>
          <p:cNvPr id="18" name="Shape 10"/>
          <p:cNvSpPr/>
          <p:nvPr/>
        </p:nvSpPr>
        <p:spPr>
          <a:xfrm>
            <a:off x="457200" y="3465576"/>
            <a:ext cx="457200" cy="45720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" y="3584448"/>
            <a:ext cx="219456" cy="219456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1051560" y="346557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pipeline evidencia sobre a entrega?</a:t>
            </a:r>
            <a:endParaRPr lang="en-US" sz="1200" dirty="0"/>
          </a:p>
        </p:txBody>
      </p:sp>
      <p:sp>
        <p:nvSpPr>
          <p:cNvPr id="21" name="Text 12"/>
          <p:cNvSpPr txBox="1"/>
          <p:nvPr/>
        </p:nvSpPr>
        <p:spPr>
          <a:xfrm>
            <a:off x="4572000" y="10058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avaliação (0 a 2 cada)</a:t>
            </a:r>
            <a:endParaRPr lang="en-US" sz="1300" dirty="0"/>
          </a:p>
        </p:txBody>
      </p:sp>
      <p:sp>
        <p:nvSpPr>
          <p:cNvPr id="22" name="Shape 13"/>
          <p:cNvSpPr/>
          <p:nvPr/>
        </p:nvSpPr>
        <p:spPr>
          <a:xfrm>
            <a:off x="4572000" y="1371600"/>
            <a:ext cx="3749040" cy="347472"/>
          </a:xfrm>
          <a:prstGeom prst="roundRect">
            <a:avLst>
              <a:gd name="adj" fmla="val 21053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3" name="Text 14"/>
          <p:cNvSpPr txBox="1"/>
          <p:nvPr/>
        </p:nvSpPr>
        <p:spPr>
          <a:xfrm>
            <a:off x="4709160" y="13716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 correto</a:t>
            </a:r>
            <a:endParaRPr lang="en-US" sz="1100" dirty="0"/>
          </a:p>
        </p:txBody>
      </p:sp>
      <p:sp>
        <p:nvSpPr>
          <p:cNvPr id="24" name="Shape 15"/>
          <p:cNvSpPr/>
          <p:nvPr/>
        </p:nvSpPr>
        <p:spPr>
          <a:xfrm>
            <a:off x="4572000" y="1773936"/>
            <a:ext cx="3749040" cy="347472"/>
          </a:xfrm>
          <a:prstGeom prst="roundRect">
            <a:avLst>
              <a:gd name="adj" fmla="val 21053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5" name="Text 16"/>
          <p:cNvSpPr txBox="1"/>
          <p:nvPr/>
        </p:nvSpPr>
        <p:spPr>
          <a:xfrm>
            <a:off x="4709160" y="177393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Hierarquia coerente e relacionada</a:t>
            </a:r>
            <a:endParaRPr lang="en-US" sz="1100" dirty="0"/>
          </a:p>
        </p:txBody>
      </p:sp>
      <p:sp>
        <p:nvSpPr>
          <p:cNvPr id="26" name="Shape 17"/>
          <p:cNvSpPr/>
          <p:nvPr/>
        </p:nvSpPr>
        <p:spPr>
          <a:xfrm>
            <a:off x="4572000" y="2176272"/>
            <a:ext cx="3749040" cy="347472"/>
          </a:xfrm>
          <a:prstGeom prst="roundRect">
            <a:avLst>
              <a:gd name="adj" fmla="val 21053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7" name="Text 18"/>
          <p:cNvSpPr txBox="1"/>
          <p:nvPr/>
        </p:nvSpPr>
        <p:spPr>
          <a:xfrm>
            <a:off x="4709160" y="217627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Campos: descrição, prioridade, estimativa, aceite</a:t>
            </a:r>
            <a:endParaRPr lang="en-US" sz="1100" dirty="0"/>
          </a:p>
        </p:txBody>
      </p:sp>
      <p:sp>
        <p:nvSpPr>
          <p:cNvPr id="28" name="Shape 19"/>
          <p:cNvSpPr/>
          <p:nvPr/>
        </p:nvSpPr>
        <p:spPr>
          <a:xfrm>
            <a:off x="4572000" y="2578608"/>
            <a:ext cx="3749040" cy="347472"/>
          </a:xfrm>
          <a:prstGeom prst="roundRect">
            <a:avLst>
              <a:gd name="adj" fmla="val 21053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4709160" y="257860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Priorização por valor, risco e dependência</a:t>
            </a:r>
            <a:endParaRPr lang="en-US" sz="1100" dirty="0"/>
          </a:p>
        </p:txBody>
      </p:sp>
      <p:sp>
        <p:nvSpPr>
          <p:cNvPr id="30" name="Shape 21"/>
          <p:cNvSpPr/>
          <p:nvPr/>
        </p:nvSpPr>
        <p:spPr>
          <a:xfrm>
            <a:off x="4572000" y="2980944"/>
            <a:ext cx="3749040" cy="347472"/>
          </a:xfrm>
          <a:prstGeom prst="roundRect">
            <a:avLst>
              <a:gd name="adj" fmla="val 21053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31" name="Text 22"/>
          <p:cNvSpPr txBox="1"/>
          <p:nvPr/>
        </p:nvSpPr>
        <p:spPr>
          <a:xfrm>
            <a:off x="4709160" y="29809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/ Sprint representa fluxo real</a:t>
            </a:r>
            <a:endParaRPr lang="en-US" sz="1100" dirty="0"/>
          </a:p>
        </p:txBody>
      </p:sp>
      <p:sp>
        <p:nvSpPr>
          <p:cNvPr id="32" name="Shape 23"/>
          <p:cNvSpPr/>
          <p:nvPr/>
        </p:nvSpPr>
        <p:spPr>
          <a:xfrm>
            <a:off x="4572000" y="3383280"/>
            <a:ext cx="3749040" cy="347472"/>
          </a:xfrm>
          <a:prstGeom prst="roundRect">
            <a:avLst>
              <a:gd name="adj" fmla="val 21053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4709160" y="33832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executada e entendida</a:t>
            </a:r>
            <a:endParaRPr lang="en-US" sz="1100" dirty="0"/>
          </a:p>
        </p:txBody>
      </p:sp>
      <p:sp>
        <p:nvSpPr>
          <p:cNvPr id="34" name="Shape 25"/>
          <p:cNvSpPr/>
          <p:nvPr/>
        </p:nvSpPr>
        <p:spPr>
          <a:xfrm>
            <a:off x="4572000" y="3785616"/>
            <a:ext cx="3749040" cy="347472"/>
          </a:xfrm>
          <a:prstGeom prst="roundRect">
            <a:avLst>
              <a:gd name="adj" fmla="val 21053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4709160" y="37856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que apoia decisão</a:t>
            </a:r>
            <a:endParaRPr lang="en-US" sz="1100" dirty="0"/>
          </a:p>
        </p:txBody>
      </p:sp>
      <p:sp>
        <p:nvSpPr>
          <p:cNvPr id="36" name="Shape 27"/>
          <p:cNvSpPr/>
          <p:nvPr/>
        </p:nvSpPr>
        <p:spPr>
          <a:xfrm>
            <a:off x="4572000" y="4187952"/>
            <a:ext cx="3749040" cy="347472"/>
          </a:xfrm>
          <a:prstGeom prst="roundRect">
            <a:avLst>
              <a:gd name="adj" fmla="val 21053"/>
            </a:avLst>
          </a:prstGeom>
          <a:solidFill>
            <a:srgbClr val="E8EAFF"/>
          </a:solidFill>
          <a:ln w="12700">
            <a:solidFill>
              <a:srgbClr val="E8EAFF"/>
            </a:solidFill>
            <a:prstDash val="solid"/>
          </a:ln>
        </p:spPr>
      </p:sp>
      <p:sp>
        <p:nvSpPr>
          <p:cNvPr id="37" name="Text 28"/>
          <p:cNvSpPr txBox="1"/>
          <p:nvPr/>
        </p:nvSpPr>
        <p:spPr>
          <a:xfrm>
            <a:off x="4709160" y="418795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clara e objetiva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21F8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media-arimateia-junior-Dados5-UNIFOR-DOCENTE-AZURE-DEVOPS/e87efb98-d81a-41ec-afb2-eea59369fc18/scratchpad/img/capa_se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9792" y="4206240"/>
            <a:ext cx="1664208" cy="93268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00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cada processo organizou o trabalho de um jeito diferente?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2148840"/>
            <a:ext cx="457200" cy="45720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267712"/>
            <a:ext cx="219456" cy="21945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188720" y="21488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processo daria mais controle à diretoria? E mais agilidade ao time?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548640" y="2834640"/>
            <a:ext cx="457200" cy="45720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2953512"/>
            <a:ext cx="219456" cy="21945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88720" y="28346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entra a governança (PMBOK) e onde entra a adaptação (Scrum / Kanban)?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548640" y="3520440"/>
            <a:ext cx="457200" cy="457200"/>
          </a:xfrm>
          <a:prstGeom prst="ellipse">
            <a:avLst/>
          </a:prstGeom>
          <a:solidFill>
            <a:srgbClr val="3333FF"/>
          </a:solidFill>
          <a:ln w="12700">
            <a:solidFill>
              <a:srgbClr val="3333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3639312"/>
            <a:ext cx="219456" cy="219456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188720" y="35204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ferramenta mudou o plano, ou só registrou as decisões de vocês?</a:t>
            </a:r>
            <a:endParaRPr lang="en-US" sz="1500" dirty="0"/>
          </a:p>
        </p:txBody>
      </p:sp>
      <p:sp>
        <p:nvSpPr>
          <p:cNvPr id="13" name="Text 7"/>
          <p:cNvSpPr txBox="1"/>
          <p:nvPr/>
        </p:nvSpPr>
        <p:spPr>
          <a:xfrm>
            <a:off x="548640" y="43434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3DD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ferramenta é secundária: o que gera resultado são as decisões de planejamento e gestão.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21F8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media-arimateia-junior-Dados5-UNIFOR-DOCENTE-AZURE-DEVOPS/e87efb98-d81a-41ec-afb2-eea59369fc18/scratchpad/img/capa_circu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0"/>
            <a:ext cx="1097280" cy="213055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4630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286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D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Arimatéia Júnior</a:t>
            </a:r>
            <a:endParaRPr lang="en-US" sz="1800" dirty="0"/>
          </a:p>
        </p:txBody>
      </p:sp>
      <p:sp>
        <p:nvSpPr>
          <p:cNvPr id="5" name="Text 2">
            <a:hlinkClick r:id="rId2" tooltip=""/>
          </p:cNvPr>
          <p:cNvSpPr txBox="1"/>
          <p:nvPr/>
        </p:nvSpPr>
        <p:spPr>
          <a:xfrm>
            <a:off x="548640" y="28346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Material de apoio: github.com/unifor-docente/azure-devops-planejamento-hands-on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583680" y="2468880"/>
            <a:ext cx="14630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1" descr="/tmp/claude-1000/-media-arimateia-junior-Dados5-UNIFOR-DOCENTE-AZURE-DEVOPS/e87efb98-d81a-41ec-afb2-eea59369fc18/scratchpad/img/q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560320"/>
            <a:ext cx="1280160" cy="1280160"/>
          </a:xfrm>
          <a:prstGeom prst="rect">
            <a:avLst/>
          </a:prstGeom>
        </p:spPr>
      </p:pic>
      <p:pic>
        <p:nvPicPr>
          <p:cNvPr id="8" name="Image 2" descr="/tmp/claude-1000/-media-arimateia-junior-Dados5-UNIFOR-DOCENTE-AZURE-DEVOPS/e87efb98-d81a-41ec-afb2-eea59369fc18/scratchpad/img/logo_posunifor_branc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526280"/>
            <a:ext cx="1234440" cy="3017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DevOps – MBA em Gerenciamento de Projetos</dc:title>
  <dc:subject>PptxGenJS Presentation</dc:subject>
  <dc:creator>Arimatéia Júnior</dc:creator>
  <cp:lastModifiedBy>Arimatéia Júnior</cp:lastModifiedBy>
  <cp:revision>1</cp:revision>
  <dcterms:created xsi:type="dcterms:W3CDTF">2026-09-29T02:04:37Z</dcterms:created>
  <dcterms:modified xsi:type="dcterms:W3CDTF">2026-09-29T02:04:37Z</dcterms:modified>
</cp:coreProperties>
</file>